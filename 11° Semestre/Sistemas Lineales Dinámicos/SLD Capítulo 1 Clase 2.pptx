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9" r:id="rId3"/>
    <p:sldId id="284" r:id="rId4"/>
    <p:sldId id="295" r:id="rId5"/>
    <p:sldId id="276" r:id="rId6"/>
    <p:sldId id="288" r:id="rId7"/>
    <p:sldId id="289" r:id="rId8"/>
    <p:sldId id="293" r:id="rId9"/>
    <p:sldId id="291" r:id="rId10"/>
    <p:sldId id="292" r:id="rId11"/>
    <p:sldId id="268" r:id="rId12"/>
    <p:sldId id="296" r:id="rId13"/>
    <p:sldId id="297" r:id="rId14"/>
    <p:sldId id="303" r:id="rId15"/>
    <p:sldId id="306" r:id="rId16"/>
    <p:sldId id="302" r:id="rId17"/>
    <p:sldId id="320" r:id="rId18"/>
    <p:sldId id="314" r:id="rId19"/>
    <p:sldId id="315" r:id="rId20"/>
    <p:sldId id="308" r:id="rId21"/>
    <p:sldId id="317" r:id="rId22"/>
    <p:sldId id="318" r:id="rId23"/>
    <p:sldId id="319" r:id="rId24"/>
    <p:sldId id="278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8C264-3169-4C4E-9191-05A1D8F9A501}" v="42" dt="2024-03-10T18:56:19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00:46:55.686" v="1528" actId="123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00:46:21.397" v="1527" actId="123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10-03-2024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10-03-2024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10-03-2024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10-03-2024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10-03-2024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10-03-2024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10-03-2024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10-03-2024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10-03-2024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12" Type="http://schemas.openxmlformats.org/officeDocument/2006/relationships/image" Target="../media/image4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1: Introducción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2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1.3 </a:t>
            </a:r>
            <a:r>
              <a:rPr lang="en-US" sz="2200" dirty="0" err="1"/>
              <a:t>Clasificación</a:t>
            </a:r>
            <a:r>
              <a:rPr lang="en-US" sz="2200" dirty="0"/>
              <a:t> de </a:t>
            </a:r>
            <a:r>
              <a:rPr lang="en-US" sz="2200" dirty="0" err="1"/>
              <a:t>Sistemas</a:t>
            </a:r>
            <a:r>
              <a:rPr lang="en-US" sz="2200" dirty="0"/>
              <a:t> y </a:t>
            </a:r>
            <a:r>
              <a:rPr lang="en-US" sz="2200" dirty="0" err="1"/>
              <a:t>Modelos</a:t>
            </a:r>
            <a:endParaRPr lang="en-US" sz="2200" dirty="0"/>
          </a:p>
          <a:p>
            <a:r>
              <a:rPr lang="en-US" sz="2200" dirty="0"/>
              <a:t>1.4 </a:t>
            </a:r>
            <a:r>
              <a:rPr lang="es-ES" sz="2200" dirty="0"/>
              <a:t>Principios Básicos de Modelación de Sistemas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B30B3-F15D-ECE1-434D-9FD0EF98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C8FEDC8-ABD3-A2AA-D594-2A087F29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US" dirty="0"/>
              <a:t>Repaso: 1.1 Proceso y Sistema</a:t>
            </a:r>
            <a:endParaRPr lang="es-CL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008097-FB63-BC47-C139-935AFD87B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727304"/>
            <a:ext cx="4777381" cy="523364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38BC919-548B-5607-D9F1-FBF218E6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b="1" dirty="0"/>
              <a:t>Ejercicio</a:t>
            </a:r>
            <a:r>
              <a:rPr lang="es-US" dirty="0"/>
              <a:t>: </a:t>
            </a:r>
            <a:r>
              <a:rPr lang="es-ES" dirty="0"/>
              <a:t>Considere el sistema de un </a:t>
            </a:r>
            <a:r>
              <a:rPr lang="es-ES" dirty="0" err="1"/>
              <a:t>levitador</a:t>
            </a:r>
            <a:r>
              <a:rPr lang="es-ES" dirty="0"/>
              <a:t> magnético, el cual tiene por objetivo sostener una bola de acero a una distancia desde el suelo.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Identifique los parámetros, entradas, perturbaciones, salidas y variables de estado del sistema.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15309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B30B3-F15D-ECE1-434D-9FD0EF98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C8FEDC8-ABD3-A2AA-D594-2A087F29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US" dirty="0"/>
              <a:t>Repaso: 1.1 Proceso y Sistema</a:t>
            </a:r>
            <a:endParaRPr lang="es-CL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008097-FB63-BC47-C139-935AFD87B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727304"/>
            <a:ext cx="4777381" cy="523364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4A70A651-FCDC-4D9B-A3BD-E30A51A9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012" y="1825625"/>
            <a:ext cx="5375787" cy="4351338"/>
          </a:xfrm>
        </p:spPr>
        <p:txBody>
          <a:bodyPr/>
          <a:lstStyle/>
          <a:p>
            <a:r>
              <a:rPr lang="es-CL" dirty="0"/>
              <a:t>Parte eléctrica del sistema: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Parte mecánica del sistema:</a:t>
            </a:r>
          </a:p>
          <a:p>
            <a:endParaRPr lang="es-CL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0329B2B-FD47-AB33-7108-1C73D47BB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627" y="2530814"/>
            <a:ext cx="2391109" cy="100979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A2338FA-8332-3199-35CD-C444D176D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136" y="4434781"/>
            <a:ext cx="492511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8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2D05657-94EE-4B2D-BC1B-A1D06506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5B34E0-58E0-3A67-020E-19D1597B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F37BAB-C918-E0F2-B7E1-242D944D60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8" r="4" b="4"/>
          <a:stretch/>
        </p:blipFill>
        <p:spPr>
          <a:xfrm>
            <a:off x="0" y="3850646"/>
            <a:ext cx="2538958" cy="2538958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8D48BF-960A-9724-E8BB-52D6411FB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542" y="1946684"/>
            <a:ext cx="73639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Lineal y no-lineal:</a:t>
            </a:r>
          </a:p>
          <a:p>
            <a:pPr marL="0" indent="0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lineales</a:t>
            </a:r>
            <a:r>
              <a:rPr lang="en-US" dirty="0"/>
              <a:t>: </a:t>
            </a:r>
            <a:r>
              <a:rPr lang="es-CL" dirty="0"/>
              <a:t>Sistemas que cumplen con el principio de superposición (</a:t>
            </a:r>
            <a:r>
              <a:rPr lang="es-CL" dirty="0" err="1"/>
              <a:t>aditividad</a:t>
            </a:r>
            <a:r>
              <a:rPr lang="es-CL" dirty="0"/>
              <a:t>) y homogeneidad.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no </a:t>
            </a:r>
            <a:r>
              <a:rPr lang="en-US" dirty="0" err="1"/>
              <a:t>lineales</a:t>
            </a:r>
            <a:r>
              <a:rPr lang="en-US" dirty="0"/>
              <a:t>: </a:t>
            </a:r>
            <a:r>
              <a:rPr lang="es-CL" dirty="0"/>
              <a:t>Sistemas que no cumplen con el principio de superposición (</a:t>
            </a:r>
            <a:r>
              <a:rPr lang="es-CL" dirty="0" err="1"/>
              <a:t>aditividad</a:t>
            </a:r>
            <a:r>
              <a:rPr lang="es-CL" dirty="0"/>
              <a:t>) u homogeneidad.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BA52E9-40C3-DBC2-0227-CB7E03D05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423" y="5120125"/>
            <a:ext cx="1752845" cy="66684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1615C97-E348-F781-21FE-5DEF050E7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666" y="223717"/>
            <a:ext cx="1888220" cy="510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7CBA49-D25D-A4A1-AF47-C7A61C279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" y="29984"/>
            <a:ext cx="2410161" cy="183858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4B8721E-74C6-B92B-DF77-ABF1E6B68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44" y="2275485"/>
            <a:ext cx="2538958" cy="4265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40071E-DD07-7FD3-952C-22EEA565A9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44" y="2811463"/>
            <a:ext cx="1386593" cy="44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7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E4E19-23B9-D919-EBC9-CF21DC0E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CAFAC2-D39C-31C0-2EF6-BE230E613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587A720-BE02-8B60-AE33-2ED7A1647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EEB72D-4D29-F3F4-B538-3D005D3F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A803F-9FA0-679D-C95E-99BF801F7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76" y="2159204"/>
            <a:ext cx="57071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Continuos</a:t>
            </a:r>
            <a:r>
              <a:rPr lang="en-US" u="sng" dirty="0"/>
              <a:t> y </a:t>
            </a:r>
            <a:r>
              <a:rPr lang="en-US" u="sng" dirty="0" err="1"/>
              <a:t>discretos</a:t>
            </a:r>
            <a:r>
              <a:rPr lang="en-US" u="sng" dirty="0"/>
              <a:t>:</a:t>
            </a:r>
          </a:p>
          <a:p>
            <a:pPr marL="0" indent="0" algn="just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continuos</a:t>
            </a:r>
            <a:r>
              <a:rPr lang="en-US" dirty="0"/>
              <a:t>: </a:t>
            </a:r>
            <a:r>
              <a:rPr lang="es-CL" dirty="0"/>
              <a:t>Sistemas cuyas variables independientes (tiempo) son continuas.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discretos</a:t>
            </a:r>
            <a:r>
              <a:rPr lang="en-US" dirty="0"/>
              <a:t>: </a:t>
            </a:r>
            <a:r>
              <a:rPr lang="es-CL" dirty="0"/>
              <a:t>Sistemas cuyas variables independientes son discretas.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AD1287-0A75-DF02-B1AC-05F8DF7E3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913" y="2297931"/>
            <a:ext cx="5982274" cy="39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2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44413-23A9-DD68-F01A-65824CA0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CA85A7-8D21-683D-E080-5797ABD97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5508F80-D327-EA6D-3709-677FDB918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7DB66E-52D7-567A-DC6E-A6087F94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56B23-6D73-3DF5-CF0B-178BD876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542" y="1946684"/>
            <a:ext cx="73639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Estáticos</a:t>
            </a:r>
            <a:r>
              <a:rPr lang="en-US" u="sng" dirty="0"/>
              <a:t> y </a:t>
            </a:r>
            <a:r>
              <a:rPr lang="en-US" u="sng" dirty="0" err="1"/>
              <a:t>dinámicos</a:t>
            </a:r>
            <a:r>
              <a:rPr lang="en-US" u="sng" dirty="0"/>
              <a:t>:</a:t>
            </a:r>
          </a:p>
          <a:p>
            <a:pPr marL="0" indent="0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estáticos</a:t>
            </a:r>
            <a:r>
              <a:rPr lang="en-US" dirty="0"/>
              <a:t>: </a:t>
            </a:r>
            <a:r>
              <a:rPr lang="es-CL" dirty="0"/>
              <a:t>Sistemas en los que las entradas son fijas y no producen una variación temporal en las variables del sistema.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dinámicos</a:t>
            </a:r>
            <a:r>
              <a:rPr lang="en-US" dirty="0"/>
              <a:t>: </a:t>
            </a:r>
            <a:r>
              <a:rPr lang="es-CL" dirty="0"/>
              <a:t>Sistemas que están en evolución temporal luego de provocarse un cambio en las condiciones de operación.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607F35-C5F4-738A-6BB2-86477292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2398"/>
            <a:ext cx="4496427" cy="9050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FE62AD5-3FBE-3569-A10A-0F009CB8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2124"/>
            <a:ext cx="2617287" cy="80469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FDE8E5D-D30A-2A8F-3F32-05EF2DFE4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8" y="527962"/>
            <a:ext cx="241016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2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83DBE-3FEF-D289-661A-5D7A4C14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66A13C-7D4E-3BB4-7B8C-CC2CD13A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4352E2-2334-CB26-DB6F-DD6D71E7F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" y="1"/>
            <a:ext cx="5458838" cy="539060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DB8046-4221-1B2C-AE86-E173D1E62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u="sng" dirty="0" err="1"/>
              <a:t>Causales</a:t>
            </a:r>
            <a:r>
              <a:rPr lang="en-US" u="sng" dirty="0"/>
              <a:t> y no-</a:t>
            </a:r>
            <a:r>
              <a:rPr lang="en-US" u="sng" dirty="0" err="1"/>
              <a:t>causales</a:t>
            </a:r>
            <a:r>
              <a:rPr lang="en-US" u="sng" dirty="0"/>
              <a:t>:</a:t>
            </a:r>
          </a:p>
          <a:p>
            <a:pPr marL="0" indent="0" algn="just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causales</a:t>
            </a:r>
            <a:r>
              <a:rPr lang="en-US" dirty="0"/>
              <a:t>: </a:t>
            </a:r>
            <a:r>
              <a:rPr lang="es-CL" dirty="0"/>
              <a:t>Sistemas cuya salida solo es consecuencia del valor actual y pasados de la entrada.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no </a:t>
            </a:r>
            <a:r>
              <a:rPr lang="en-US" dirty="0" err="1"/>
              <a:t>causales</a:t>
            </a:r>
            <a:r>
              <a:rPr lang="en-US" dirty="0"/>
              <a:t>: </a:t>
            </a:r>
            <a:r>
              <a:rPr lang="es-CL" dirty="0"/>
              <a:t>Sistemas cuya salida es consecuencia de valores futuros de la entrada.</a:t>
            </a:r>
          </a:p>
          <a:p>
            <a:endParaRPr lang="es-CL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A3CFA3-A724-F59B-3A77-FA94FFC08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33" y="5510365"/>
            <a:ext cx="3495201" cy="13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0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5BAC2-FE71-3A47-BC8F-81A6D2F7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6E6479-DEC9-3D32-3DD4-7858402CC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07B20BB-3EE0-CAB1-0E97-6879346CC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EF4A41-EF1E-586D-9897-B37F0C25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3352B9-526B-6746-F3DA-56E33F30C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542" y="1946684"/>
            <a:ext cx="73639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Tiempo</a:t>
            </a:r>
            <a:r>
              <a:rPr lang="en-US" u="sng" dirty="0"/>
              <a:t> </a:t>
            </a:r>
            <a:r>
              <a:rPr lang="en-US" u="sng" dirty="0" err="1"/>
              <a:t>invariante</a:t>
            </a:r>
            <a:r>
              <a:rPr lang="en-US" u="sng" dirty="0"/>
              <a:t> y </a:t>
            </a:r>
            <a:r>
              <a:rPr lang="en-US" u="sng" dirty="0" err="1"/>
              <a:t>variante</a:t>
            </a:r>
            <a:r>
              <a:rPr lang="en-US" u="sng" dirty="0"/>
              <a:t>:</a:t>
            </a:r>
          </a:p>
          <a:p>
            <a:pPr marL="0" indent="0" algn="just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invariante</a:t>
            </a:r>
            <a:r>
              <a:rPr lang="en-US" dirty="0"/>
              <a:t> (LTI): </a:t>
            </a:r>
            <a:r>
              <a:rPr lang="es-CL" dirty="0"/>
              <a:t>Sistemas cuyos parámetros no cambian sus valores en el tiempo.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variante</a:t>
            </a:r>
            <a:r>
              <a:rPr lang="en-US" dirty="0"/>
              <a:t>: </a:t>
            </a:r>
            <a:r>
              <a:rPr lang="es-CL" dirty="0"/>
              <a:t>Sistemas cuyos parámetros cambian sus valores en el tiempo.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3BA961-DF4F-1EBB-0563-D62D699B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28" y="3649028"/>
            <a:ext cx="1986746" cy="26489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65BAA16-25DC-026D-7D54-8DBC70551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527962"/>
            <a:ext cx="241016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6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6EB51-4B30-B3E7-49A2-F0A8BCF5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26BCC0-43E7-3C3D-F747-898110670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5EBD15F-B43A-01A6-4C1C-7DF19376D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BFDF96-71CD-9171-8417-6B97968F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88830E-8C92-16E5-75BB-13016D55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542" y="1946684"/>
            <a:ext cx="73639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Parámetros</a:t>
            </a:r>
            <a:r>
              <a:rPr lang="en-US" u="sng" dirty="0"/>
              <a:t> </a:t>
            </a:r>
            <a:r>
              <a:rPr lang="en-US" u="sng" dirty="0" err="1"/>
              <a:t>concentrados</a:t>
            </a:r>
            <a:r>
              <a:rPr lang="en-US" u="sng" dirty="0"/>
              <a:t> y </a:t>
            </a:r>
            <a:r>
              <a:rPr lang="en-US" u="sng" dirty="0" err="1"/>
              <a:t>distribuidos</a:t>
            </a:r>
            <a:r>
              <a:rPr lang="en-US" u="sng" dirty="0"/>
              <a:t>:</a:t>
            </a:r>
          </a:p>
          <a:p>
            <a:pPr marL="0" indent="0">
              <a:buNone/>
            </a:pPr>
            <a:endParaRPr lang="en-US" u="sng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parámetros</a:t>
            </a:r>
            <a:r>
              <a:rPr lang="en-US" dirty="0"/>
              <a:t> </a:t>
            </a:r>
            <a:r>
              <a:rPr lang="en-US" dirty="0" err="1"/>
              <a:t>concentrados</a:t>
            </a:r>
            <a:r>
              <a:rPr lang="en-US" dirty="0"/>
              <a:t>: </a:t>
            </a:r>
            <a:r>
              <a:rPr lang="es-CL" dirty="0"/>
              <a:t>Sistemas cuyos parámetros son independientes de su ubicación espacial.</a:t>
            </a:r>
          </a:p>
          <a:p>
            <a:pPr algn="just"/>
            <a:endParaRPr lang="es-CL" dirty="0"/>
          </a:p>
          <a:p>
            <a:pPr algn="just"/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parámetros</a:t>
            </a:r>
            <a:r>
              <a:rPr lang="en-US" dirty="0"/>
              <a:t> </a:t>
            </a:r>
            <a:r>
              <a:rPr lang="en-US" dirty="0" err="1"/>
              <a:t>distribuidos</a:t>
            </a:r>
            <a:r>
              <a:rPr lang="en-US" dirty="0"/>
              <a:t>: </a:t>
            </a:r>
            <a:r>
              <a:rPr lang="es-CL" dirty="0"/>
              <a:t>Sistemas cuyos parámetros dependen de su ubicación espacial.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35A776-4F15-2A4C-82A5-E70F90CF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1" y="4143296"/>
            <a:ext cx="4083433" cy="21547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9D788DD-E150-F847-D0BD-54388700B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527962"/>
            <a:ext cx="241016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1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1.3 </a:t>
            </a:r>
            <a:r>
              <a:rPr lang="en-US" dirty="0" err="1"/>
              <a:t>Clasificación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Modelos</a:t>
            </a:r>
            <a:endParaRPr lang="es-CL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Ejercicio</a:t>
            </a:r>
            <a:r>
              <a:rPr lang="es-ES" dirty="0"/>
              <a:t>: Indique si el sistema descrito por: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es (i) lineal y/o (</a:t>
            </a:r>
            <a:r>
              <a:rPr lang="es-ES" dirty="0" err="1"/>
              <a:t>ii</a:t>
            </a:r>
            <a:r>
              <a:rPr lang="es-ES" dirty="0"/>
              <a:t>) causal, y/o (</a:t>
            </a:r>
            <a:r>
              <a:rPr lang="es-ES" dirty="0" err="1"/>
              <a:t>iii</a:t>
            </a:r>
            <a:r>
              <a:rPr lang="es-ES" dirty="0"/>
              <a:t>) variante en el tiempo.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9826E2-2077-4CC7-8DED-CF9143D22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86" y="2289284"/>
            <a:ext cx="4858428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5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Modelos fenomenológicos</a:t>
            </a:r>
            <a:r>
              <a:rPr lang="es-ES" dirty="0"/>
              <a:t>: se obtienen mediante la aplicación de leyes que rigen los fenómenos de interés en el proceso.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Modelos empíricos</a:t>
            </a:r>
            <a:r>
              <a:rPr lang="es-ES" dirty="0"/>
              <a:t>: son los que se determinan de la observación directa de los resultados de excitar un proceso con entradas conocidas, y posterior correlación de la información obtenida.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6000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Obtención de modelos fenomenológicos </a:t>
            </a:r>
            <a:r>
              <a:rPr lang="es-CL" dirty="0"/>
              <a:t>usando la primera ley de la termodinámica (conservación de la energía en sistemas cerrados):</a:t>
            </a:r>
          </a:p>
          <a:p>
            <a:pPr algn="just"/>
            <a:endParaRPr lang="es-CL" dirty="0"/>
          </a:p>
          <a:p>
            <a:pPr marL="0" indent="0" algn="just">
              <a:buNone/>
            </a:pPr>
            <a:r>
              <a:rPr lang="es-CL" dirty="0"/>
              <a:t>          </a:t>
            </a:r>
          </a:p>
          <a:p>
            <a:pPr marL="0" indent="0" algn="just">
              <a:buNone/>
            </a:pPr>
            <a:r>
              <a:rPr lang="es-CL" dirty="0"/>
              <a:t>          : variación en la energía interna del sistema.</a:t>
            </a:r>
          </a:p>
          <a:p>
            <a:pPr marL="0" indent="0" algn="just">
              <a:buNone/>
            </a:pPr>
            <a:r>
              <a:rPr lang="es-CL" dirty="0"/>
              <a:t>          : calor transferido al sistema.</a:t>
            </a:r>
          </a:p>
          <a:p>
            <a:pPr marL="0" indent="0" algn="just">
              <a:buNone/>
            </a:pPr>
            <a:r>
              <a:rPr lang="es-CL" dirty="0"/>
              <a:t>          : trabajo realizado por el sistema.</a:t>
            </a:r>
          </a:p>
          <a:p>
            <a:pPr marL="0" indent="0" algn="just">
              <a:buNone/>
            </a:pPr>
            <a:endParaRPr lang="es-CL" dirty="0"/>
          </a:p>
          <a:p>
            <a:pPr algn="just"/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87CAD2-7EE1-DD8C-AAB5-0B3C839FD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73" y="3022502"/>
            <a:ext cx="2590800" cy="4000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214024-63A1-6670-E104-A040373DB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19" y="3790213"/>
            <a:ext cx="676275" cy="3238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9413CDB-79E2-E1F1-6EE8-F81A9D280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56" y="4244189"/>
            <a:ext cx="304800" cy="3905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BFF61D-8EEE-9BA3-4134-36DB85B1CF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81" y="4799147"/>
            <a:ext cx="4381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8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1.4 </a:t>
            </a:r>
            <a:r>
              <a:rPr lang="es-ES" dirty="0"/>
              <a:t>Principios Básicos de Modelación de Sistemas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05A012E-614C-DAE5-09BD-14F7BEABE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96" y="2567026"/>
            <a:ext cx="3301644" cy="3825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E6F4C1-E030-C847-0D59-5557D377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96" y="3095829"/>
            <a:ext cx="3204880" cy="3517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E36A841-CFD6-3BB9-C4AE-C4755A0CD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4" y="5475415"/>
            <a:ext cx="202985" cy="2583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A3D8D1-D832-255B-C877-DC6DA2334E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" y="3889736"/>
            <a:ext cx="202985" cy="1660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DD821DC-C74C-39EF-2A4E-34EB8C9AAFC5}"/>
              </a:ext>
            </a:extLst>
          </p:cNvPr>
          <p:cNvSpPr txBox="1"/>
          <p:nvPr/>
        </p:nvSpPr>
        <p:spPr>
          <a:xfrm>
            <a:off x="1272193" y="3788108"/>
            <a:ext cx="458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estado (acumuladores de energía </a:t>
            </a:r>
            <a:r>
              <a:rPr lang="es-CL" dirty="0" err="1"/>
              <a:t>l.i</a:t>
            </a:r>
            <a:r>
              <a:rPr lang="es-CL" dirty="0"/>
              <a:t>.)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BA1694-FC3C-C56F-66B5-79468EF75B28}"/>
              </a:ext>
            </a:extLst>
          </p:cNvPr>
          <p:cNvSpPr txBox="1"/>
          <p:nvPr/>
        </p:nvSpPr>
        <p:spPr>
          <a:xfrm>
            <a:off x="1308270" y="5414305"/>
            <a:ext cx="458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primeras derivadas de las variables de estado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8742C5-19AA-9C02-2166-8AEF95ACE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80" y="4593126"/>
            <a:ext cx="202987" cy="16607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2750032-F27B-972B-4C8E-E98152A6DD0E}"/>
              </a:ext>
            </a:extLst>
          </p:cNvPr>
          <p:cNvSpPr txBox="1"/>
          <p:nvPr/>
        </p:nvSpPr>
        <p:spPr>
          <a:xfrm>
            <a:off x="1272195" y="4494244"/>
            <a:ext cx="458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entrada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003914E-CBA2-B129-AB89-AD25385FC5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5" y="5072170"/>
            <a:ext cx="157230" cy="18581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D51143F-6369-39E2-343B-DDD3D6B48A60}"/>
              </a:ext>
            </a:extLst>
          </p:cNvPr>
          <p:cNvSpPr txBox="1"/>
          <p:nvPr/>
        </p:nvSpPr>
        <p:spPr>
          <a:xfrm>
            <a:off x="1272194" y="4934822"/>
            <a:ext cx="458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perturbaciones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E945219-48F9-B5A0-FA87-7B1A2192B9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5" y="6178806"/>
            <a:ext cx="157227" cy="20439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1E56D8F-E477-6BFD-A27F-7DAD65CF44E3}"/>
              </a:ext>
            </a:extLst>
          </p:cNvPr>
          <p:cNvSpPr txBox="1"/>
          <p:nvPr/>
        </p:nvSpPr>
        <p:spPr>
          <a:xfrm>
            <a:off x="1308270" y="6083631"/>
            <a:ext cx="458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salida (según objetivos)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A859228-26FA-2712-80D8-3675F6954B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707" y="6127855"/>
            <a:ext cx="2327094" cy="32510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74D0250-F8AB-8BE2-7F51-BCBB26C242EE}"/>
              </a:ext>
            </a:extLst>
          </p:cNvPr>
          <p:cNvSpPr txBox="1"/>
          <p:nvPr/>
        </p:nvSpPr>
        <p:spPr>
          <a:xfrm>
            <a:off x="838200" y="1856522"/>
            <a:ext cx="45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Ecuaciones de estado: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34E98E3-624E-388B-9FA0-168E9A6B782D}"/>
              </a:ext>
            </a:extLst>
          </p:cNvPr>
          <p:cNvSpPr txBox="1"/>
          <p:nvPr/>
        </p:nvSpPr>
        <p:spPr>
          <a:xfrm>
            <a:off x="8928894" y="6135551"/>
            <a:ext cx="458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matrices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230891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79AA57-36AD-2A8A-6767-6CBE59A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CL" b="1" dirty="0"/>
              <a:t>¿Por qué esta representación en ecuaciones de estado?</a:t>
            </a:r>
          </a:p>
          <a:p>
            <a:endParaRPr lang="es-CL" dirty="0"/>
          </a:p>
          <a:p>
            <a:pPr algn="just"/>
            <a:r>
              <a:rPr lang="es-CL" dirty="0"/>
              <a:t>Es numéricamente eficiente (usa solo primeras derivadas).</a:t>
            </a:r>
          </a:p>
          <a:p>
            <a:pPr algn="just"/>
            <a:r>
              <a:rPr lang="es-CL" dirty="0"/>
              <a:t>Permite analizar la dinámica y estabilidad interna de sistemas.</a:t>
            </a:r>
          </a:p>
          <a:p>
            <a:pPr algn="just"/>
            <a:r>
              <a:rPr lang="es-CL" dirty="0"/>
              <a:t>Es posible de usar para analizar sistemas con múltiples entradas/salidas/perturbaciones.</a:t>
            </a:r>
          </a:p>
          <a:p>
            <a:pPr algn="just"/>
            <a:r>
              <a:rPr lang="es-CL" dirty="0"/>
              <a:t>Es la base para el análisis de sistemas de control.</a:t>
            </a:r>
          </a:p>
          <a:p>
            <a:pPr algn="just"/>
            <a:r>
              <a:rPr lang="es-CL" dirty="0"/>
              <a:t>Extensible a sistemas no lineales y variantes en el tiempo.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53755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C3DFAC-1AB5-C2DC-A098-ECD1508794EA}"/>
              </a:ext>
            </a:extLst>
          </p:cNvPr>
          <p:cNvSpPr txBox="1"/>
          <p:nvPr/>
        </p:nvSpPr>
        <p:spPr>
          <a:xfrm>
            <a:off x="838200" y="1856522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Ej</a:t>
            </a:r>
            <a:r>
              <a:rPr lang="es-ES" sz="2800" b="1" dirty="0"/>
              <a:t>: Ecuaciones de estado en circuito RLC</a:t>
            </a:r>
            <a:endParaRPr lang="es-CL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23CB-1745-37FC-69B1-4472DA2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16" y="2899546"/>
            <a:ext cx="3077916" cy="5170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EBFDE5-6F71-F357-F53F-3BC3465F1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52" y="3771908"/>
            <a:ext cx="1680932" cy="54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FB12E-E842-6D24-465F-9128D86F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48" y="2545576"/>
            <a:ext cx="2555362" cy="191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67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C3DFAC-1AB5-C2DC-A098-ECD1508794EA}"/>
              </a:ext>
            </a:extLst>
          </p:cNvPr>
          <p:cNvSpPr txBox="1"/>
          <p:nvPr/>
        </p:nvSpPr>
        <p:spPr>
          <a:xfrm>
            <a:off x="838200" y="1856522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Ej</a:t>
            </a:r>
            <a:r>
              <a:rPr lang="es-ES" sz="2800" b="1" dirty="0"/>
              <a:t>: Ecuaciones de estado en circuito RLC</a:t>
            </a:r>
            <a:endParaRPr lang="es-CL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23CB-1745-37FC-69B1-4472DA2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16" y="2899546"/>
            <a:ext cx="3077916" cy="5170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EBFDE5-6F71-F357-F53F-3BC3465F1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52" y="3771908"/>
            <a:ext cx="1680932" cy="54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FB12E-E842-6D24-465F-9128D86F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48" y="2545576"/>
            <a:ext cx="2555362" cy="19149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1F4571-B6A9-A932-BA0D-6F92833B3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8" y="2794472"/>
            <a:ext cx="1870521" cy="3340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970C2CE-826D-C98E-4EDA-65FB8B80D8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906" y="2763006"/>
            <a:ext cx="1586602" cy="3340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C74C080-EC9A-819D-3D88-0D529E38C4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61" y="3478884"/>
            <a:ext cx="1909353" cy="6364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D1496BA-8DFB-1F15-E06D-487A9A2DEE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51" y="3414314"/>
            <a:ext cx="1651739" cy="6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3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C3DFAC-1AB5-C2DC-A098-ECD1508794EA}"/>
              </a:ext>
            </a:extLst>
          </p:cNvPr>
          <p:cNvSpPr txBox="1"/>
          <p:nvPr/>
        </p:nvSpPr>
        <p:spPr>
          <a:xfrm>
            <a:off x="838200" y="1856522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Ej</a:t>
            </a:r>
            <a:r>
              <a:rPr lang="es-ES" sz="2800" b="1" dirty="0"/>
              <a:t>: Ecuaciones de estado en circuito RLC</a:t>
            </a:r>
            <a:endParaRPr lang="es-CL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23CB-1745-37FC-69B1-4472DA2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16" y="2899546"/>
            <a:ext cx="3077916" cy="5170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EBFDE5-6F71-F357-F53F-3BC3465F1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52" y="3771908"/>
            <a:ext cx="1680932" cy="54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FB12E-E842-6D24-465F-9128D86F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48" y="2545576"/>
            <a:ext cx="2555362" cy="19149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54F834-A01A-195C-DD3E-33617E8BA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8" y="2794472"/>
            <a:ext cx="1870521" cy="3340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4BB7EE4-CB38-33A7-4A62-EBA907D2B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906" y="2763006"/>
            <a:ext cx="1586602" cy="3340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14CC4A0-C74F-61F7-6375-24096F2C35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02" y="4601224"/>
            <a:ext cx="1586602" cy="35257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A78FB8-169B-5D9C-5A95-E5B72B2A2A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99" y="4567489"/>
            <a:ext cx="1720209" cy="334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A60A70-064C-05A6-4A4F-0B16E7699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61" y="3478884"/>
            <a:ext cx="1909353" cy="63645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BB4DB6C-232E-6C7C-E6C0-9291E256B4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51" y="3414314"/>
            <a:ext cx="1651739" cy="63645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1DE7B71-F959-C61D-007F-F6810EE2301B}"/>
              </a:ext>
            </a:extLst>
          </p:cNvPr>
          <p:cNvSpPr txBox="1"/>
          <p:nvPr/>
        </p:nvSpPr>
        <p:spPr>
          <a:xfrm>
            <a:off x="9665111" y="5521226"/>
            <a:ext cx="2190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Salida(s) de acuerdo a objetivos propios</a:t>
            </a:r>
          </a:p>
        </p:txBody>
      </p:sp>
    </p:spTree>
    <p:extLst>
      <p:ext uri="{BB962C8B-B14F-4D97-AF65-F5344CB8AC3E}">
        <p14:creationId xmlns:p14="http://schemas.microsoft.com/office/powerpoint/2010/main" val="95072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C3DFAC-1AB5-C2DC-A098-ECD1508794EA}"/>
              </a:ext>
            </a:extLst>
          </p:cNvPr>
          <p:cNvSpPr txBox="1"/>
          <p:nvPr/>
        </p:nvSpPr>
        <p:spPr>
          <a:xfrm>
            <a:off x="838200" y="1856522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Ej</a:t>
            </a:r>
            <a:r>
              <a:rPr lang="es-ES" sz="2800" b="1" dirty="0"/>
              <a:t>: Ecuaciones de estado en circuito RLC</a:t>
            </a:r>
            <a:endParaRPr lang="es-CL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23CB-1745-37FC-69B1-4472DA2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16" y="2899546"/>
            <a:ext cx="3077916" cy="5170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EBFDE5-6F71-F357-F53F-3BC3465F1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52" y="3771908"/>
            <a:ext cx="1680932" cy="54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FB12E-E842-6D24-465F-9128D86F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48" y="2545576"/>
            <a:ext cx="2555362" cy="19149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54F834-A01A-195C-DD3E-33617E8BA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8" y="2794472"/>
            <a:ext cx="1870521" cy="3340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4BB7EE4-CB38-33A7-4A62-EBA907D2B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906" y="2763006"/>
            <a:ext cx="1586602" cy="3340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14CC4A0-C74F-61F7-6375-24096F2C35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02" y="4601224"/>
            <a:ext cx="1586602" cy="35257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A78FB8-169B-5D9C-5A95-E5B72B2A2A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99" y="4567489"/>
            <a:ext cx="1720209" cy="334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A60A70-064C-05A6-4A4F-0B16E7699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61" y="3478884"/>
            <a:ext cx="1909353" cy="63645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BB4DB6C-232E-6C7C-E6C0-9291E256B4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51" y="3414314"/>
            <a:ext cx="1651739" cy="63645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1DE7B71-F959-C61D-007F-F6810EE2301B}"/>
              </a:ext>
            </a:extLst>
          </p:cNvPr>
          <p:cNvSpPr txBox="1"/>
          <p:nvPr/>
        </p:nvSpPr>
        <p:spPr>
          <a:xfrm>
            <a:off x="9665111" y="5521226"/>
            <a:ext cx="2190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Salida(s) de acuerdo a objetivos propios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E916C8E-E95C-0124-403C-7AA54C20F3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670" y="5593404"/>
            <a:ext cx="4048432" cy="3138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1AD35E5-8778-2F84-D0CB-3AA4D5C882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670" y="6177914"/>
            <a:ext cx="1930069" cy="3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51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DF45E9-6F8B-4192-9314-DCB331BE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1869389"/>
            <a:ext cx="4048432" cy="31383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B5B10CE-6E0B-665A-0BA5-CDAAB012E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2453899"/>
            <a:ext cx="1930069" cy="3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91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DF45E9-6F8B-4192-9314-DCB331BE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1869389"/>
            <a:ext cx="4048432" cy="31383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B5B10CE-6E0B-665A-0BA5-CDAAB012E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2453899"/>
            <a:ext cx="1930069" cy="3138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AF0D323-FBE0-5A14-DE15-315A271F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441" y="2998379"/>
            <a:ext cx="1930069" cy="623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F8BEF0F-2AF4-40D4-672D-4F26EFAEF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350" y="3850174"/>
            <a:ext cx="4544015" cy="62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18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DF45E9-6F8B-4192-9314-DCB331BE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1869389"/>
            <a:ext cx="4048432" cy="31383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B5B10CE-6E0B-665A-0BA5-CDAAB012E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2453899"/>
            <a:ext cx="1930069" cy="3138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AF0D323-FBE0-5A14-DE15-315A271F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441" y="2998379"/>
            <a:ext cx="1930069" cy="623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F8BEF0F-2AF4-40D4-672D-4F26EFAEF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350" y="3850174"/>
            <a:ext cx="4544015" cy="6230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4AAA2D-651B-B29D-CE30-C077A696CB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678" y="4833285"/>
            <a:ext cx="6011546" cy="7309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FD4FBD-7CD0-3360-C84E-E9519E932B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769" y="5901819"/>
            <a:ext cx="2579022" cy="73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16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1.4 </a:t>
            </a:r>
            <a:r>
              <a:rPr lang="es-ES" sz="4400" dirty="0"/>
              <a:t>Principios Básicos de Modelación de Sistemas</a:t>
            </a:r>
            <a:endParaRPr lang="es-CL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Ejercicio</a:t>
            </a:r>
            <a:r>
              <a:rPr lang="es-ES" dirty="0"/>
              <a:t>: Para el sistema descrito por la siguiente ecuación diferencial: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Encuentre la representación en espacio de estados para el sistema con entrada </a:t>
            </a:r>
            <a:r>
              <a:rPr lang="es-ES" i="1" dirty="0"/>
              <a:t>u(t) </a:t>
            </a:r>
            <a:r>
              <a:rPr lang="es-ES" dirty="0"/>
              <a:t>y salida </a:t>
            </a:r>
            <a:r>
              <a:rPr lang="es-ES" i="1" dirty="0"/>
              <a:t>y(t)</a:t>
            </a:r>
            <a:r>
              <a:rPr lang="es-ES" dirty="0"/>
              <a:t>. Pista: definir la variable 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34A9A2-E5FD-024B-021B-30AC143FD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618" y="2460327"/>
            <a:ext cx="3932505" cy="764654"/>
          </a:xfrm>
          <a:prstGeom prst="rect">
            <a:avLst/>
          </a:prstGeom>
        </p:spPr>
      </p:pic>
      <p:pic>
        <p:nvPicPr>
          <p:cNvPr id="8" name="Imagen 7" descr="Texto&#10;&#10;Descripción generada automáticamente con confianza media">
            <a:extLst>
              <a:ext uri="{FF2B5EF4-FFF2-40B4-BE49-F238E27FC236}">
                <a16:creationId xmlns:a16="http://schemas.microsoft.com/office/drawing/2014/main" id="{51F7A966-004C-AA95-1B0E-7210AF398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781" y="3743958"/>
            <a:ext cx="1661651" cy="51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31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4AD7-308D-A47F-B255-4F85E232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B6AFB-96A2-4B58-51BC-F43EFCE25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1: Introducción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2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84441D-7A70-7C49-1D8B-2F65A4875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1AF670C6-A8D0-2270-2B85-E7028FD07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4D16BF6-C686-9035-E2DD-978792D1C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9808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1958</TotalTime>
  <Words>846</Words>
  <Application>Microsoft Office PowerPoint</Application>
  <PresentationFormat>Panorámica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Diseño personalizado</vt:lpstr>
      <vt:lpstr>Sistemas Lineales Dinámicos S1-2024 Capítulo 1: Introducción Clase 2</vt:lpstr>
      <vt:lpstr>En la clase de hoy</vt:lpstr>
      <vt:lpstr>Repaso: 1.1 Proceso y Sistema</vt:lpstr>
      <vt:lpstr>Repaso: 1.1 Proceso y Sistema</vt:lpstr>
      <vt:lpstr>1.3 Clasificación de Sistemas y Modelos</vt:lpstr>
      <vt:lpstr>1.3 Clasificación de Sistemas y Modelos</vt:lpstr>
      <vt:lpstr>1.3 Clasificación de Sistemas y Modelos</vt:lpstr>
      <vt:lpstr>1.3 Clasificación de Sistemas y Modelos</vt:lpstr>
      <vt:lpstr>1.3 Clasificación de Sistemas y Modelos</vt:lpstr>
      <vt:lpstr>1.3 Clasificación de Sistemas y Modelos</vt:lpstr>
      <vt:lpstr>1.3 Clasificación de Sistemas y Modelos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1.4 Principios Básicos de Modelación de Sistemas</vt:lpstr>
      <vt:lpstr>Sistemas Lineales Dinámicos S1-2024 Capítulo 1: Introducción Clase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2024-03-11T00:47:04Z</dcterms:modified>
</cp:coreProperties>
</file>