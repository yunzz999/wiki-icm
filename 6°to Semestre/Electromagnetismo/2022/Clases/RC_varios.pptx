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0" autoAdjust="0"/>
    <p:restoredTop sz="94660"/>
  </p:normalViewPr>
  <p:slideViewPr>
    <p:cSldViewPr snapToGrid="0">
      <p:cViewPr varScale="1">
        <p:scale>
          <a:sx n="71" d="100"/>
          <a:sy n="71" d="100"/>
        </p:scale>
        <p:origin x="9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64F4-0743-4DDC-B581-2D03C91D2647}" type="datetimeFigureOut">
              <a:rPr lang="es-CL" smtClean="0"/>
              <a:t>22-11-2021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017D-2DA7-4F2B-99A3-03B982835F1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5578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64F4-0743-4DDC-B581-2D03C91D2647}" type="datetimeFigureOut">
              <a:rPr lang="es-CL" smtClean="0"/>
              <a:t>22-11-2021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017D-2DA7-4F2B-99A3-03B982835F1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033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64F4-0743-4DDC-B581-2D03C91D2647}" type="datetimeFigureOut">
              <a:rPr lang="es-CL" smtClean="0"/>
              <a:t>22-11-2021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017D-2DA7-4F2B-99A3-03B982835F1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7216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64F4-0743-4DDC-B581-2D03C91D2647}" type="datetimeFigureOut">
              <a:rPr lang="es-CL" smtClean="0"/>
              <a:t>22-11-2021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017D-2DA7-4F2B-99A3-03B982835F1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2298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64F4-0743-4DDC-B581-2D03C91D2647}" type="datetimeFigureOut">
              <a:rPr lang="es-CL" smtClean="0"/>
              <a:t>22-11-2021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017D-2DA7-4F2B-99A3-03B982835F1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6174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64F4-0743-4DDC-B581-2D03C91D2647}" type="datetimeFigureOut">
              <a:rPr lang="es-CL" smtClean="0"/>
              <a:t>22-11-2021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017D-2DA7-4F2B-99A3-03B982835F1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437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64F4-0743-4DDC-B581-2D03C91D2647}" type="datetimeFigureOut">
              <a:rPr lang="es-CL" smtClean="0"/>
              <a:t>22-11-2021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017D-2DA7-4F2B-99A3-03B982835F1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9594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64F4-0743-4DDC-B581-2D03C91D2647}" type="datetimeFigureOut">
              <a:rPr lang="es-CL" smtClean="0"/>
              <a:t>22-11-2021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017D-2DA7-4F2B-99A3-03B982835F1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5612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64F4-0743-4DDC-B581-2D03C91D2647}" type="datetimeFigureOut">
              <a:rPr lang="es-CL" smtClean="0"/>
              <a:t>22-11-2021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017D-2DA7-4F2B-99A3-03B982835F1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835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64F4-0743-4DDC-B581-2D03C91D2647}" type="datetimeFigureOut">
              <a:rPr lang="es-CL" smtClean="0"/>
              <a:t>22-11-2021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017D-2DA7-4F2B-99A3-03B982835F1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410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64F4-0743-4DDC-B581-2D03C91D2647}" type="datetimeFigureOut">
              <a:rPr lang="es-CL" smtClean="0"/>
              <a:t>22-11-2021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C017D-2DA7-4F2B-99A3-03B982835F1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043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764F4-0743-4DDC-B581-2D03C91D2647}" type="datetimeFigureOut">
              <a:rPr lang="es-CL" smtClean="0"/>
              <a:t>22-11-2021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C017D-2DA7-4F2B-99A3-03B982835F1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4372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51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143871" y="124288"/>
            <a:ext cx="4336552" cy="1144715"/>
          </a:xfrm>
        </p:spPr>
        <p:txBody>
          <a:bodyPr/>
          <a:lstStyle/>
          <a:p>
            <a:r>
              <a:rPr lang="es-MX" dirty="0"/>
              <a:t>Circuito RC</a:t>
            </a:r>
            <a:endParaRPr lang="es-CL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1" y="1145192"/>
            <a:ext cx="2931442" cy="2146647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3659448" y="2118637"/>
            <a:ext cx="83801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/>
              <a:t>i = i(t) Circuito conformado por una fuente constante (V),</a:t>
            </a:r>
          </a:p>
          <a:p>
            <a:r>
              <a:rPr lang="es-MX" sz="2800" dirty="0"/>
              <a:t>un interruptor S, una resistencia (R) y un capacitor (C).</a:t>
            </a:r>
            <a:endParaRPr lang="es-CL" sz="2800" dirty="0"/>
          </a:p>
        </p:txBody>
      </p:sp>
      <p:sp>
        <p:nvSpPr>
          <p:cNvPr id="8" name="CuadroTexto 7"/>
          <p:cNvSpPr txBox="1"/>
          <p:nvPr/>
        </p:nvSpPr>
        <p:spPr>
          <a:xfrm>
            <a:off x="949745" y="3537012"/>
            <a:ext cx="98595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/>
              <a:t>Podemos conformar dos circuitos según la posición del interruptor:</a:t>
            </a:r>
          </a:p>
        </p:txBody>
      </p:sp>
      <p:grpSp>
        <p:nvGrpSpPr>
          <p:cNvPr id="17" name="Grupo 16"/>
          <p:cNvGrpSpPr/>
          <p:nvPr/>
        </p:nvGrpSpPr>
        <p:grpSpPr>
          <a:xfrm>
            <a:off x="342111" y="4034696"/>
            <a:ext cx="2931442" cy="2146647"/>
            <a:chOff x="342111" y="4034696"/>
            <a:chExt cx="2931442" cy="2146647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111" y="4034696"/>
              <a:ext cx="2931442" cy="2146647"/>
            </a:xfrm>
            <a:prstGeom prst="rect">
              <a:avLst/>
            </a:prstGeom>
          </p:spPr>
        </p:pic>
        <p:sp>
          <p:nvSpPr>
            <p:cNvPr id="10" name="Rectángulo 9"/>
            <p:cNvSpPr/>
            <p:nvPr/>
          </p:nvSpPr>
          <p:spPr>
            <a:xfrm>
              <a:off x="1243584" y="4206240"/>
              <a:ext cx="451104" cy="18409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2" name="Conector recto 11"/>
            <p:cNvCxnSpPr/>
            <p:nvPr/>
          </p:nvCxnSpPr>
          <p:spPr>
            <a:xfrm flipV="1">
              <a:off x="1188284" y="4544853"/>
              <a:ext cx="606485" cy="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uadroTexto 2"/>
          <p:cNvSpPr txBox="1"/>
          <p:nvPr/>
        </p:nvSpPr>
        <p:spPr>
          <a:xfrm>
            <a:off x="5267450" y="4722208"/>
            <a:ext cx="2680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V</a:t>
            </a:r>
            <a:r>
              <a:rPr lang="es-MX" sz="3200" baseline="-25000" dirty="0"/>
              <a:t>F</a:t>
            </a:r>
            <a:r>
              <a:rPr lang="es-MX" sz="3200" dirty="0"/>
              <a:t> + V</a:t>
            </a:r>
            <a:r>
              <a:rPr lang="es-MX" sz="3200" baseline="-25000" dirty="0"/>
              <a:t>R</a:t>
            </a:r>
            <a:r>
              <a:rPr lang="es-MX" sz="3200" dirty="0"/>
              <a:t> + V</a:t>
            </a:r>
            <a:r>
              <a:rPr lang="es-MX" sz="3200" baseline="-25000" dirty="0"/>
              <a:t>C</a:t>
            </a:r>
            <a:r>
              <a:rPr lang="es-MX" sz="3200" dirty="0"/>
              <a:t> = 0</a:t>
            </a:r>
            <a:endParaRPr lang="es-CL" sz="32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4284617" y="4060232"/>
            <a:ext cx="32841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/>
              <a:t>Según </a:t>
            </a:r>
            <a:r>
              <a:rPr lang="es-MX" sz="2800" dirty="0" err="1"/>
              <a:t>Kirchoff</a:t>
            </a:r>
            <a:r>
              <a:rPr lang="es-MX" sz="2800" dirty="0"/>
              <a:t>: </a:t>
            </a:r>
            <a:r>
              <a:rPr lang="es-MX" sz="2800" b="1" dirty="0"/>
              <a:t>i=f(t)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9520606" y="4219303"/>
            <a:ext cx="17504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V</a:t>
            </a:r>
            <a:r>
              <a:rPr lang="es-MX" sz="3200" baseline="-25000" dirty="0"/>
              <a:t>C</a:t>
            </a:r>
            <a:r>
              <a:rPr lang="es-MX" sz="3200" dirty="0"/>
              <a:t> = </a:t>
            </a:r>
            <a:r>
              <a:rPr lang="es-MX" sz="3200" b="1" dirty="0"/>
              <a:t>±q</a:t>
            </a:r>
            <a:r>
              <a:rPr lang="es-MX" sz="3200" dirty="0"/>
              <a:t>/C</a:t>
            </a:r>
            <a:endParaRPr lang="es-CL" sz="32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9520606" y="4850914"/>
            <a:ext cx="1492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V</a:t>
            </a:r>
            <a:r>
              <a:rPr lang="es-MX" sz="3200" baseline="-25000" dirty="0"/>
              <a:t>R</a:t>
            </a:r>
            <a:r>
              <a:rPr lang="es-MX" sz="3200" dirty="0"/>
              <a:t> = - </a:t>
            </a:r>
            <a:r>
              <a:rPr lang="es-MX" sz="3200" dirty="0" err="1"/>
              <a:t>iR</a:t>
            </a:r>
            <a:endParaRPr lang="es-CL" sz="3200" dirty="0"/>
          </a:p>
        </p:txBody>
      </p:sp>
      <p:sp>
        <p:nvSpPr>
          <p:cNvPr id="15" name="CuadroTexto 14"/>
          <p:cNvSpPr txBox="1"/>
          <p:nvPr/>
        </p:nvSpPr>
        <p:spPr>
          <a:xfrm>
            <a:off x="9401070" y="5525152"/>
            <a:ext cx="29614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V</a:t>
            </a:r>
            <a:r>
              <a:rPr lang="es-MX" sz="3200" baseline="-25000" dirty="0"/>
              <a:t>F</a:t>
            </a:r>
            <a:r>
              <a:rPr lang="es-MX" sz="3200" dirty="0"/>
              <a:t> = </a:t>
            </a:r>
            <a:r>
              <a:rPr lang="es-MX" sz="3200" dirty="0" err="1"/>
              <a:t>cte</a:t>
            </a:r>
            <a:r>
              <a:rPr lang="es-MX" sz="3200" dirty="0"/>
              <a:t> (</a:t>
            </a:r>
            <a:r>
              <a:rPr lang="es-MX" sz="3200" i="1" strike="dblStrike" dirty="0"/>
              <a:t>tiempo</a:t>
            </a:r>
            <a:r>
              <a:rPr lang="es-MX" sz="3200" dirty="0"/>
              <a:t>)</a:t>
            </a:r>
            <a:endParaRPr lang="es-CL" sz="3200" dirty="0"/>
          </a:p>
        </p:txBody>
      </p:sp>
      <p:sp>
        <p:nvSpPr>
          <p:cNvPr id="16" name="CuadroTexto 15"/>
          <p:cNvSpPr txBox="1"/>
          <p:nvPr/>
        </p:nvSpPr>
        <p:spPr>
          <a:xfrm>
            <a:off x="4715111" y="5527005"/>
            <a:ext cx="34387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V</a:t>
            </a:r>
            <a:r>
              <a:rPr lang="es-MX" sz="3200" baseline="-25000" dirty="0"/>
              <a:t>F</a:t>
            </a:r>
            <a:r>
              <a:rPr lang="es-MX" sz="3200" dirty="0"/>
              <a:t> - i(t)R – q(t)/C= 0</a:t>
            </a:r>
            <a:endParaRPr lang="es-CL" sz="3200" dirty="0"/>
          </a:p>
        </p:txBody>
      </p:sp>
      <p:sp>
        <p:nvSpPr>
          <p:cNvPr id="4" name="CuadroTexto 3"/>
          <p:cNvSpPr txBox="1"/>
          <p:nvPr/>
        </p:nvSpPr>
        <p:spPr>
          <a:xfrm>
            <a:off x="143310" y="3809958"/>
            <a:ext cx="689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/>
              <a:t>(A)</a:t>
            </a:r>
            <a:endParaRPr lang="es-CL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3425953" y="3958979"/>
                <a:ext cx="103115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s-MX" sz="2400" b="1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s-MX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CL" sz="2400" b="1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953" y="3958979"/>
                <a:ext cx="103115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upo 29"/>
          <p:cNvGrpSpPr/>
          <p:nvPr/>
        </p:nvGrpSpPr>
        <p:grpSpPr>
          <a:xfrm>
            <a:off x="2618916" y="3850263"/>
            <a:ext cx="948857" cy="1236546"/>
            <a:chOff x="11110897" y="1770298"/>
            <a:chExt cx="948857" cy="1236546"/>
          </a:xfrm>
        </p:grpSpPr>
        <p:sp>
          <p:nvSpPr>
            <p:cNvPr id="31" name="Arco 30"/>
            <p:cNvSpPr/>
            <p:nvPr/>
          </p:nvSpPr>
          <p:spPr>
            <a:xfrm>
              <a:off x="11110897" y="2275324"/>
              <a:ext cx="653143" cy="731520"/>
            </a:xfrm>
            <a:prstGeom prst="arc">
              <a:avLst>
                <a:gd name="adj1" fmla="val 15334748"/>
                <a:gd name="adj2" fmla="val 0"/>
              </a:avLst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2" name="Rectángulo 31"/>
            <p:cNvSpPr/>
            <p:nvPr/>
          </p:nvSpPr>
          <p:spPr>
            <a:xfrm>
              <a:off x="11437468" y="1770298"/>
              <a:ext cx="62228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sz="2800" b="1" dirty="0"/>
                <a:t>i(t)</a:t>
              </a:r>
              <a:endParaRPr lang="es-CL" sz="2800" b="1" dirty="0"/>
            </a:p>
          </p:txBody>
        </p:sp>
      </p:grpSp>
      <p:grpSp>
        <p:nvGrpSpPr>
          <p:cNvPr id="41" name="Grupo 40"/>
          <p:cNvGrpSpPr/>
          <p:nvPr/>
        </p:nvGrpSpPr>
        <p:grpSpPr>
          <a:xfrm>
            <a:off x="2628537" y="1875198"/>
            <a:ext cx="1061057" cy="920647"/>
            <a:chOff x="2628537" y="1875198"/>
            <a:chExt cx="1061057" cy="920647"/>
          </a:xfrm>
        </p:grpSpPr>
        <p:grpSp>
          <p:nvGrpSpPr>
            <p:cNvPr id="37" name="Grupo 36"/>
            <p:cNvGrpSpPr/>
            <p:nvPr/>
          </p:nvGrpSpPr>
          <p:grpSpPr>
            <a:xfrm>
              <a:off x="2628537" y="2067948"/>
              <a:ext cx="1061057" cy="575535"/>
              <a:chOff x="2628537" y="2067948"/>
              <a:chExt cx="1061057" cy="575535"/>
            </a:xfrm>
          </p:grpSpPr>
          <p:sp>
            <p:nvSpPr>
              <p:cNvPr id="33" name="CuadroTexto 32"/>
              <p:cNvSpPr txBox="1"/>
              <p:nvPr/>
            </p:nvSpPr>
            <p:spPr>
              <a:xfrm>
                <a:off x="2628537" y="2067948"/>
                <a:ext cx="375424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s-MX" sz="2800" dirty="0"/>
                  <a:t>C</a:t>
                </a:r>
                <a:endParaRPr lang="es-CL" sz="2800" dirty="0"/>
              </a:p>
            </p:txBody>
          </p:sp>
          <p:grpSp>
            <p:nvGrpSpPr>
              <p:cNvPr id="36" name="Grupo 35"/>
              <p:cNvGrpSpPr/>
              <p:nvPr/>
            </p:nvGrpSpPr>
            <p:grpSpPr>
              <a:xfrm>
                <a:off x="2893253" y="2067948"/>
                <a:ext cx="796341" cy="575535"/>
                <a:chOff x="4247071" y="1543102"/>
                <a:chExt cx="796341" cy="575535"/>
              </a:xfrm>
            </p:grpSpPr>
            <p:sp>
              <p:nvSpPr>
                <p:cNvPr id="35" name="Rectángulo 34"/>
                <p:cNvSpPr/>
                <p:nvPr/>
              </p:nvSpPr>
              <p:spPr>
                <a:xfrm>
                  <a:off x="4369283" y="1543102"/>
                  <a:ext cx="551918" cy="57553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34" name="Igual que 33"/>
                <p:cNvSpPr/>
                <p:nvPr/>
              </p:nvSpPr>
              <p:spPr>
                <a:xfrm>
                  <a:off x="4247071" y="1706911"/>
                  <a:ext cx="796341" cy="226603"/>
                </a:xfrm>
                <a:prstGeom prst="mathEqual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</p:grpSp>
        <p:cxnSp>
          <p:nvCxnSpPr>
            <p:cNvPr id="39" name="Conector recto 38"/>
            <p:cNvCxnSpPr/>
            <p:nvPr/>
          </p:nvCxnSpPr>
          <p:spPr>
            <a:xfrm>
              <a:off x="3260274" y="1875198"/>
              <a:ext cx="0" cy="40935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ector recto 39"/>
            <p:cNvCxnSpPr/>
            <p:nvPr/>
          </p:nvCxnSpPr>
          <p:spPr>
            <a:xfrm>
              <a:off x="3260274" y="2386491"/>
              <a:ext cx="0" cy="40935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upo 22"/>
          <p:cNvGrpSpPr/>
          <p:nvPr/>
        </p:nvGrpSpPr>
        <p:grpSpPr>
          <a:xfrm>
            <a:off x="9098845" y="86503"/>
            <a:ext cx="2817686" cy="2032133"/>
            <a:chOff x="9232741" y="86504"/>
            <a:chExt cx="2683789" cy="1896306"/>
          </a:xfrm>
        </p:grpSpPr>
        <p:grpSp>
          <p:nvGrpSpPr>
            <p:cNvPr id="50" name="Grupo 49"/>
            <p:cNvGrpSpPr/>
            <p:nvPr/>
          </p:nvGrpSpPr>
          <p:grpSpPr>
            <a:xfrm>
              <a:off x="9232741" y="86504"/>
              <a:ext cx="2393940" cy="1896306"/>
              <a:chOff x="9232741" y="86504"/>
              <a:chExt cx="2393940" cy="1896306"/>
            </a:xfrm>
          </p:grpSpPr>
          <p:grpSp>
            <p:nvGrpSpPr>
              <p:cNvPr id="20" name="Grupo 19"/>
              <p:cNvGrpSpPr/>
              <p:nvPr/>
            </p:nvGrpSpPr>
            <p:grpSpPr>
              <a:xfrm>
                <a:off x="9232741" y="260323"/>
                <a:ext cx="2393940" cy="1722487"/>
                <a:chOff x="342111" y="4034696"/>
                <a:chExt cx="2931442" cy="2146647"/>
              </a:xfrm>
            </p:grpSpPr>
            <p:pic>
              <p:nvPicPr>
                <p:cNvPr id="27" name="Imagen 26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42111" y="4034696"/>
                  <a:ext cx="2931442" cy="2146647"/>
                </a:xfrm>
                <a:prstGeom prst="rect">
                  <a:avLst/>
                </a:prstGeom>
              </p:spPr>
            </p:pic>
            <p:sp>
              <p:nvSpPr>
                <p:cNvPr id="28" name="Rectángulo 27"/>
                <p:cNvSpPr/>
                <p:nvPr/>
              </p:nvSpPr>
              <p:spPr>
                <a:xfrm>
                  <a:off x="1243584" y="4206240"/>
                  <a:ext cx="451104" cy="18409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cxnSp>
              <p:nvCxnSpPr>
                <p:cNvPr id="29" name="Conector recto 28"/>
                <p:cNvCxnSpPr/>
                <p:nvPr/>
              </p:nvCxnSpPr>
              <p:spPr>
                <a:xfrm flipV="1">
                  <a:off x="1188284" y="4544853"/>
                  <a:ext cx="606485" cy="1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Rectángulo 20"/>
              <p:cNvSpPr/>
              <p:nvPr/>
            </p:nvSpPr>
            <p:spPr>
              <a:xfrm>
                <a:off x="9248126" y="518054"/>
                <a:ext cx="626236" cy="14647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cxnSp>
            <p:nvCxnSpPr>
              <p:cNvPr id="22" name="Conector recto 21"/>
              <p:cNvCxnSpPr/>
              <p:nvPr/>
            </p:nvCxnSpPr>
            <p:spPr>
              <a:xfrm flipH="1">
                <a:off x="9871877" y="636092"/>
                <a:ext cx="9209" cy="1276507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Arco 24"/>
              <p:cNvSpPr/>
              <p:nvPr/>
            </p:nvSpPr>
            <p:spPr>
              <a:xfrm>
                <a:off x="11155224" y="516729"/>
                <a:ext cx="461557" cy="507221"/>
              </a:xfrm>
              <a:prstGeom prst="arc">
                <a:avLst>
                  <a:gd name="adj1" fmla="val 15334748"/>
                  <a:gd name="adj2" fmla="val 0"/>
                </a:avLst>
              </a:prstGeom>
              <a:ln w="38100">
                <a:headEnd type="triangle"/>
                <a:tailEnd type="non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4" name="CuadroTexto 23"/>
              <p:cNvSpPr txBox="1"/>
              <p:nvPr/>
            </p:nvSpPr>
            <p:spPr>
              <a:xfrm>
                <a:off x="9283171" y="86504"/>
                <a:ext cx="474867" cy="4054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b="1" dirty="0"/>
                  <a:t>(B)</a:t>
                </a:r>
                <a:endParaRPr lang="es-CL" sz="3200" b="1" dirty="0"/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10855473" y="892985"/>
              <a:ext cx="1061057" cy="920647"/>
              <a:chOff x="2628537" y="1875198"/>
              <a:chExt cx="1061057" cy="920647"/>
            </a:xfrm>
          </p:grpSpPr>
          <p:grpSp>
            <p:nvGrpSpPr>
              <p:cNvPr id="43" name="Grupo 42"/>
              <p:cNvGrpSpPr/>
              <p:nvPr/>
            </p:nvGrpSpPr>
            <p:grpSpPr>
              <a:xfrm>
                <a:off x="2628537" y="2067948"/>
                <a:ext cx="1061057" cy="575535"/>
                <a:chOff x="2628537" y="2067948"/>
                <a:chExt cx="1061057" cy="575535"/>
              </a:xfrm>
            </p:grpSpPr>
            <p:sp>
              <p:nvSpPr>
                <p:cNvPr id="46" name="CuadroTexto 45"/>
                <p:cNvSpPr txBox="1"/>
                <p:nvPr/>
              </p:nvSpPr>
              <p:spPr>
                <a:xfrm>
                  <a:off x="2628537" y="2067948"/>
                  <a:ext cx="375424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s-MX" sz="2800" dirty="0"/>
                    <a:t>C</a:t>
                  </a:r>
                  <a:endParaRPr lang="es-CL" sz="2800" dirty="0"/>
                </a:p>
              </p:txBody>
            </p:sp>
            <p:grpSp>
              <p:nvGrpSpPr>
                <p:cNvPr id="47" name="Grupo 46"/>
                <p:cNvGrpSpPr/>
                <p:nvPr/>
              </p:nvGrpSpPr>
              <p:grpSpPr>
                <a:xfrm>
                  <a:off x="2893253" y="2067948"/>
                  <a:ext cx="796341" cy="575535"/>
                  <a:chOff x="4247071" y="1543102"/>
                  <a:chExt cx="796341" cy="575535"/>
                </a:xfrm>
              </p:grpSpPr>
              <p:sp>
                <p:nvSpPr>
                  <p:cNvPr id="48" name="Rectángulo 47"/>
                  <p:cNvSpPr/>
                  <p:nvPr/>
                </p:nvSpPr>
                <p:spPr>
                  <a:xfrm>
                    <a:off x="4369283" y="1543102"/>
                    <a:ext cx="551918" cy="57553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L"/>
                  </a:p>
                </p:txBody>
              </p:sp>
              <p:sp>
                <p:nvSpPr>
                  <p:cNvPr id="49" name="Igual que 48"/>
                  <p:cNvSpPr/>
                  <p:nvPr/>
                </p:nvSpPr>
                <p:spPr>
                  <a:xfrm>
                    <a:off x="4247071" y="1706911"/>
                    <a:ext cx="796341" cy="226603"/>
                  </a:xfrm>
                  <a:prstGeom prst="mathEqual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L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44" name="Conector recto 43"/>
              <p:cNvCxnSpPr/>
              <p:nvPr/>
            </p:nvCxnSpPr>
            <p:spPr>
              <a:xfrm>
                <a:off x="3260274" y="1875198"/>
                <a:ext cx="0" cy="40935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/>
              <p:cNvCxnSpPr/>
              <p:nvPr/>
            </p:nvCxnSpPr>
            <p:spPr>
              <a:xfrm>
                <a:off x="3260274" y="2386491"/>
                <a:ext cx="0" cy="40935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6" name="Rectángulo 25"/>
            <p:cNvSpPr/>
            <p:nvPr/>
          </p:nvSpPr>
          <p:spPr>
            <a:xfrm>
              <a:off x="11386002" y="166554"/>
              <a:ext cx="439751" cy="3627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sz="2800" b="1" dirty="0"/>
                <a:t>i(t)</a:t>
              </a:r>
              <a:endParaRPr lang="es-CL" sz="2800" b="1" dirty="0"/>
            </a:p>
          </p:txBody>
        </p:sp>
      </p:grpSp>
      <p:grpSp>
        <p:nvGrpSpPr>
          <p:cNvPr id="51" name="Grupo 50"/>
          <p:cNvGrpSpPr/>
          <p:nvPr/>
        </p:nvGrpSpPr>
        <p:grpSpPr>
          <a:xfrm>
            <a:off x="2461953" y="4776356"/>
            <a:ext cx="1061057" cy="920647"/>
            <a:chOff x="2628537" y="1875198"/>
            <a:chExt cx="1061057" cy="920647"/>
          </a:xfrm>
        </p:grpSpPr>
        <p:grpSp>
          <p:nvGrpSpPr>
            <p:cNvPr id="52" name="Grupo 51"/>
            <p:cNvGrpSpPr/>
            <p:nvPr/>
          </p:nvGrpSpPr>
          <p:grpSpPr>
            <a:xfrm>
              <a:off x="2628537" y="2067948"/>
              <a:ext cx="1061057" cy="575535"/>
              <a:chOff x="2628537" y="2067948"/>
              <a:chExt cx="1061057" cy="575535"/>
            </a:xfrm>
          </p:grpSpPr>
          <p:sp>
            <p:nvSpPr>
              <p:cNvPr id="55" name="CuadroTexto 54"/>
              <p:cNvSpPr txBox="1"/>
              <p:nvPr/>
            </p:nvSpPr>
            <p:spPr>
              <a:xfrm>
                <a:off x="2628537" y="2067948"/>
                <a:ext cx="375424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s-MX" sz="2800" dirty="0"/>
                  <a:t>C</a:t>
                </a:r>
                <a:endParaRPr lang="es-CL" sz="2800" dirty="0"/>
              </a:p>
            </p:txBody>
          </p:sp>
          <p:grpSp>
            <p:nvGrpSpPr>
              <p:cNvPr id="56" name="Grupo 55"/>
              <p:cNvGrpSpPr/>
              <p:nvPr/>
            </p:nvGrpSpPr>
            <p:grpSpPr>
              <a:xfrm>
                <a:off x="2893253" y="2067948"/>
                <a:ext cx="796341" cy="575535"/>
                <a:chOff x="4247071" y="1543102"/>
                <a:chExt cx="796341" cy="575535"/>
              </a:xfrm>
            </p:grpSpPr>
            <p:sp>
              <p:nvSpPr>
                <p:cNvPr id="57" name="Rectángulo 56"/>
                <p:cNvSpPr/>
                <p:nvPr/>
              </p:nvSpPr>
              <p:spPr>
                <a:xfrm>
                  <a:off x="4369283" y="1543102"/>
                  <a:ext cx="551918" cy="57553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58" name="Igual que 57"/>
                <p:cNvSpPr/>
                <p:nvPr/>
              </p:nvSpPr>
              <p:spPr>
                <a:xfrm>
                  <a:off x="4247071" y="1706911"/>
                  <a:ext cx="796341" cy="226603"/>
                </a:xfrm>
                <a:prstGeom prst="mathEqual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</p:grpSp>
        <p:cxnSp>
          <p:nvCxnSpPr>
            <p:cNvPr id="53" name="Conector recto 52"/>
            <p:cNvCxnSpPr/>
            <p:nvPr/>
          </p:nvCxnSpPr>
          <p:spPr>
            <a:xfrm>
              <a:off x="3260274" y="1875198"/>
              <a:ext cx="0" cy="40935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Conector recto 53"/>
            <p:cNvCxnSpPr/>
            <p:nvPr/>
          </p:nvCxnSpPr>
          <p:spPr>
            <a:xfrm>
              <a:off x="3260274" y="2386491"/>
              <a:ext cx="0" cy="40935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59" name="Imagen 58"/>
          <p:cNvPicPr>
            <a:picLocks noChangeAspect="1"/>
          </p:cNvPicPr>
          <p:nvPr/>
        </p:nvPicPr>
        <p:blipFill rotWithShape="1">
          <a:blip r:embed="rId4"/>
          <a:srcRect l="23497" t="8806" r="21598" b="9614"/>
          <a:stretch/>
        </p:blipFill>
        <p:spPr>
          <a:xfrm>
            <a:off x="449706" y="236318"/>
            <a:ext cx="793878" cy="1179583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4"/>
          <a:srcRect l="24818" r="22429"/>
          <a:stretch/>
        </p:blipFill>
        <p:spPr>
          <a:xfrm>
            <a:off x="3567773" y="4817152"/>
            <a:ext cx="516801" cy="979661"/>
          </a:xfrm>
          <a:prstGeom prst="rect">
            <a:avLst/>
          </a:prstGeom>
        </p:spPr>
      </p:pic>
      <p:sp>
        <p:nvSpPr>
          <p:cNvPr id="18" name="Elipse 17"/>
          <p:cNvSpPr/>
          <p:nvPr/>
        </p:nvSpPr>
        <p:spPr>
          <a:xfrm>
            <a:off x="2937304" y="4896703"/>
            <a:ext cx="181301" cy="1961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0" name="Elipse 59"/>
          <p:cNvSpPr/>
          <p:nvPr/>
        </p:nvSpPr>
        <p:spPr>
          <a:xfrm>
            <a:off x="3307858" y="4923934"/>
            <a:ext cx="118095" cy="1753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1" name="Elipse 60"/>
          <p:cNvSpPr/>
          <p:nvPr/>
        </p:nvSpPr>
        <p:spPr>
          <a:xfrm>
            <a:off x="2717142" y="4824006"/>
            <a:ext cx="156376" cy="2483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2" name="Elipse 61"/>
          <p:cNvSpPr/>
          <p:nvPr/>
        </p:nvSpPr>
        <p:spPr>
          <a:xfrm>
            <a:off x="3123228" y="4923934"/>
            <a:ext cx="151763" cy="2275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1660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018322" y="249610"/>
            <a:ext cx="3780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V</a:t>
            </a:r>
            <a:r>
              <a:rPr lang="es-MX" sz="3200" baseline="-25000" dirty="0"/>
              <a:t>F</a:t>
            </a:r>
            <a:r>
              <a:rPr lang="es-MX" sz="3200" dirty="0"/>
              <a:t> – R </a:t>
            </a:r>
            <a:r>
              <a:rPr lang="es-MX" sz="3200" dirty="0" err="1"/>
              <a:t>dq</a:t>
            </a:r>
            <a:r>
              <a:rPr lang="es-MX" sz="3200" dirty="0"/>
              <a:t>/</a:t>
            </a:r>
            <a:r>
              <a:rPr lang="es-MX" sz="3200" dirty="0" err="1"/>
              <a:t>dt</a:t>
            </a:r>
            <a:r>
              <a:rPr lang="es-MX" sz="3200" dirty="0"/>
              <a:t> – q/C = 0</a:t>
            </a:r>
            <a:endParaRPr lang="es-CL" sz="3200" dirty="0"/>
          </a:p>
        </p:txBody>
      </p:sp>
      <p:sp>
        <p:nvSpPr>
          <p:cNvPr id="6" name="CuadroTexto 5"/>
          <p:cNvSpPr txBox="1"/>
          <p:nvPr/>
        </p:nvSpPr>
        <p:spPr>
          <a:xfrm>
            <a:off x="561122" y="834385"/>
            <a:ext cx="53276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Reacomodamos esta ecuación:</a:t>
            </a:r>
            <a:endParaRPr lang="es-CL" sz="3200" dirty="0"/>
          </a:p>
        </p:txBody>
      </p:sp>
      <p:sp>
        <p:nvSpPr>
          <p:cNvPr id="7" name="CuadroTexto 6"/>
          <p:cNvSpPr txBox="1"/>
          <p:nvPr/>
        </p:nvSpPr>
        <p:spPr>
          <a:xfrm>
            <a:off x="1018322" y="1419160"/>
            <a:ext cx="49339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 err="1"/>
              <a:t>dq</a:t>
            </a:r>
            <a:r>
              <a:rPr lang="es-MX" sz="3200" dirty="0"/>
              <a:t>/</a:t>
            </a:r>
            <a:r>
              <a:rPr lang="es-MX" sz="3200" dirty="0" err="1"/>
              <a:t>dt</a:t>
            </a:r>
            <a:r>
              <a:rPr lang="es-MX" sz="3200" dirty="0"/>
              <a:t> + q(t)/(RC) = V</a:t>
            </a:r>
            <a:r>
              <a:rPr lang="es-MX" sz="3200" baseline="-25000" dirty="0"/>
              <a:t>F</a:t>
            </a:r>
            <a:r>
              <a:rPr lang="es-MX" sz="3200" dirty="0"/>
              <a:t> /R   (1)</a:t>
            </a:r>
            <a:endParaRPr lang="es-CL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6215370" y="1316180"/>
                <a:ext cx="363112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A   t </a:t>
                </a:r>
                <a:r>
                  <a:rPr lang="es-MX" sz="32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s-MX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∞</m:t>
                    </m:r>
                  </m:oMath>
                </a14:m>
                <a:r>
                  <a:rPr lang="es-MX" sz="3200" dirty="0">
                    <a:sym typeface="Wingdings" panose="05000000000000000000" pitchFamily="2" charset="2"/>
                  </a:rPr>
                  <a:t> dq/dt=0</a:t>
                </a:r>
                <a:endParaRPr lang="es-CL" sz="3200" dirty="0"/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370" y="1316180"/>
                <a:ext cx="3631122" cy="584775"/>
              </a:xfrm>
              <a:prstGeom prst="rect">
                <a:avLst/>
              </a:prstGeom>
              <a:blipFill rotWithShape="0">
                <a:blip r:embed="rId2"/>
                <a:stretch>
                  <a:fillRect l="-4370" t="-15625" r="-3193" b="-3437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/>
              <p:cNvSpPr txBox="1"/>
              <p:nvPr/>
            </p:nvSpPr>
            <p:spPr>
              <a:xfrm>
                <a:off x="674782" y="2097952"/>
                <a:ext cx="93724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3200" dirty="0"/>
                  <a:t>Ingresando esto en (1):q(t</a:t>
                </a:r>
                <a:r>
                  <a:rPr lang="es-MX" sz="3200" dirty="0"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es-MX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∞</m:t>
                    </m:r>
                    <m:r>
                      <a:rPr lang="es-MX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)=</m:t>
                    </m:r>
                    <m:r>
                      <a:rPr lang="es-MX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𝑉𝐶</m:t>
                    </m:r>
                    <m:r>
                      <a:rPr lang="es-MX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s-MX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𝑸</m:t>
                    </m:r>
                  </m:oMath>
                </a14:m>
                <a:endParaRPr lang="es-CL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Cuadro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782" y="2097952"/>
                <a:ext cx="9372467" cy="584775"/>
              </a:xfrm>
              <a:prstGeom prst="rect">
                <a:avLst/>
              </a:prstGeom>
              <a:blipFill rotWithShape="0">
                <a:blip r:embed="rId3"/>
                <a:stretch>
                  <a:fillRect l="-1692" t="-15625" b="-3437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o 9"/>
          <p:cNvGrpSpPr/>
          <p:nvPr/>
        </p:nvGrpSpPr>
        <p:grpSpPr>
          <a:xfrm>
            <a:off x="8812066" y="2003935"/>
            <a:ext cx="2931442" cy="2146647"/>
            <a:chOff x="342111" y="4034696"/>
            <a:chExt cx="2931442" cy="2146647"/>
          </a:xfrm>
        </p:grpSpPr>
        <p:pic>
          <p:nvPicPr>
            <p:cNvPr id="11" name="Imagen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2111" y="4034696"/>
              <a:ext cx="2931442" cy="2146647"/>
            </a:xfrm>
            <a:prstGeom prst="rect">
              <a:avLst/>
            </a:prstGeom>
          </p:spPr>
        </p:pic>
        <p:sp>
          <p:nvSpPr>
            <p:cNvPr id="12" name="Rectángulo 11"/>
            <p:cNvSpPr/>
            <p:nvPr/>
          </p:nvSpPr>
          <p:spPr>
            <a:xfrm>
              <a:off x="1243584" y="4206240"/>
              <a:ext cx="451104" cy="18409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3" name="Conector recto 12"/>
            <p:cNvCxnSpPr/>
            <p:nvPr/>
          </p:nvCxnSpPr>
          <p:spPr>
            <a:xfrm flipV="1">
              <a:off x="1188284" y="4544853"/>
              <a:ext cx="606485" cy="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upo 1"/>
          <p:cNvGrpSpPr/>
          <p:nvPr/>
        </p:nvGrpSpPr>
        <p:grpSpPr>
          <a:xfrm>
            <a:off x="11110897" y="1770298"/>
            <a:ext cx="948857" cy="1236546"/>
            <a:chOff x="11110897" y="1770298"/>
            <a:chExt cx="948857" cy="1236546"/>
          </a:xfrm>
        </p:grpSpPr>
        <p:sp>
          <p:nvSpPr>
            <p:cNvPr id="14" name="Arco 13"/>
            <p:cNvSpPr/>
            <p:nvPr/>
          </p:nvSpPr>
          <p:spPr>
            <a:xfrm>
              <a:off x="11110897" y="2275324"/>
              <a:ext cx="653143" cy="731520"/>
            </a:xfrm>
            <a:prstGeom prst="arc">
              <a:avLst>
                <a:gd name="adj1" fmla="val 15334748"/>
                <a:gd name="adj2" fmla="val 0"/>
              </a:avLst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5" name="Rectángulo 14"/>
            <p:cNvSpPr/>
            <p:nvPr/>
          </p:nvSpPr>
          <p:spPr>
            <a:xfrm>
              <a:off x="11437468" y="1770298"/>
              <a:ext cx="62228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sz="2800" b="1" dirty="0"/>
                <a:t>i(t)</a:t>
              </a:r>
              <a:endParaRPr lang="es-CL" sz="2800" b="1" dirty="0"/>
            </a:p>
          </p:txBody>
        </p:sp>
      </p:grpSp>
      <p:sp>
        <p:nvSpPr>
          <p:cNvPr id="18" name="CuadroTexto 17"/>
          <p:cNvSpPr txBox="1"/>
          <p:nvPr/>
        </p:nvSpPr>
        <p:spPr>
          <a:xfrm>
            <a:off x="739784" y="2873575"/>
            <a:ext cx="5803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Reacomodamos (1) y sustituimos:</a:t>
            </a:r>
            <a:endParaRPr lang="es-CL" sz="3200" dirty="0"/>
          </a:p>
        </p:txBody>
      </p:sp>
      <p:sp>
        <p:nvSpPr>
          <p:cNvPr id="19" name="CuadroTexto 18"/>
          <p:cNvSpPr txBox="1"/>
          <p:nvPr/>
        </p:nvSpPr>
        <p:spPr>
          <a:xfrm>
            <a:off x="592668" y="4156497"/>
            <a:ext cx="5475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 err="1"/>
              <a:t>dq</a:t>
            </a:r>
            <a:r>
              <a:rPr lang="es-MX" sz="3200" dirty="0"/>
              <a:t>/</a:t>
            </a:r>
            <a:r>
              <a:rPr lang="es-MX" sz="3200" dirty="0" err="1"/>
              <a:t>dt</a:t>
            </a:r>
            <a:r>
              <a:rPr lang="es-MX" sz="3200" dirty="0"/>
              <a:t> = - ( q(t)/RC) - V</a:t>
            </a:r>
            <a:r>
              <a:rPr lang="es-MX" sz="3200" baseline="-25000" dirty="0"/>
              <a:t>F</a:t>
            </a:r>
            <a:r>
              <a:rPr lang="es-MX" sz="3200" dirty="0"/>
              <a:t> /R )   (2)</a:t>
            </a:r>
            <a:endParaRPr lang="es-CL" sz="32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6588023" y="4589174"/>
            <a:ext cx="3573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u =  q(t)/(RC) - V</a:t>
            </a:r>
            <a:r>
              <a:rPr lang="es-MX" sz="3200" baseline="-25000" dirty="0"/>
              <a:t>F</a:t>
            </a:r>
            <a:r>
              <a:rPr lang="es-MX" sz="3200" dirty="0"/>
              <a:t>/R </a:t>
            </a:r>
            <a:endParaRPr lang="es-CL" sz="3200" dirty="0"/>
          </a:p>
        </p:txBody>
      </p:sp>
      <p:sp>
        <p:nvSpPr>
          <p:cNvPr id="21" name="CuadroTexto 20"/>
          <p:cNvSpPr txBox="1"/>
          <p:nvPr/>
        </p:nvSpPr>
        <p:spPr>
          <a:xfrm>
            <a:off x="6588023" y="5173949"/>
            <a:ext cx="56611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du(RC) = </a:t>
            </a:r>
            <a:r>
              <a:rPr lang="es-MX" sz="3200" dirty="0" err="1"/>
              <a:t>dq</a:t>
            </a:r>
            <a:r>
              <a:rPr lang="es-MX" sz="3200" dirty="0"/>
              <a:t>    ingresamos en (2)</a:t>
            </a:r>
            <a:endParaRPr lang="es-CL" sz="3200" dirty="0"/>
          </a:p>
        </p:txBody>
      </p:sp>
      <p:sp>
        <p:nvSpPr>
          <p:cNvPr id="22" name="CuadroTexto 21"/>
          <p:cNvSpPr txBox="1"/>
          <p:nvPr/>
        </p:nvSpPr>
        <p:spPr>
          <a:xfrm>
            <a:off x="571671" y="5127676"/>
            <a:ext cx="26448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RC(du/</a:t>
            </a:r>
            <a:r>
              <a:rPr lang="es-MX" sz="3200" dirty="0" err="1"/>
              <a:t>dt</a:t>
            </a:r>
            <a:r>
              <a:rPr lang="es-MX" sz="3200" dirty="0"/>
              <a:t>)= - u </a:t>
            </a:r>
            <a:endParaRPr lang="es-CL" sz="32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571671" y="5806467"/>
            <a:ext cx="323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(du/u) = - </a:t>
            </a:r>
            <a:r>
              <a:rPr lang="es-MX" sz="3200" dirty="0" err="1"/>
              <a:t>dt</a:t>
            </a:r>
            <a:r>
              <a:rPr lang="es-MX" sz="3200" dirty="0"/>
              <a:t>/(RC) </a:t>
            </a:r>
            <a:endParaRPr lang="es-CL" sz="3200" dirty="0"/>
          </a:p>
        </p:txBody>
      </p:sp>
      <p:sp>
        <p:nvSpPr>
          <p:cNvPr id="24" name="CuadroTexto 23"/>
          <p:cNvSpPr txBox="1"/>
          <p:nvPr/>
        </p:nvSpPr>
        <p:spPr>
          <a:xfrm>
            <a:off x="8725314" y="2097952"/>
            <a:ext cx="689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/>
              <a:t>(A)</a:t>
            </a:r>
            <a:endParaRPr lang="es-CL" sz="3200" b="1" dirty="0"/>
          </a:p>
        </p:txBody>
      </p:sp>
      <p:sp>
        <p:nvSpPr>
          <p:cNvPr id="32" name="CuadroTexto 31"/>
          <p:cNvSpPr txBox="1"/>
          <p:nvPr/>
        </p:nvSpPr>
        <p:spPr>
          <a:xfrm>
            <a:off x="11785042" y="2820178"/>
            <a:ext cx="3385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b="1" dirty="0"/>
              <a:t>+</a:t>
            </a:r>
          </a:p>
          <a:p>
            <a:r>
              <a:rPr lang="es-MX" sz="2400" b="1" dirty="0"/>
              <a:t>-</a:t>
            </a:r>
            <a:endParaRPr lang="es-CL" sz="2400" b="1" dirty="0"/>
          </a:p>
        </p:txBody>
      </p:sp>
      <p:cxnSp>
        <p:nvCxnSpPr>
          <p:cNvPr id="25" name="Conector recto de flecha 24"/>
          <p:cNvCxnSpPr/>
          <p:nvPr/>
        </p:nvCxnSpPr>
        <p:spPr>
          <a:xfrm flipH="1" flipV="1">
            <a:off x="3995803" y="4735379"/>
            <a:ext cx="2592220" cy="5174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upo 25"/>
          <p:cNvGrpSpPr/>
          <p:nvPr/>
        </p:nvGrpSpPr>
        <p:grpSpPr>
          <a:xfrm>
            <a:off x="10941355" y="2847583"/>
            <a:ext cx="1061057" cy="920647"/>
            <a:chOff x="2628537" y="1875198"/>
            <a:chExt cx="1061057" cy="920647"/>
          </a:xfrm>
        </p:grpSpPr>
        <p:grpSp>
          <p:nvGrpSpPr>
            <p:cNvPr id="27" name="Grupo 26"/>
            <p:cNvGrpSpPr/>
            <p:nvPr/>
          </p:nvGrpSpPr>
          <p:grpSpPr>
            <a:xfrm>
              <a:off x="2628537" y="2067948"/>
              <a:ext cx="1061057" cy="575535"/>
              <a:chOff x="2628537" y="2067948"/>
              <a:chExt cx="1061057" cy="575535"/>
            </a:xfrm>
          </p:grpSpPr>
          <p:sp>
            <p:nvSpPr>
              <p:cNvPr id="30" name="CuadroTexto 29"/>
              <p:cNvSpPr txBox="1"/>
              <p:nvPr/>
            </p:nvSpPr>
            <p:spPr>
              <a:xfrm>
                <a:off x="2628537" y="2067948"/>
                <a:ext cx="375424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s-MX" sz="2800" dirty="0"/>
                  <a:t>C</a:t>
                </a:r>
                <a:endParaRPr lang="es-CL" sz="2800" dirty="0"/>
              </a:p>
            </p:txBody>
          </p:sp>
          <p:grpSp>
            <p:nvGrpSpPr>
              <p:cNvPr id="31" name="Grupo 30"/>
              <p:cNvGrpSpPr/>
              <p:nvPr/>
            </p:nvGrpSpPr>
            <p:grpSpPr>
              <a:xfrm>
                <a:off x="2893253" y="2067948"/>
                <a:ext cx="796341" cy="575535"/>
                <a:chOff x="4247071" y="1543102"/>
                <a:chExt cx="796341" cy="575535"/>
              </a:xfrm>
            </p:grpSpPr>
            <p:sp>
              <p:nvSpPr>
                <p:cNvPr id="33" name="Rectángulo 32"/>
                <p:cNvSpPr/>
                <p:nvPr/>
              </p:nvSpPr>
              <p:spPr>
                <a:xfrm>
                  <a:off x="4369283" y="1543102"/>
                  <a:ext cx="551918" cy="57553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34" name="Igual que 33"/>
                <p:cNvSpPr/>
                <p:nvPr/>
              </p:nvSpPr>
              <p:spPr>
                <a:xfrm>
                  <a:off x="4247071" y="1706911"/>
                  <a:ext cx="796341" cy="226603"/>
                </a:xfrm>
                <a:prstGeom prst="mathEqual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</p:grpSp>
        <p:cxnSp>
          <p:nvCxnSpPr>
            <p:cNvPr id="28" name="Conector recto 27"/>
            <p:cNvCxnSpPr/>
            <p:nvPr/>
          </p:nvCxnSpPr>
          <p:spPr>
            <a:xfrm>
              <a:off x="3260274" y="1875198"/>
              <a:ext cx="0" cy="40935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ector recto 28"/>
            <p:cNvCxnSpPr/>
            <p:nvPr/>
          </p:nvCxnSpPr>
          <p:spPr>
            <a:xfrm>
              <a:off x="3260274" y="2386491"/>
              <a:ext cx="0" cy="40935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5" name="CuadroTexto 34"/>
          <p:cNvSpPr txBox="1"/>
          <p:nvPr/>
        </p:nvSpPr>
        <p:spPr>
          <a:xfrm>
            <a:off x="6921965" y="140714"/>
            <a:ext cx="17283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i= +</a:t>
            </a:r>
            <a:r>
              <a:rPr lang="es-MX" sz="3200" dirty="0" err="1"/>
              <a:t>dq</a:t>
            </a:r>
            <a:r>
              <a:rPr lang="es-MX" sz="3200" dirty="0"/>
              <a:t>/</a:t>
            </a:r>
            <a:r>
              <a:rPr lang="es-MX" sz="3200" dirty="0" err="1"/>
              <a:t>dt</a:t>
            </a:r>
            <a:endParaRPr lang="es-CL" sz="3200" dirty="0"/>
          </a:p>
        </p:txBody>
      </p:sp>
      <p:sp>
        <p:nvSpPr>
          <p:cNvPr id="3" name="Rectángulo 2"/>
          <p:cNvSpPr/>
          <p:nvPr/>
        </p:nvSpPr>
        <p:spPr>
          <a:xfrm>
            <a:off x="10308733" y="269387"/>
            <a:ext cx="766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C=q/V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59998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734266" y="836806"/>
            <a:ext cx="37044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(du/u) =      - </a:t>
            </a:r>
            <a:r>
              <a:rPr lang="es-MX" sz="3200" dirty="0" err="1"/>
              <a:t>dt</a:t>
            </a:r>
            <a:r>
              <a:rPr lang="es-MX" sz="3200" dirty="0"/>
              <a:t>/(RC) </a:t>
            </a:r>
            <a:endParaRPr lang="es-CL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/>
              <p:cNvSpPr txBox="1"/>
              <p:nvPr/>
            </p:nvSpPr>
            <p:spPr>
              <a:xfrm>
                <a:off x="3712372" y="647426"/>
                <a:ext cx="824072" cy="9635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CL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/>
                      </m:nary>
                    </m:oMath>
                  </m:oMathPara>
                </a14:m>
                <a:endParaRPr lang="es-CL" sz="2800" dirty="0"/>
              </a:p>
            </p:txBody>
          </p:sp>
        </mc:Choice>
        <mc:Fallback xmlns=""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372" y="647426"/>
                <a:ext cx="824072" cy="96353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768906" y="653254"/>
                <a:ext cx="1529714" cy="10431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CL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=0)</m:t>
                          </m:r>
                        </m:sub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/>
                      </m:nary>
                    </m:oMath>
                  </m:oMathPara>
                </a14:m>
                <a:endParaRPr lang="es-CL" sz="2800" dirty="0"/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06" y="653254"/>
                <a:ext cx="1529714" cy="104317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884868" y="2129245"/>
                <a:ext cx="2897716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MX" sz="2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s-MX" sz="2800" b="0" i="1" smtClean="0">
                                      <a:latin typeface="Cambria Math" panose="02040503050406030204" pitchFamily="18" charset="0"/>
                                    </a:rPr>
                                    <m:t>(0)</m:t>
                                  </m:r>
                                </m:den>
                              </m:f>
                            </m:e>
                          </m:d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=− </m:t>
                          </m:r>
                          <m:f>
                            <m:fPr>
                              <m:ctrlP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s-CL" sz="2800" dirty="0"/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68" y="2129245"/>
                <a:ext cx="2897716" cy="9681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/>
              <p:cNvSpPr txBox="1"/>
              <p:nvPr/>
            </p:nvSpPr>
            <p:spPr>
              <a:xfrm>
                <a:off x="4603427" y="2103119"/>
                <a:ext cx="3051476" cy="718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s-MX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MX" sz="3200" b="0" i="1" smtClean="0">
                          <a:latin typeface="Cambria Math" panose="02040503050406030204" pitchFamily="18" charset="0"/>
                        </a:rPr>
                        <m:t>(0)</m:t>
                      </m:r>
                      <m:sSup>
                        <m:sSupPr>
                          <m:ctrlPr>
                            <a:rPr lang="es-CL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MX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MX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s-MX" sz="3200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s-CL" sz="3200" dirty="0"/>
              </a:p>
            </p:txBody>
          </p:sp>
        </mc:Choice>
        <mc:Fallback xmlns="">
          <p:sp>
            <p:nvSpPr>
              <p:cNvPr id="10" name="Cuadro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427" y="2103119"/>
                <a:ext cx="3051476" cy="7182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uadroTexto 12"/>
          <p:cNvSpPr txBox="1"/>
          <p:nvPr/>
        </p:nvSpPr>
        <p:spPr>
          <a:xfrm>
            <a:off x="8121505" y="3198095"/>
            <a:ext cx="4194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u (0) =  q(0)/(RC) - V</a:t>
            </a:r>
            <a:r>
              <a:rPr lang="es-MX" sz="3200" baseline="-25000" dirty="0"/>
              <a:t>F</a:t>
            </a:r>
            <a:r>
              <a:rPr lang="es-MX" sz="3200" dirty="0"/>
              <a:t>/R </a:t>
            </a:r>
            <a:endParaRPr lang="es-CL" sz="32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8121505" y="3800205"/>
            <a:ext cx="2384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u (0) = - V</a:t>
            </a:r>
            <a:r>
              <a:rPr lang="es-MX" sz="3200" baseline="-25000" dirty="0"/>
              <a:t>F</a:t>
            </a:r>
            <a:r>
              <a:rPr lang="es-MX" sz="3200" dirty="0"/>
              <a:t>/R </a:t>
            </a:r>
            <a:endParaRPr lang="es-CL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/>
              <p:cNvSpPr txBox="1"/>
              <p:nvPr/>
            </p:nvSpPr>
            <p:spPr>
              <a:xfrm>
                <a:off x="1101241" y="3525787"/>
                <a:ext cx="5417445" cy="784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q(t)/(RC) – V</a:t>
                </a:r>
                <a:r>
                  <a:rPr lang="es-MX" sz="3200" baseline="-25000" dirty="0"/>
                  <a:t>F</a:t>
                </a:r>
                <a:r>
                  <a:rPr lang="es-MX" sz="3200" dirty="0"/>
                  <a:t>/R = – (V</a:t>
                </a:r>
                <a:r>
                  <a:rPr lang="es-MX" sz="3200" baseline="-25000" dirty="0"/>
                  <a:t>F</a:t>
                </a:r>
                <a:r>
                  <a:rPr lang="es-MX" sz="3200" dirty="0"/>
                  <a:t>/R)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</m:sup>
                    </m:sSup>
                  </m:oMath>
                </a14:m>
                <a:r>
                  <a:rPr lang="es-MX" sz="3200" dirty="0"/>
                  <a:t> </a:t>
                </a:r>
                <a:endParaRPr lang="es-CL" sz="3200" dirty="0"/>
              </a:p>
            </p:txBody>
          </p:sp>
        </mc:Choice>
        <mc:Fallback xmlns="">
          <p:sp>
            <p:nvSpPr>
              <p:cNvPr id="15" name="CuadroTex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241" y="3525787"/>
                <a:ext cx="5417445" cy="784830"/>
              </a:xfrm>
              <a:prstGeom prst="rect">
                <a:avLst/>
              </a:prstGeom>
              <a:blipFill rotWithShape="0">
                <a:blip r:embed="rId6"/>
                <a:stretch>
                  <a:fillRect l="-2928" b="-2403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/>
              <p:cNvSpPr txBox="1"/>
              <p:nvPr/>
            </p:nvSpPr>
            <p:spPr>
              <a:xfrm>
                <a:off x="1101241" y="4468897"/>
                <a:ext cx="3734356" cy="775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q(t) = CV</a:t>
                </a:r>
                <a:r>
                  <a:rPr lang="es-MX" sz="3200" baseline="-25000" dirty="0"/>
                  <a:t>F</a:t>
                </a:r>
                <a:r>
                  <a:rPr lang="es-MX" sz="3200" dirty="0"/>
                  <a:t> (1 –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</m:sup>
                    </m:sSup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3200" dirty="0"/>
                  <a:t> </a:t>
                </a:r>
                <a:endParaRPr lang="es-CL" sz="3200" dirty="0"/>
              </a:p>
            </p:txBody>
          </p:sp>
        </mc:Choice>
        <mc:Fallback xmlns="">
          <p:sp>
            <p:nvSpPr>
              <p:cNvPr id="16" name="CuadroTex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241" y="4468897"/>
                <a:ext cx="3734356" cy="775982"/>
              </a:xfrm>
              <a:prstGeom prst="rect">
                <a:avLst/>
              </a:prstGeom>
              <a:blipFill rotWithShape="0">
                <a:blip r:embed="rId7"/>
                <a:stretch>
                  <a:fillRect l="-4248" b="-25984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/>
              <p:cNvSpPr txBox="1"/>
              <p:nvPr/>
            </p:nvSpPr>
            <p:spPr>
              <a:xfrm>
                <a:off x="1101240" y="5250586"/>
                <a:ext cx="3476273" cy="775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q(t) = </a:t>
                </a:r>
                <a:r>
                  <a:rPr lang="es-MX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s-MX" sz="3200" dirty="0"/>
                  <a:t> (1 –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</m:sup>
                    </m:sSup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3200" dirty="0"/>
                  <a:t> </a:t>
                </a:r>
                <a:endParaRPr lang="es-CL" sz="3200" dirty="0"/>
              </a:p>
            </p:txBody>
          </p:sp>
        </mc:Choice>
        <mc:Fallback xmlns="">
          <p:sp>
            <p:nvSpPr>
              <p:cNvPr id="17" name="CuadroTex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240" y="5250586"/>
                <a:ext cx="3476273" cy="775982"/>
              </a:xfrm>
              <a:prstGeom prst="rect">
                <a:avLst/>
              </a:prstGeom>
              <a:blipFill rotWithShape="0">
                <a:blip r:embed="rId8"/>
                <a:stretch>
                  <a:fillRect l="-4561" b="-2500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Elipse 17"/>
          <p:cNvSpPr/>
          <p:nvPr/>
        </p:nvSpPr>
        <p:spPr>
          <a:xfrm flipH="1">
            <a:off x="6622441" y="4975269"/>
            <a:ext cx="360264" cy="76137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0" name="Conector recto de flecha 19"/>
          <p:cNvCxnSpPr/>
          <p:nvPr/>
        </p:nvCxnSpPr>
        <p:spPr>
          <a:xfrm flipV="1">
            <a:off x="4487723" y="5544628"/>
            <a:ext cx="927462" cy="2072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/>
          <p:cNvSpPr txBox="1"/>
          <p:nvPr/>
        </p:nvSpPr>
        <p:spPr>
          <a:xfrm>
            <a:off x="4996675" y="5094347"/>
            <a:ext cx="1507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800" b="1" dirty="0"/>
              <a:t>τ</a:t>
            </a:r>
            <a:r>
              <a:rPr lang="es-MX" sz="2800" b="1" dirty="0"/>
              <a:t> = RC (s)</a:t>
            </a:r>
            <a:endParaRPr lang="es-CL" sz="2800" b="1" dirty="0"/>
          </a:p>
        </p:txBody>
      </p:sp>
      <p:cxnSp>
        <p:nvCxnSpPr>
          <p:cNvPr id="3" name="Conector recto de flecha 2"/>
          <p:cNvCxnSpPr/>
          <p:nvPr/>
        </p:nvCxnSpPr>
        <p:spPr>
          <a:xfrm flipH="1">
            <a:off x="3292702" y="3140163"/>
            <a:ext cx="5062815" cy="650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8121505" y="2584354"/>
            <a:ext cx="3573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u =  q(t)/(RC) - V</a:t>
            </a:r>
            <a:r>
              <a:rPr lang="es-MX" sz="3200" baseline="-25000" dirty="0"/>
              <a:t>F</a:t>
            </a:r>
            <a:r>
              <a:rPr lang="es-MX" sz="3200" dirty="0"/>
              <a:t>/R </a:t>
            </a:r>
            <a:endParaRPr lang="es-CL" sz="3200" dirty="0"/>
          </a:p>
        </p:txBody>
      </p:sp>
      <p:cxnSp>
        <p:nvCxnSpPr>
          <p:cNvPr id="5" name="Conector recto de flecha 4"/>
          <p:cNvCxnSpPr/>
          <p:nvPr/>
        </p:nvCxnSpPr>
        <p:spPr>
          <a:xfrm flipV="1">
            <a:off x="10622071" y="313151"/>
            <a:ext cx="413359" cy="3342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/>
          <p:nvPr/>
        </p:nvCxnSpPr>
        <p:spPr>
          <a:xfrm flipV="1">
            <a:off x="10774471" y="465551"/>
            <a:ext cx="413359" cy="3342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/>
          <p:nvPr/>
        </p:nvCxnSpPr>
        <p:spPr>
          <a:xfrm flipV="1">
            <a:off x="10926871" y="617951"/>
            <a:ext cx="413359" cy="3342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/>
              <p:cNvSpPr txBox="1"/>
              <p:nvPr/>
            </p:nvSpPr>
            <p:spPr>
              <a:xfrm>
                <a:off x="7456555" y="4885167"/>
                <a:ext cx="4505401" cy="775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i=</a:t>
                </a:r>
                <a:r>
                  <a:rPr lang="es-MX" sz="3200" dirty="0" err="1"/>
                  <a:t>dq</a:t>
                </a:r>
                <a:r>
                  <a:rPr lang="es-MX" sz="3200" dirty="0"/>
                  <a:t>/</a:t>
                </a:r>
                <a:r>
                  <a:rPr lang="es-MX" sz="3200" dirty="0" err="1"/>
                  <a:t>dt</a:t>
                </a:r>
                <a:r>
                  <a:rPr lang="es-MX" sz="3200" dirty="0"/>
                  <a:t>=(</a:t>
                </a:r>
                <a:r>
                  <a:rPr lang="es-MX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Q/RC)</a:t>
                </a:r>
                <a:r>
                  <a:rPr lang="es-MX" sz="3200" dirty="0"/>
                  <a:t> (+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</m:sup>
                    </m:sSup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3200" dirty="0"/>
                  <a:t> </a:t>
                </a:r>
                <a:endParaRPr lang="es-CL" sz="3200" dirty="0"/>
              </a:p>
            </p:txBody>
          </p:sp>
        </mc:Choice>
        <mc:Fallback xmlns="">
          <p:sp>
            <p:nvSpPr>
              <p:cNvPr id="24" name="CuadroTexto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555" y="4885167"/>
                <a:ext cx="4505401" cy="775982"/>
              </a:xfrm>
              <a:prstGeom prst="rect">
                <a:avLst/>
              </a:prstGeom>
              <a:blipFill rotWithShape="0">
                <a:blip r:embed="rId9"/>
                <a:stretch>
                  <a:fillRect l="-3383" b="-2500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/>
              <p:cNvSpPr txBox="1"/>
              <p:nvPr/>
            </p:nvSpPr>
            <p:spPr>
              <a:xfrm>
                <a:off x="7283583" y="5751909"/>
                <a:ext cx="3466655" cy="775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i(t)=(</a:t>
                </a:r>
                <a:r>
                  <a:rPr lang="es-MX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Vf</a:t>
                </a:r>
                <a:r>
                  <a:rPr lang="es-MX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/R)</a:t>
                </a:r>
                <a:r>
                  <a:rPr lang="es-MX" sz="3200" dirty="0"/>
                  <a:t> (+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</m:sup>
                    </m:sSup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3200" dirty="0"/>
                  <a:t> </a:t>
                </a:r>
                <a:endParaRPr lang="es-CL" sz="3200" dirty="0"/>
              </a:p>
            </p:txBody>
          </p:sp>
        </mc:Choice>
        <mc:Fallback xmlns="">
          <p:sp>
            <p:nvSpPr>
              <p:cNvPr id="25" name="CuadroTexto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583" y="5751909"/>
                <a:ext cx="3466655" cy="775982"/>
              </a:xfrm>
              <a:prstGeom prst="rect">
                <a:avLst/>
              </a:prstGeom>
              <a:blipFill rotWithShape="0">
                <a:blip r:embed="rId10"/>
                <a:stretch>
                  <a:fillRect l="-4577" b="-25984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/>
          <p:cNvSpPr txBox="1"/>
          <p:nvPr/>
        </p:nvSpPr>
        <p:spPr>
          <a:xfrm>
            <a:off x="6504395" y="465551"/>
            <a:ext cx="815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C=Q/V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25750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/>
              <p:cNvSpPr txBox="1"/>
              <p:nvPr/>
            </p:nvSpPr>
            <p:spPr>
              <a:xfrm>
                <a:off x="448580" y="375695"/>
                <a:ext cx="3269485" cy="775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q(t) = </a:t>
                </a:r>
                <a:r>
                  <a:rPr lang="es-MX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s-MX" sz="3200" dirty="0"/>
                  <a:t> (1 –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sz="3200" i="1" smtClean="0">
                                <a:latin typeface="Cambria Math" panose="02040503050406030204" pitchFamily="18" charset="0"/>
                              </a:rPr>
                              <m:t>τ</m:t>
                            </m:r>
                          </m:den>
                        </m:f>
                      </m:sup>
                    </m:sSup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3200" dirty="0"/>
                  <a:t> </a:t>
                </a:r>
                <a:endParaRPr lang="es-CL" sz="3200" dirty="0"/>
              </a:p>
            </p:txBody>
          </p:sp>
        </mc:Choice>
        <mc:Fallback xmlns=""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80" y="375695"/>
                <a:ext cx="3269485" cy="775405"/>
              </a:xfrm>
              <a:prstGeom prst="rect">
                <a:avLst/>
              </a:prstGeom>
              <a:blipFill rotWithShape="0">
                <a:blip r:embed="rId2"/>
                <a:stretch>
                  <a:fillRect l="-4851" b="-25984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upo 20"/>
          <p:cNvGrpSpPr/>
          <p:nvPr/>
        </p:nvGrpSpPr>
        <p:grpSpPr>
          <a:xfrm>
            <a:off x="3606874" y="246382"/>
            <a:ext cx="5774958" cy="2646314"/>
            <a:chOff x="3606874" y="246382"/>
            <a:chExt cx="5774958" cy="2646314"/>
          </a:xfrm>
        </p:grpSpPr>
        <p:cxnSp>
          <p:nvCxnSpPr>
            <p:cNvPr id="8" name="Conector recto de flecha 7"/>
            <p:cNvCxnSpPr/>
            <p:nvPr/>
          </p:nvCxnSpPr>
          <p:spPr>
            <a:xfrm flipV="1">
              <a:off x="4480560" y="443456"/>
              <a:ext cx="1" cy="22083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/>
            <p:cNvCxnSpPr/>
            <p:nvPr/>
          </p:nvCxnSpPr>
          <p:spPr>
            <a:xfrm flipV="1">
              <a:off x="3606874" y="2312126"/>
              <a:ext cx="5654692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flipV="1">
              <a:off x="3606874" y="1218859"/>
              <a:ext cx="5354246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uadroTexto 21"/>
            <p:cNvSpPr txBox="1"/>
            <p:nvPr/>
          </p:nvSpPr>
          <p:spPr>
            <a:xfrm>
              <a:off x="3874383" y="307937"/>
              <a:ext cx="7120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/>
                <a:t>q(t)</a:t>
              </a:r>
              <a:endParaRPr lang="es-CL" sz="2800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3924018" y="676098"/>
              <a:ext cx="11881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Q=CV</a:t>
              </a:r>
              <a:endParaRPr lang="es-CL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" name="Conector recto 2"/>
            <p:cNvCxnSpPr/>
            <p:nvPr/>
          </p:nvCxnSpPr>
          <p:spPr>
            <a:xfrm flipV="1">
              <a:off x="4084915" y="538769"/>
              <a:ext cx="1698716" cy="222068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CuadroTexto 5"/>
            <p:cNvSpPr txBox="1"/>
            <p:nvPr/>
          </p:nvSpPr>
          <p:spPr>
            <a:xfrm>
              <a:off x="5849557" y="246382"/>
              <a:ext cx="10615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Q*t/</a:t>
              </a:r>
              <a:r>
                <a:rPr lang="el-GR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endParaRPr lang="es-CL" sz="3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Forma libre 6"/>
            <p:cNvSpPr/>
            <p:nvPr/>
          </p:nvSpPr>
          <p:spPr>
            <a:xfrm>
              <a:off x="4467499" y="1254036"/>
              <a:ext cx="4480558" cy="1045028"/>
            </a:xfrm>
            <a:custGeom>
              <a:avLst/>
              <a:gdLst>
                <a:gd name="connsiteX0" fmla="*/ 0 w 4310743"/>
                <a:gd name="connsiteY0" fmla="*/ 1075712 h 1075712"/>
                <a:gd name="connsiteX1" fmla="*/ 574765 w 4310743"/>
                <a:gd name="connsiteY1" fmla="*/ 396443 h 1075712"/>
                <a:gd name="connsiteX2" fmla="*/ 1763485 w 4310743"/>
                <a:gd name="connsiteY2" fmla="*/ 43746 h 1075712"/>
                <a:gd name="connsiteX3" fmla="*/ 4310743 w 4310743"/>
                <a:gd name="connsiteY3" fmla="*/ 17621 h 1075712"/>
                <a:gd name="connsiteX0" fmla="*/ 0 w 4376057"/>
                <a:gd name="connsiteY0" fmla="*/ 1075712 h 1075712"/>
                <a:gd name="connsiteX1" fmla="*/ 640079 w 4376057"/>
                <a:gd name="connsiteY1" fmla="*/ 396443 h 1075712"/>
                <a:gd name="connsiteX2" fmla="*/ 1828799 w 4376057"/>
                <a:gd name="connsiteY2" fmla="*/ 43746 h 1075712"/>
                <a:gd name="connsiteX3" fmla="*/ 4376057 w 4376057"/>
                <a:gd name="connsiteY3" fmla="*/ 17621 h 1075712"/>
                <a:gd name="connsiteX0" fmla="*/ 0 w 4389119"/>
                <a:gd name="connsiteY0" fmla="*/ 1088775 h 1088775"/>
                <a:gd name="connsiteX1" fmla="*/ 653141 w 4389119"/>
                <a:gd name="connsiteY1" fmla="*/ 396443 h 1088775"/>
                <a:gd name="connsiteX2" fmla="*/ 1841861 w 4389119"/>
                <a:gd name="connsiteY2" fmla="*/ 43746 h 1088775"/>
                <a:gd name="connsiteX3" fmla="*/ 4389119 w 4389119"/>
                <a:gd name="connsiteY3" fmla="*/ 17621 h 1088775"/>
                <a:gd name="connsiteX0" fmla="*/ 0 w 4428308"/>
                <a:gd name="connsiteY0" fmla="*/ 1088775 h 1088775"/>
                <a:gd name="connsiteX1" fmla="*/ 692330 w 4428308"/>
                <a:gd name="connsiteY1" fmla="*/ 396443 h 1088775"/>
                <a:gd name="connsiteX2" fmla="*/ 1881050 w 4428308"/>
                <a:gd name="connsiteY2" fmla="*/ 43746 h 1088775"/>
                <a:gd name="connsiteX3" fmla="*/ 4428308 w 4428308"/>
                <a:gd name="connsiteY3" fmla="*/ 17621 h 1088775"/>
                <a:gd name="connsiteX0" fmla="*/ 0 w 4428308"/>
                <a:gd name="connsiteY0" fmla="*/ 1077666 h 1077666"/>
                <a:gd name="connsiteX1" fmla="*/ 692330 w 4428308"/>
                <a:gd name="connsiteY1" fmla="*/ 385334 h 1077666"/>
                <a:gd name="connsiteX2" fmla="*/ 1985553 w 4428308"/>
                <a:gd name="connsiteY2" fmla="*/ 71826 h 1077666"/>
                <a:gd name="connsiteX3" fmla="*/ 4428308 w 4428308"/>
                <a:gd name="connsiteY3" fmla="*/ 6512 h 1077666"/>
                <a:gd name="connsiteX0" fmla="*/ 0 w 4454433"/>
                <a:gd name="connsiteY0" fmla="*/ 1066494 h 1066494"/>
                <a:gd name="connsiteX1" fmla="*/ 692330 w 4454433"/>
                <a:gd name="connsiteY1" fmla="*/ 374162 h 1066494"/>
                <a:gd name="connsiteX2" fmla="*/ 1985553 w 4454433"/>
                <a:gd name="connsiteY2" fmla="*/ 60654 h 1066494"/>
                <a:gd name="connsiteX3" fmla="*/ 4454433 w 4454433"/>
                <a:gd name="connsiteY3" fmla="*/ 8403 h 1066494"/>
                <a:gd name="connsiteX0" fmla="*/ 0 w 4454433"/>
                <a:gd name="connsiteY0" fmla="*/ 1058091 h 1058091"/>
                <a:gd name="connsiteX1" fmla="*/ 692330 w 4454433"/>
                <a:gd name="connsiteY1" fmla="*/ 365759 h 1058091"/>
                <a:gd name="connsiteX2" fmla="*/ 1985553 w 4454433"/>
                <a:gd name="connsiteY2" fmla="*/ 52251 h 1058091"/>
                <a:gd name="connsiteX3" fmla="*/ 4454433 w 4454433"/>
                <a:gd name="connsiteY3" fmla="*/ 0 h 1058091"/>
                <a:gd name="connsiteX0" fmla="*/ 0 w 4480558"/>
                <a:gd name="connsiteY0" fmla="*/ 1045028 h 1045028"/>
                <a:gd name="connsiteX1" fmla="*/ 718455 w 4480558"/>
                <a:gd name="connsiteY1" fmla="*/ 365759 h 1045028"/>
                <a:gd name="connsiteX2" fmla="*/ 2011678 w 4480558"/>
                <a:gd name="connsiteY2" fmla="*/ 52251 h 1045028"/>
                <a:gd name="connsiteX3" fmla="*/ 4480558 w 4480558"/>
                <a:gd name="connsiteY3" fmla="*/ 0 h 1045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80558" h="1045028">
                  <a:moveTo>
                    <a:pt x="0" y="1045028"/>
                  </a:moveTo>
                  <a:cubicBezTo>
                    <a:pt x="140425" y="791390"/>
                    <a:pt x="383175" y="531222"/>
                    <a:pt x="718455" y="365759"/>
                  </a:cubicBezTo>
                  <a:cubicBezTo>
                    <a:pt x="1053735" y="200296"/>
                    <a:pt x="1384661" y="113211"/>
                    <a:pt x="2011678" y="52251"/>
                  </a:cubicBezTo>
                  <a:cubicBezTo>
                    <a:pt x="2638695" y="-8709"/>
                    <a:pt x="3557449" y="46808"/>
                    <a:pt x="4480558" y="0"/>
                  </a:cubicBezTo>
                </a:path>
              </a:pathLst>
            </a:cu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cxnSp>
          <p:nvCxnSpPr>
            <p:cNvPr id="11" name="Conector recto 10"/>
            <p:cNvCxnSpPr/>
            <p:nvPr/>
          </p:nvCxnSpPr>
          <p:spPr>
            <a:xfrm flipH="1">
              <a:off x="5225143" y="443456"/>
              <a:ext cx="13063" cy="23159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uadroTexto 11"/>
            <p:cNvSpPr txBox="1"/>
            <p:nvPr/>
          </p:nvSpPr>
          <p:spPr>
            <a:xfrm>
              <a:off x="9076940" y="2299064"/>
              <a:ext cx="3048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i="1" dirty="0"/>
                <a:t>t</a:t>
              </a:r>
              <a:endParaRPr lang="es-CL" sz="2800" i="1" dirty="0"/>
            </a:p>
          </p:txBody>
        </p:sp>
        <p:sp>
          <p:nvSpPr>
            <p:cNvPr id="13" name="Rectángulo 12"/>
            <p:cNvSpPr/>
            <p:nvPr/>
          </p:nvSpPr>
          <p:spPr>
            <a:xfrm>
              <a:off x="5231674" y="2369476"/>
              <a:ext cx="34336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endParaRPr lang="es-CL" sz="28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CuadroTexto 14"/>
          <p:cNvSpPr txBox="1"/>
          <p:nvPr/>
        </p:nvSpPr>
        <p:spPr>
          <a:xfrm>
            <a:off x="520239" y="2984084"/>
            <a:ext cx="8367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ym typeface="Wingdings" panose="05000000000000000000" pitchFamily="2" charset="2"/>
              </a:rPr>
              <a:t>t  0          Desarrollamos la ecuación en serie de Taylor:</a:t>
            </a:r>
            <a:endParaRPr lang="es-CL" sz="2800" dirty="0"/>
          </a:p>
        </p:txBody>
      </p:sp>
      <p:sp>
        <p:nvSpPr>
          <p:cNvPr id="18" name="CuadroTexto 17"/>
          <p:cNvSpPr txBox="1"/>
          <p:nvPr/>
        </p:nvSpPr>
        <p:spPr>
          <a:xfrm>
            <a:off x="520239" y="3745026"/>
            <a:ext cx="49840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ym typeface="Wingdings" panose="05000000000000000000" pitchFamily="2" charset="2"/>
              </a:rPr>
              <a:t>q(t  0) = </a:t>
            </a:r>
            <a:r>
              <a:rPr lang="es-MX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</a:t>
            </a:r>
            <a:r>
              <a:rPr lang="es-MX" sz="2800" dirty="0">
                <a:sym typeface="Wingdings" panose="05000000000000000000" pitchFamily="2" charset="2"/>
              </a:rPr>
              <a:t> (1 – (1 + (-</a:t>
            </a:r>
            <a:r>
              <a:rPr lang="es-MX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t/</a:t>
            </a:r>
            <a:r>
              <a:rPr lang="el-G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s-MX" sz="2800" dirty="0">
                <a:sym typeface="Wingdings" panose="05000000000000000000" pitchFamily="2" charset="2"/>
              </a:rPr>
              <a:t>)+…+))</a:t>
            </a:r>
            <a:endParaRPr lang="es-CL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/>
              <p:cNvSpPr txBox="1"/>
              <p:nvPr/>
            </p:nvSpPr>
            <p:spPr>
              <a:xfrm>
                <a:off x="520238" y="4405659"/>
                <a:ext cx="26488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2800" dirty="0">
                    <a:sym typeface="Wingdings" panose="05000000000000000000" pitchFamily="2" charset="2"/>
                  </a:rPr>
                  <a:t>q(t  0) </a:t>
                </a:r>
                <a14:m>
                  <m:oMath xmlns:m="http://schemas.openxmlformats.org/officeDocument/2006/math">
                    <m:r>
                      <a:rPr lang="es-CL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MX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s-MX" sz="2800" dirty="0">
                    <a:sym typeface="Wingdings" panose="05000000000000000000" pitchFamily="2" charset="2"/>
                  </a:rPr>
                  <a:t> </a:t>
                </a:r>
                <a:r>
                  <a:rPr lang="es-MX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t/</a:t>
                </a:r>
                <a:r>
                  <a:rPr lang="el-GR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</a:t>
                </a:r>
                <a:endParaRPr lang="es-CL" sz="2800" dirty="0"/>
              </a:p>
            </p:txBody>
          </p:sp>
        </mc:Choice>
        <mc:Fallback xmlns="">
          <p:sp>
            <p:nvSpPr>
              <p:cNvPr id="19" name="CuadroTexto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38" y="4405659"/>
                <a:ext cx="2648847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4598" t="-15116" b="-32558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/>
          <p:cNvSpPr txBox="1"/>
          <p:nvPr/>
        </p:nvSpPr>
        <p:spPr>
          <a:xfrm>
            <a:off x="515420" y="5047900"/>
            <a:ext cx="895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La pendiente inicial es : </a:t>
            </a:r>
            <a:r>
              <a:rPr lang="es-MX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</a:t>
            </a:r>
            <a:r>
              <a:rPr lang="es-MX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l-G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s-MX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(CV</a:t>
            </a:r>
            <a:r>
              <a:rPr lang="es-MX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s-MX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)*(1/RC)= V</a:t>
            </a:r>
            <a:r>
              <a:rPr lang="es-MX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s-MX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</a:t>
            </a:r>
            <a:endParaRPr lang="es-CL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/>
              <p:cNvSpPr txBox="1"/>
              <p:nvPr/>
            </p:nvSpPr>
            <p:spPr>
              <a:xfrm>
                <a:off x="1123077" y="5566686"/>
                <a:ext cx="3519105" cy="958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CL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L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s-MX" sz="2800" b="0" i="1" baseline="-2500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𝑐𝑜𝑢𝑙𝑜𝑚𝑏</m:t>
                      </m:r>
                    </m:oMath>
                  </m:oMathPara>
                </a14:m>
                <a:endParaRPr lang="es-CL" sz="2800" dirty="0"/>
              </a:p>
            </p:txBody>
          </p:sp>
        </mc:Choice>
        <mc:Fallback xmlns="">
          <p:sp>
            <p:nvSpPr>
              <p:cNvPr id="20" name="CuadroTexto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077" y="5566686"/>
                <a:ext cx="3519105" cy="95885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uadroTexto 23"/>
          <p:cNvSpPr txBox="1"/>
          <p:nvPr/>
        </p:nvSpPr>
        <p:spPr>
          <a:xfrm>
            <a:off x="3450601" y="-54321"/>
            <a:ext cx="689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/>
              <a:t>(A)</a:t>
            </a:r>
            <a:endParaRPr lang="es-CL" sz="3200" b="1" dirty="0"/>
          </a:p>
        </p:txBody>
      </p:sp>
      <p:sp>
        <p:nvSpPr>
          <p:cNvPr id="2" name="Elipse 1"/>
          <p:cNvSpPr/>
          <p:nvPr/>
        </p:nvSpPr>
        <p:spPr>
          <a:xfrm>
            <a:off x="4679718" y="1898950"/>
            <a:ext cx="68046" cy="597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CuadroTexto 24"/>
          <p:cNvSpPr txBox="1"/>
          <p:nvPr/>
        </p:nvSpPr>
        <p:spPr>
          <a:xfrm>
            <a:off x="4084915" y="4294669"/>
            <a:ext cx="37016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/>
              <a:t>Representar la corriente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4043580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81367" y="123300"/>
            <a:ext cx="5637756" cy="1325563"/>
          </a:xfrm>
        </p:spPr>
        <p:txBody>
          <a:bodyPr/>
          <a:lstStyle/>
          <a:p>
            <a:r>
              <a:rPr lang="es-MX" dirty="0"/>
              <a:t>Etapa de descarga:</a:t>
            </a:r>
            <a:endParaRPr lang="es-CL" dirty="0"/>
          </a:p>
        </p:txBody>
      </p:sp>
      <p:grpSp>
        <p:nvGrpSpPr>
          <p:cNvPr id="8" name="Grupo 7"/>
          <p:cNvGrpSpPr/>
          <p:nvPr/>
        </p:nvGrpSpPr>
        <p:grpSpPr>
          <a:xfrm>
            <a:off x="769076" y="1339400"/>
            <a:ext cx="2931442" cy="2146647"/>
            <a:chOff x="342111" y="4034696"/>
            <a:chExt cx="2931442" cy="2146647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111" y="4034696"/>
              <a:ext cx="2931442" cy="2146647"/>
            </a:xfrm>
            <a:prstGeom prst="rect">
              <a:avLst/>
            </a:prstGeom>
          </p:spPr>
        </p:pic>
        <p:sp>
          <p:nvSpPr>
            <p:cNvPr id="10" name="Rectángulo 9"/>
            <p:cNvSpPr/>
            <p:nvPr/>
          </p:nvSpPr>
          <p:spPr>
            <a:xfrm>
              <a:off x="1243584" y="4206240"/>
              <a:ext cx="451104" cy="18409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1" name="Conector recto 10"/>
            <p:cNvCxnSpPr/>
            <p:nvPr/>
          </p:nvCxnSpPr>
          <p:spPr>
            <a:xfrm flipV="1">
              <a:off x="1188284" y="4544853"/>
              <a:ext cx="606485" cy="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CuadroTexto 30"/>
          <p:cNvSpPr txBox="1"/>
          <p:nvPr/>
        </p:nvSpPr>
        <p:spPr>
          <a:xfrm>
            <a:off x="6428206" y="4271640"/>
            <a:ext cx="26368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q(t=0)= </a:t>
            </a:r>
            <a:r>
              <a:rPr lang="es-MX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s-MX" sz="3200" dirty="0"/>
              <a:t> = VC</a:t>
            </a:r>
            <a:endParaRPr lang="es-CL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/>
              <p:cNvSpPr txBox="1"/>
              <p:nvPr/>
            </p:nvSpPr>
            <p:spPr>
              <a:xfrm>
                <a:off x="6529597" y="4867363"/>
                <a:ext cx="21371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q(t</a:t>
                </a:r>
                <a:r>
                  <a:rPr lang="es-MX" sz="3200" dirty="0">
                    <a:sym typeface="Wingdings" panose="05000000000000000000" pitchFamily="2" charset="2"/>
                  </a:rPr>
                  <a:t></a:t>
                </a:r>
                <a:r>
                  <a:rPr lang="es-MX" sz="320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s-MX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∞</m:t>
                    </m:r>
                  </m:oMath>
                </a14:m>
                <a:r>
                  <a:rPr lang="es-MX" sz="3200" dirty="0"/>
                  <a:t>)= </a:t>
                </a:r>
                <a:r>
                  <a:rPr lang="es-MX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s-CL" sz="3200" dirty="0"/>
              </a:p>
            </p:txBody>
          </p:sp>
        </mc:Choice>
        <mc:Fallback xmlns="">
          <p:sp>
            <p:nvSpPr>
              <p:cNvPr id="32" name="CuadroTexto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597" y="4867363"/>
                <a:ext cx="2137124" cy="584775"/>
              </a:xfrm>
              <a:prstGeom prst="rect">
                <a:avLst/>
              </a:prstGeom>
              <a:blipFill rotWithShape="0">
                <a:blip r:embed="rId3"/>
                <a:stretch>
                  <a:fillRect l="-7123" t="-15625" r="-6553" b="-3437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uadroTexto 32"/>
          <p:cNvSpPr txBox="1"/>
          <p:nvPr/>
        </p:nvSpPr>
        <p:spPr>
          <a:xfrm>
            <a:off x="976059" y="5227752"/>
            <a:ext cx="3540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 q(t)/RC + </a:t>
            </a:r>
            <a:r>
              <a:rPr lang="es-MX" sz="3200" dirty="0" err="1"/>
              <a:t>dq</a:t>
            </a:r>
            <a:r>
              <a:rPr lang="es-MX" sz="3200" dirty="0"/>
              <a:t>/</a:t>
            </a:r>
            <a:r>
              <a:rPr lang="es-MX" sz="3200" dirty="0" err="1"/>
              <a:t>dt</a:t>
            </a:r>
            <a:r>
              <a:rPr lang="es-MX" sz="3200" dirty="0"/>
              <a:t> = 0</a:t>
            </a:r>
            <a:endParaRPr lang="es-CL" sz="3200" dirty="0"/>
          </a:p>
        </p:txBody>
      </p:sp>
      <p:sp>
        <p:nvSpPr>
          <p:cNvPr id="34" name="CuadroTexto 33"/>
          <p:cNvSpPr txBox="1"/>
          <p:nvPr/>
        </p:nvSpPr>
        <p:spPr>
          <a:xfrm>
            <a:off x="976059" y="5916881"/>
            <a:ext cx="2989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 err="1"/>
              <a:t>dq</a:t>
            </a:r>
            <a:r>
              <a:rPr lang="es-MX" sz="3200" dirty="0"/>
              <a:t>/</a:t>
            </a:r>
            <a:r>
              <a:rPr lang="es-MX" sz="3200" dirty="0" err="1"/>
              <a:t>dt</a:t>
            </a:r>
            <a:r>
              <a:rPr lang="es-MX" sz="3200" dirty="0"/>
              <a:t> = -  q/(RC)</a:t>
            </a:r>
            <a:endParaRPr lang="es-CL" sz="3200" dirty="0"/>
          </a:p>
        </p:txBody>
      </p:sp>
      <p:sp>
        <p:nvSpPr>
          <p:cNvPr id="36" name="CuadroTexto 35"/>
          <p:cNvSpPr txBox="1"/>
          <p:nvPr/>
        </p:nvSpPr>
        <p:spPr>
          <a:xfrm>
            <a:off x="4829432" y="5839215"/>
            <a:ext cx="32684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 err="1"/>
              <a:t>dq</a:t>
            </a:r>
            <a:r>
              <a:rPr lang="es-MX" sz="3200" dirty="0"/>
              <a:t>/q   = -   </a:t>
            </a:r>
            <a:r>
              <a:rPr lang="es-MX" sz="3200" dirty="0" err="1"/>
              <a:t>dt</a:t>
            </a:r>
            <a:r>
              <a:rPr lang="es-MX" sz="3200" dirty="0"/>
              <a:t> (/RC)</a:t>
            </a:r>
            <a:endParaRPr lang="es-CL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/>
              <p:cNvSpPr txBox="1"/>
              <p:nvPr/>
            </p:nvSpPr>
            <p:spPr>
              <a:xfrm>
                <a:off x="6346629" y="5640625"/>
                <a:ext cx="824072" cy="9635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CL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/>
                      </m:nary>
                    </m:oMath>
                  </m:oMathPara>
                </a14:m>
                <a:endParaRPr lang="es-CL" sz="2800" dirty="0"/>
              </a:p>
            </p:txBody>
          </p:sp>
        </mc:Choice>
        <mc:Fallback xmlns="">
          <p:sp>
            <p:nvSpPr>
              <p:cNvPr id="37" name="CuadroTexto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629" y="5640625"/>
                <a:ext cx="824072" cy="96353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/>
              <p:cNvSpPr txBox="1"/>
              <p:nvPr/>
            </p:nvSpPr>
            <p:spPr>
              <a:xfrm>
                <a:off x="4393282" y="5635114"/>
                <a:ext cx="1797992" cy="10348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CL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23"/>
                                </m:rP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  <m:r>
                            <m:rPr>
                              <m:brk m:alnAt="23"/>
                            </m:rP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/>
                      </m:nary>
                    </m:oMath>
                  </m:oMathPara>
                </a14:m>
                <a:endParaRPr lang="es-CL" sz="2800" dirty="0"/>
              </a:p>
            </p:txBody>
          </p:sp>
        </mc:Choice>
        <mc:Fallback xmlns="">
          <p:sp>
            <p:nvSpPr>
              <p:cNvPr id="38" name="CuadroTexto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282" y="5635114"/>
                <a:ext cx="1797992" cy="103489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CuadroTexto 39"/>
          <p:cNvSpPr txBox="1"/>
          <p:nvPr/>
        </p:nvSpPr>
        <p:spPr>
          <a:xfrm>
            <a:off x="477690" y="1277457"/>
            <a:ext cx="689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/>
              <a:t>(A)</a:t>
            </a:r>
            <a:endParaRPr lang="es-CL" sz="3200" b="1" dirty="0"/>
          </a:p>
        </p:txBody>
      </p:sp>
      <p:grpSp>
        <p:nvGrpSpPr>
          <p:cNvPr id="35" name="Grupo 34"/>
          <p:cNvGrpSpPr/>
          <p:nvPr/>
        </p:nvGrpSpPr>
        <p:grpSpPr>
          <a:xfrm>
            <a:off x="2889987" y="2129217"/>
            <a:ext cx="1061057" cy="920647"/>
            <a:chOff x="2628537" y="1875198"/>
            <a:chExt cx="1061057" cy="920647"/>
          </a:xfrm>
        </p:grpSpPr>
        <p:grpSp>
          <p:nvGrpSpPr>
            <p:cNvPr id="41" name="Grupo 40"/>
            <p:cNvGrpSpPr/>
            <p:nvPr/>
          </p:nvGrpSpPr>
          <p:grpSpPr>
            <a:xfrm>
              <a:off x="2628537" y="2067948"/>
              <a:ext cx="1061057" cy="575535"/>
              <a:chOff x="2628537" y="2067948"/>
              <a:chExt cx="1061057" cy="575535"/>
            </a:xfrm>
          </p:grpSpPr>
          <p:sp>
            <p:nvSpPr>
              <p:cNvPr id="44" name="CuadroTexto 43"/>
              <p:cNvSpPr txBox="1"/>
              <p:nvPr/>
            </p:nvSpPr>
            <p:spPr>
              <a:xfrm>
                <a:off x="2628537" y="2067948"/>
                <a:ext cx="375424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s-MX" sz="2800" dirty="0"/>
                  <a:t>C</a:t>
                </a:r>
                <a:endParaRPr lang="es-CL" sz="2800" dirty="0"/>
              </a:p>
            </p:txBody>
          </p:sp>
          <p:grpSp>
            <p:nvGrpSpPr>
              <p:cNvPr id="45" name="Grupo 44"/>
              <p:cNvGrpSpPr/>
              <p:nvPr/>
            </p:nvGrpSpPr>
            <p:grpSpPr>
              <a:xfrm>
                <a:off x="2893253" y="2067948"/>
                <a:ext cx="796341" cy="575535"/>
                <a:chOff x="4247071" y="1543102"/>
                <a:chExt cx="796341" cy="575535"/>
              </a:xfrm>
            </p:grpSpPr>
            <p:sp>
              <p:nvSpPr>
                <p:cNvPr id="46" name="Rectángulo 45"/>
                <p:cNvSpPr/>
                <p:nvPr/>
              </p:nvSpPr>
              <p:spPr>
                <a:xfrm>
                  <a:off x="4369283" y="1543102"/>
                  <a:ext cx="551918" cy="57553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47" name="Igual que 46"/>
                <p:cNvSpPr/>
                <p:nvPr/>
              </p:nvSpPr>
              <p:spPr>
                <a:xfrm>
                  <a:off x="4247071" y="1706911"/>
                  <a:ext cx="796341" cy="226603"/>
                </a:xfrm>
                <a:prstGeom prst="mathEqual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</p:grpSp>
        <p:cxnSp>
          <p:nvCxnSpPr>
            <p:cNvPr id="42" name="Conector recto 41"/>
            <p:cNvCxnSpPr/>
            <p:nvPr/>
          </p:nvCxnSpPr>
          <p:spPr>
            <a:xfrm>
              <a:off x="3260274" y="1875198"/>
              <a:ext cx="0" cy="40935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ector recto 42"/>
            <p:cNvCxnSpPr/>
            <p:nvPr/>
          </p:nvCxnSpPr>
          <p:spPr>
            <a:xfrm>
              <a:off x="3260274" y="2386491"/>
              <a:ext cx="0" cy="40935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Grupo 55"/>
          <p:cNvGrpSpPr/>
          <p:nvPr/>
        </p:nvGrpSpPr>
        <p:grpSpPr>
          <a:xfrm>
            <a:off x="6612118" y="984772"/>
            <a:ext cx="3884693" cy="2698244"/>
            <a:chOff x="9232741" y="86504"/>
            <a:chExt cx="2683789" cy="1896306"/>
          </a:xfrm>
        </p:grpSpPr>
        <p:grpSp>
          <p:nvGrpSpPr>
            <p:cNvPr id="57" name="Grupo 56"/>
            <p:cNvGrpSpPr/>
            <p:nvPr/>
          </p:nvGrpSpPr>
          <p:grpSpPr>
            <a:xfrm>
              <a:off x="9232741" y="86504"/>
              <a:ext cx="2393940" cy="1896306"/>
              <a:chOff x="9232741" y="86504"/>
              <a:chExt cx="2393940" cy="1896306"/>
            </a:xfrm>
          </p:grpSpPr>
          <p:grpSp>
            <p:nvGrpSpPr>
              <p:cNvPr id="67" name="Grupo 66"/>
              <p:cNvGrpSpPr/>
              <p:nvPr/>
            </p:nvGrpSpPr>
            <p:grpSpPr>
              <a:xfrm>
                <a:off x="9232741" y="260323"/>
                <a:ext cx="2393940" cy="1722487"/>
                <a:chOff x="342111" y="4034696"/>
                <a:chExt cx="2931442" cy="2146647"/>
              </a:xfrm>
            </p:grpSpPr>
            <p:pic>
              <p:nvPicPr>
                <p:cNvPr id="72" name="Imagen 71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42111" y="4034696"/>
                  <a:ext cx="2931442" cy="2146647"/>
                </a:xfrm>
                <a:prstGeom prst="rect">
                  <a:avLst/>
                </a:prstGeom>
              </p:spPr>
            </p:pic>
            <p:sp>
              <p:nvSpPr>
                <p:cNvPr id="73" name="Rectángulo 72"/>
                <p:cNvSpPr/>
                <p:nvPr/>
              </p:nvSpPr>
              <p:spPr>
                <a:xfrm>
                  <a:off x="1243584" y="4206240"/>
                  <a:ext cx="451104" cy="18409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cxnSp>
              <p:nvCxnSpPr>
                <p:cNvPr id="74" name="Conector recto 73"/>
                <p:cNvCxnSpPr/>
                <p:nvPr/>
              </p:nvCxnSpPr>
              <p:spPr>
                <a:xfrm flipV="1">
                  <a:off x="1188284" y="4544853"/>
                  <a:ext cx="606485" cy="1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Rectángulo 67"/>
              <p:cNvSpPr/>
              <p:nvPr/>
            </p:nvSpPr>
            <p:spPr>
              <a:xfrm>
                <a:off x="9248126" y="518054"/>
                <a:ext cx="626236" cy="14647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cxnSp>
            <p:nvCxnSpPr>
              <p:cNvPr id="69" name="Conector recto 68"/>
              <p:cNvCxnSpPr/>
              <p:nvPr/>
            </p:nvCxnSpPr>
            <p:spPr>
              <a:xfrm flipH="1">
                <a:off x="9871877" y="636092"/>
                <a:ext cx="9209" cy="1276507"/>
              </a:xfrm>
              <a:prstGeom prst="line">
                <a:avLst/>
              </a:prstGeom>
              <a:ln w="762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Arco 69"/>
              <p:cNvSpPr/>
              <p:nvPr/>
            </p:nvSpPr>
            <p:spPr>
              <a:xfrm>
                <a:off x="11155224" y="516729"/>
                <a:ext cx="461557" cy="507221"/>
              </a:xfrm>
              <a:prstGeom prst="arc">
                <a:avLst>
                  <a:gd name="adj1" fmla="val 15334748"/>
                  <a:gd name="adj2" fmla="val 0"/>
                </a:avLst>
              </a:prstGeom>
              <a:ln w="38100">
                <a:headEnd type="triangle"/>
                <a:tailEnd type="non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71" name="CuadroTexto 70"/>
              <p:cNvSpPr txBox="1"/>
              <p:nvPr/>
            </p:nvSpPr>
            <p:spPr>
              <a:xfrm>
                <a:off x="9283171" y="86504"/>
                <a:ext cx="474867" cy="4054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b="1" dirty="0"/>
                  <a:t>(B)</a:t>
                </a:r>
                <a:endParaRPr lang="es-CL" sz="3200" b="1" dirty="0"/>
              </a:p>
            </p:txBody>
          </p:sp>
        </p:grpSp>
        <p:grpSp>
          <p:nvGrpSpPr>
            <p:cNvPr id="58" name="Grupo 57"/>
            <p:cNvGrpSpPr/>
            <p:nvPr/>
          </p:nvGrpSpPr>
          <p:grpSpPr>
            <a:xfrm>
              <a:off x="10855473" y="892985"/>
              <a:ext cx="1061057" cy="920647"/>
              <a:chOff x="2628537" y="1875198"/>
              <a:chExt cx="1061057" cy="920647"/>
            </a:xfrm>
          </p:grpSpPr>
          <p:grpSp>
            <p:nvGrpSpPr>
              <p:cNvPr id="60" name="Grupo 59"/>
              <p:cNvGrpSpPr/>
              <p:nvPr/>
            </p:nvGrpSpPr>
            <p:grpSpPr>
              <a:xfrm>
                <a:off x="2628537" y="2067948"/>
                <a:ext cx="1061057" cy="575535"/>
                <a:chOff x="2628537" y="2067948"/>
                <a:chExt cx="1061057" cy="575535"/>
              </a:xfrm>
            </p:grpSpPr>
            <p:sp>
              <p:nvSpPr>
                <p:cNvPr id="63" name="CuadroTexto 62"/>
                <p:cNvSpPr txBox="1"/>
                <p:nvPr/>
              </p:nvSpPr>
              <p:spPr>
                <a:xfrm>
                  <a:off x="2628537" y="2067948"/>
                  <a:ext cx="375424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s-MX" sz="2800" dirty="0"/>
                    <a:t>C</a:t>
                  </a:r>
                  <a:endParaRPr lang="es-CL" sz="2800" dirty="0"/>
                </a:p>
              </p:txBody>
            </p:sp>
            <p:grpSp>
              <p:nvGrpSpPr>
                <p:cNvPr id="64" name="Grupo 63"/>
                <p:cNvGrpSpPr/>
                <p:nvPr/>
              </p:nvGrpSpPr>
              <p:grpSpPr>
                <a:xfrm>
                  <a:off x="2893253" y="2067948"/>
                  <a:ext cx="796341" cy="575535"/>
                  <a:chOff x="4247071" y="1543102"/>
                  <a:chExt cx="796341" cy="575535"/>
                </a:xfrm>
              </p:grpSpPr>
              <p:sp>
                <p:nvSpPr>
                  <p:cNvPr id="65" name="Rectángulo 64"/>
                  <p:cNvSpPr/>
                  <p:nvPr/>
                </p:nvSpPr>
                <p:spPr>
                  <a:xfrm>
                    <a:off x="4369283" y="1543102"/>
                    <a:ext cx="551918" cy="57553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L"/>
                  </a:p>
                </p:txBody>
              </p:sp>
              <p:sp>
                <p:nvSpPr>
                  <p:cNvPr id="66" name="Igual que 65"/>
                  <p:cNvSpPr/>
                  <p:nvPr/>
                </p:nvSpPr>
                <p:spPr>
                  <a:xfrm>
                    <a:off x="4247071" y="1706911"/>
                    <a:ext cx="796341" cy="226603"/>
                  </a:xfrm>
                  <a:prstGeom prst="mathEqual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L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61" name="Conector recto 60"/>
              <p:cNvCxnSpPr/>
              <p:nvPr/>
            </p:nvCxnSpPr>
            <p:spPr>
              <a:xfrm>
                <a:off x="3260274" y="1875198"/>
                <a:ext cx="0" cy="40935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Conector recto 61"/>
              <p:cNvCxnSpPr/>
              <p:nvPr/>
            </p:nvCxnSpPr>
            <p:spPr>
              <a:xfrm>
                <a:off x="3260274" y="2386491"/>
                <a:ext cx="0" cy="40935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9" name="Rectángulo 58"/>
            <p:cNvSpPr/>
            <p:nvPr/>
          </p:nvSpPr>
          <p:spPr>
            <a:xfrm>
              <a:off x="11386002" y="166554"/>
              <a:ext cx="439751" cy="3627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sz="2800" b="1" dirty="0"/>
                <a:t>i(t)</a:t>
              </a:r>
              <a:endParaRPr lang="es-CL" sz="2800" b="1" dirty="0"/>
            </a:p>
          </p:txBody>
        </p:sp>
      </p:grpSp>
      <p:sp>
        <p:nvSpPr>
          <p:cNvPr id="75" name="CuadroTexto 74"/>
          <p:cNvSpPr txBox="1"/>
          <p:nvPr/>
        </p:nvSpPr>
        <p:spPr>
          <a:xfrm>
            <a:off x="491038" y="3612321"/>
            <a:ext cx="3780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V</a:t>
            </a:r>
            <a:r>
              <a:rPr lang="es-MX" sz="3200" baseline="-25000" dirty="0"/>
              <a:t>F</a:t>
            </a:r>
            <a:r>
              <a:rPr lang="es-MX" sz="3200" dirty="0"/>
              <a:t> – R </a:t>
            </a:r>
            <a:r>
              <a:rPr lang="es-MX" sz="3200" dirty="0" err="1"/>
              <a:t>dq</a:t>
            </a:r>
            <a:r>
              <a:rPr lang="es-MX" sz="3200" dirty="0"/>
              <a:t>/</a:t>
            </a:r>
            <a:r>
              <a:rPr lang="es-MX" sz="3200" dirty="0" err="1"/>
              <a:t>dt</a:t>
            </a:r>
            <a:r>
              <a:rPr lang="es-MX" sz="3200" dirty="0"/>
              <a:t> – q/C = 0</a:t>
            </a:r>
            <a:endParaRPr lang="es-CL" sz="3200" dirty="0"/>
          </a:p>
        </p:txBody>
      </p:sp>
      <p:sp>
        <p:nvSpPr>
          <p:cNvPr id="76" name="CuadroTexto 75"/>
          <p:cNvSpPr txBox="1"/>
          <p:nvPr/>
        </p:nvSpPr>
        <p:spPr>
          <a:xfrm>
            <a:off x="6191274" y="3663518"/>
            <a:ext cx="3329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+ R </a:t>
            </a:r>
            <a:r>
              <a:rPr lang="es-MX" sz="3200" dirty="0" err="1"/>
              <a:t>dq</a:t>
            </a:r>
            <a:r>
              <a:rPr lang="es-MX" sz="3200" dirty="0"/>
              <a:t>/</a:t>
            </a:r>
            <a:r>
              <a:rPr lang="es-MX" sz="3200" dirty="0" err="1"/>
              <a:t>dt</a:t>
            </a:r>
            <a:r>
              <a:rPr lang="es-MX" sz="3200" dirty="0"/>
              <a:t> + q/C = 0</a:t>
            </a:r>
            <a:endParaRPr lang="es-CL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9232673" y="6122392"/>
            <a:ext cx="25154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/>
              <a:t>Ojo! </a:t>
            </a:r>
            <a:r>
              <a:rPr lang="es-MX" sz="3200" b="1" dirty="0" err="1"/>
              <a:t>dq</a:t>
            </a:r>
            <a:r>
              <a:rPr lang="es-MX" sz="3200" b="1" dirty="0"/>
              <a:t>/</a:t>
            </a:r>
            <a:r>
              <a:rPr lang="es-MX" sz="3200" b="1" dirty="0" err="1"/>
              <a:t>dt</a:t>
            </a:r>
            <a:r>
              <a:rPr lang="es-MX" sz="3200" b="1" dirty="0"/>
              <a:t>= -i</a:t>
            </a:r>
            <a:endParaRPr lang="es-CL" sz="3200" b="1" dirty="0"/>
          </a:p>
        </p:txBody>
      </p:sp>
      <p:sp>
        <p:nvSpPr>
          <p:cNvPr id="12" name="Flecha derecha 11"/>
          <p:cNvSpPr/>
          <p:nvPr/>
        </p:nvSpPr>
        <p:spPr>
          <a:xfrm>
            <a:off x="4880301" y="2345657"/>
            <a:ext cx="1489166" cy="4758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2375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1167038" y="1538290"/>
                <a:ext cx="5759782" cy="8272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q(t) = </a:t>
                </a:r>
                <a:r>
                  <a:rPr lang="es-MX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s-MX" sz="3200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sz="3200" i="1" smtClean="0">
                                <a:latin typeface="Cambria Math" panose="02040503050406030204" pitchFamily="18" charset="0"/>
                              </a:rPr>
                              <m:t>τ</m:t>
                            </m:r>
                          </m:den>
                        </m:f>
                      </m:sup>
                    </m:sSup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32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sz="3200" i="1">
                                <a:latin typeface="Cambria Math" panose="02040503050406030204" pitchFamily="18" charset="0"/>
                              </a:rPr>
                              <m:t>τ</m:t>
                            </m:r>
                          </m:den>
                        </m:f>
                      </m:sup>
                    </m:sSup>
                  </m:oMath>
                </a14:m>
                <a:r>
                  <a:rPr lang="es-MX" sz="3200" dirty="0"/>
                  <a:t> =</a:t>
                </a:r>
                <a14:m>
                  <m:oMath xmlns:m="http://schemas.openxmlformats.org/officeDocument/2006/math">
                    <m:r>
                      <a:rPr lang="es-MX" sz="3200" i="1">
                        <a:latin typeface="Cambria Math" panose="02040503050406030204" pitchFamily="18" charset="0"/>
                      </a:rPr>
                      <m:t>𝑉𝐶</m:t>
                    </m:r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sup>
                    </m:sSup>
                  </m:oMath>
                </a14:m>
                <a:endParaRPr lang="es-CL" sz="3200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038" y="1538290"/>
                <a:ext cx="5759782" cy="827214"/>
              </a:xfrm>
              <a:prstGeom prst="rect">
                <a:avLst/>
              </a:prstGeom>
              <a:blipFill rotWithShape="0">
                <a:blip r:embed="rId2"/>
                <a:stretch>
                  <a:fillRect l="-2646" b="-2352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/>
          <p:cNvSpPr txBox="1"/>
          <p:nvPr/>
        </p:nvSpPr>
        <p:spPr>
          <a:xfrm>
            <a:off x="1167038" y="640197"/>
            <a:ext cx="49387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 err="1"/>
              <a:t>ln</a:t>
            </a:r>
            <a:r>
              <a:rPr lang="es-MX" sz="3200" dirty="0"/>
              <a:t> (q(t)/q(0))  = - (t – 0)/(RC)</a:t>
            </a:r>
            <a:endParaRPr lang="es-CL" sz="3200" dirty="0"/>
          </a:p>
        </p:txBody>
      </p:sp>
      <p:sp>
        <p:nvSpPr>
          <p:cNvPr id="7" name="CuadroTexto 6"/>
          <p:cNvSpPr txBox="1"/>
          <p:nvPr/>
        </p:nvSpPr>
        <p:spPr>
          <a:xfrm>
            <a:off x="7106284" y="640197"/>
            <a:ext cx="23691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q(0) = V</a:t>
            </a:r>
            <a:r>
              <a:rPr lang="es-MX" sz="3200" baseline="-25000" dirty="0"/>
              <a:t>F</a:t>
            </a:r>
            <a:r>
              <a:rPr lang="es-MX" sz="3200" dirty="0"/>
              <a:t>C=Q</a:t>
            </a:r>
            <a:endParaRPr lang="es-CL" sz="3200" dirty="0"/>
          </a:p>
        </p:txBody>
      </p:sp>
      <p:cxnSp>
        <p:nvCxnSpPr>
          <p:cNvPr id="9" name="Conector recto de flecha 8"/>
          <p:cNvCxnSpPr/>
          <p:nvPr/>
        </p:nvCxnSpPr>
        <p:spPr>
          <a:xfrm flipV="1">
            <a:off x="978916" y="2677801"/>
            <a:ext cx="1" cy="22083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/>
          <p:cNvCxnSpPr/>
          <p:nvPr/>
        </p:nvCxnSpPr>
        <p:spPr>
          <a:xfrm flipV="1">
            <a:off x="105230" y="4496126"/>
            <a:ext cx="11566112" cy="503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 flipV="1">
            <a:off x="105230" y="3346673"/>
            <a:ext cx="11413666" cy="1403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/>
          <p:cNvSpPr txBox="1"/>
          <p:nvPr/>
        </p:nvSpPr>
        <p:spPr>
          <a:xfrm>
            <a:off x="372739" y="2542282"/>
            <a:ext cx="712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/>
              <a:t>q(t)</a:t>
            </a:r>
            <a:endParaRPr lang="es-CL" sz="2800" dirty="0"/>
          </a:p>
        </p:txBody>
      </p:sp>
      <p:sp>
        <p:nvSpPr>
          <p:cNvPr id="13" name="CuadroTexto 12"/>
          <p:cNvSpPr txBox="1"/>
          <p:nvPr/>
        </p:nvSpPr>
        <p:spPr>
          <a:xfrm>
            <a:off x="0" y="3079552"/>
            <a:ext cx="1043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Q=VC</a:t>
            </a:r>
            <a:endParaRPr lang="es-CL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cto 13"/>
          <p:cNvCxnSpPr/>
          <p:nvPr/>
        </p:nvCxnSpPr>
        <p:spPr>
          <a:xfrm flipV="1">
            <a:off x="583271" y="2773114"/>
            <a:ext cx="1698716" cy="22206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/>
          <p:cNvSpPr txBox="1"/>
          <p:nvPr/>
        </p:nvSpPr>
        <p:spPr>
          <a:xfrm>
            <a:off x="2347913" y="2480727"/>
            <a:ext cx="10615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Q*t/</a:t>
            </a:r>
            <a:r>
              <a:rPr lang="el-G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s-CL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rma libre 15"/>
          <p:cNvSpPr/>
          <p:nvPr/>
        </p:nvSpPr>
        <p:spPr>
          <a:xfrm>
            <a:off x="965854" y="3423164"/>
            <a:ext cx="4493622" cy="1110245"/>
          </a:xfrm>
          <a:custGeom>
            <a:avLst/>
            <a:gdLst>
              <a:gd name="connsiteX0" fmla="*/ 0 w 4310743"/>
              <a:gd name="connsiteY0" fmla="*/ 1075712 h 1075712"/>
              <a:gd name="connsiteX1" fmla="*/ 574765 w 4310743"/>
              <a:gd name="connsiteY1" fmla="*/ 396443 h 1075712"/>
              <a:gd name="connsiteX2" fmla="*/ 1763485 w 4310743"/>
              <a:gd name="connsiteY2" fmla="*/ 43746 h 1075712"/>
              <a:gd name="connsiteX3" fmla="*/ 4310743 w 4310743"/>
              <a:gd name="connsiteY3" fmla="*/ 17621 h 1075712"/>
              <a:gd name="connsiteX0" fmla="*/ 0 w 4376057"/>
              <a:gd name="connsiteY0" fmla="*/ 1075712 h 1075712"/>
              <a:gd name="connsiteX1" fmla="*/ 640079 w 4376057"/>
              <a:gd name="connsiteY1" fmla="*/ 396443 h 1075712"/>
              <a:gd name="connsiteX2" fmla="*/ 1828799 w 4376057"/>
              <a:gd name="connsiteY2" fmla="*/ 43746 h 1075712"/>
              <a:gd name="connsiteX3" fmla="*/ 4376057 w 4376057"/>
              <a:gd name="connsiteY3" fmla="*/ 17621 h 1075712"/>
              <a:gd name="connsiteX0" fmla="*/ 0 w 4389119"/>
              <a:gd name="connsiteY0" fmla="*/ 1088775 h 1088775"/>
              <a:gd name="connsiteX1" fmla="*/ 653141 w 4389119"/>
              <a:gd name="connsiteY1" fmla="*/ 396443 h 1088775"/>
              <a:gd name="connsiteX2" fmla="*/ 1841861 w 4389119"/>
              <a:gd name="connsiteY2" fmla="*/ 43746 h 1088775"/>
              <a:gd name="connsiteX3" fmla="*/ 4389119 w 4389119"/>
              <a:gd name="connsiteY3" fmla="*/ 17621 h 1088775"/>
              <a:gd name="connsiteX0" fmla="*/ 0 w 4428308"/>
              <a:gd name="connsiteY0" fmla="*/ 1088775 h 1088775"/>
              <a:gd name="connsiteX1" fmla="*/ 692330 w 4428308"/>
              <a:gd name="connsiteY1" fmla="*/ 396443 h 1088775"/>
              <a:gd name="connsiteX2" fmla="*/ 1881050 w 4428308"/>
              <a:gd name="connsiteY2" fmla="*/ 43746 h 1088775"/>
              <a:gd name="connsiteX3" fmla="*/ 4428308 w 4428308"/>
              <a:gd name="connsiteY3" fmla="*/ 17621 h 1088775"/>
              <a:gd name="connsiteX0" fmla="*/ 0 w 4428308"/>
              <a:gd name="connsiteY0" fmla="*/ 1077666 h 1077666"/>
              <a:gd name="connsiteX1" fmla="*/ 692330 w 4428308"/>
              <a:gd name="connsiteY1" fmla="*/ 385334 h 1077666"/>
              <a:gd name="connsiteX2" fmla="*/ 1985553 w 4428308"/>
              <a:gd name="connsiteY2" fmla="*/ 71826 h 1077666"/>
              <a:gd name="connsiteX3" fmla="*/ 4428308 w 4428308"/>
              <a:gd name="connsiteY3" fmla="*/ 6512 h 1077666"/>
              <a:gd name="connsiteX0" fmla="*/ 0 w 4454433"/>
              <a:gd name="connsiteY0" fmla="*/ 1066494 h 1066494"/>
              <a:gd name="connsiteX1" fmla="*/ 692330 w 4454433"/>
              <a:gd name="connsiteY1" fmla="*/ 374162 h 1066494"/>
              <a:gd name="connsiteX2" fmla="*/ 1985553 w 4454433"/>
              <a:gd name="connsiteY2" fmla="*/ 60654 h 1066494"/>
              <a:gd name="connsiteX3" fmla="*/ 4454433 w 4454433"/>
              <a:gd name="connsiteY3" fmla="*/ 8403 h 1066494"/>
              <a:gd name="connsiteX0" fmla="*/ 0 w 4454433"/>
              <a:gd name="connsiteY0" fmla="*/ 1058091 h 1058091"/>
              <a:gd name="connsiteX1" fmla="*/ 692330 w 4454433"/>
              <a:gd name="connsiteY1" fmla="*/ 365759 h 1058091"/>
              <a:gd name="connsiteX2" fmla="*/ 1985553 w 4454433"/>
              <a:gd name="connsiteY2" fmla="*/ 52251 h 1058091"/>
              <a:gd name="connsiteX3" fmla="*/ 4454433 w 4454433"/>
              <a:gd name="connsiteY3" fmla="*/ 0 h 1058091"/>
              <a:gd name="connsiteX0" fmla="*/ 0 w 4480558"/>
              <a:gd name="connsiteY0" fmla="*/ 1045028 h 1045028"/>
              <a:gd name="connsiteX1" fmla="*/ 718455 w 4480558"/>
              <a:gd name="connsiteY1" fmla="*/ 365759 h 1045028"/>
              <a:gd name="connsiteX2" fmla="*/ 2011678 w 4480558"/>
              <a:gd name="connsiteY2" fmla="*/ 52251 h 1045028"/>
              <a:gd name="connsiteX3" fmla="*/ 4480558 w 4480558"/>
              <a:gd name="connsiteY3" fmla="*/ 0 h 1045028"/>
              <a:gd name="connsiteX0" fmla="*/ 0 w 4480558"/>
              <a:gd name="connsiteY0" fmla="*/ 1045028 h 1045028"/>
              <a:gd name="connsiteX1" fmla="*/ 718455 w 4480558"/>
              <a:gd name="connsiteY1" fmla="*/ 365759 h 1045028"/>
              <a:gd name="connsiteX2" fmla="*/ 2272935 w 4480558"/>
              <a:gd name="connsiteY2" fmla="*/ 52251 h 1045028"/>
              <a:gd name="connsiteX3" fmla="*/ 4480558 w 4480558"/>
              <a:gd name="connsiteY3" fmla="*/ 0 h 1045028"/>
              <a:gd name="connsiteX0" fmla="*/ 0 w 4480558"/>
              <a:gd name="connsiteY0" fmla="*/ 1045028 h 1045028"/>
              <a:gd name="connsiteX1" fmla="*/ 718455 w 4480558"/>
              <a:gd name="connsiteY1" fmla="*/ 365759 h 1045028"/>
              <a:gd name="connsiteX2" fmla="*/ 2272935 w 4480558"/>
              <a:gd name="connsiteY2" fmla="*/ 26126 h 1045028"/>
              <a:gd name="connsiteX3" fmla="*/ 4480558 w 4480558"/>
              <a:gd name="connsiteY3" fmla="*/ 0 h 1045028"/>
              <a:gd name="connsiteX0" fmla="*/ 0 w 4284615"/>
              <a:gd name="connsiteY0" fmla="*/ 1084216 h 1084216"/>
              <a:gd name="connsiteX1" fmla="*/ 718455 w 4284615"/>
              <a:gd name="connsiteY1" fmla="*/ 404947 h 1084216"/>
              <a:gd name="connsiteX2" fmla="*/ 2272935 w 4284615"/>
              <a:gd name="connsiteY2" fmla="*/ 65314 h 1084216"/>
              <a:gd name="connsiteX3" fmla="*/ 4284615 w 4284615"/>
              <a:gd name="connsiteY3" fmla="*/ 0 h 108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615" h="1084216">
                <a:moveTo>
                  <a:pt x="0" y="1084216"/>
                </a:moveTo>
                <a:cubicBezTo>
                  <a:pt x="140425" y="830578"/>
                  <a:pt x="339633" y="574764"/>
                  <a:pt x="718455" y="404947"/>
                </a:cubicBezTo>
                <a:cubicBezTo>
                  <a:pt x="1097277" y="235130"/>
                  <a:pt x="1678575" y="132805"/>
                  <a:pt x="2272935" y="65314"/>
                </a:cubicBezTo>
                <a:cubicBezTo>
                  <a:pt x="2867295" y="-2177"/>
                  <a:pt x="3361506" y="46808"/>
                  <a:pt x="4284615" y="0"/>
                </a:cubicBezTo>
              </a:path>
            </a:pathLst>
          </a:cu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17" name="Conector recto 16"/>
          <p:cNvCxnSpPr/>
          <p:nvPr/>
        </p:nvCxnSpPr>
        <p:spPr>
          <a:xfrm flipH="1">
            <a:off x="1723499" y="2677801"/>
            <a:ext cx="13063" cy="2315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11366450" y="4603821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i="1" dirty="0"/>
              <a:t>t</a:t>
            </a:r>
            <a:endParaRPr lang="es-CL" sz="2800" i="1" dirty="0"/>
          </a:p>
        </p:txBody>
      </p:sp>
      <p:sp>
        <p:nvSpPr>
          <p:cNvPr id="19" name="Rectángulo 18"/>
          <p:cNvSpPr/>
          <p:nvPr/>
        </p:nvSpPr>
        <p:spPr>
          <a:xfrm>
            <a:off x="1730030" y="4603821"/>
            <a:ext cx="343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s-CL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Conector recto de flecha 21"/>
          <p:cNvCxnSpPr/>
          <p:nvPr/>
        </p:nvCxnSpPr>
        <p:spPr>
          <a:xfrm flipV="1">
            <a:off x="5459476" y="2803892"/>
            <a:ext cx="0" cy="2323150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orma libre 26"/>
          <p:cNvSpPr/>
          <p:nvPr/>
        </p:nvSpPr>
        <p:spPr>
          <a:xfrm>
            <a:off x="5486399" y="3429000"/>
            <a:ext cx="4702629" cy="1090627"/>
          </a:xfrm>
          <a:custGeom>
            <a:avLst/>
            <a:gdLst>
              <a:gd name="connsiteX0" fmla="*/ 0 w 4713514"/>
              <a:gd name="connsiteY0" fmla="*/ 0 h 1099457"/>
              <a:gd name="connsiteX1" fmla="*/ 228600 w 4713514"/>
              <a:gd name="connsiteY1" fmla="*/ 489857 h 1099457"/>
              <a:gd name="connsiteX2" fmla="*/ 566057 w 4713514"/>
              <a:gd name="connsiteY2" fmla="*/ 772886 h 1099457"/>
              <a:gd name="connsiteX3" fmla="*/ 1034143 w 4713514"/>
              <a:gd name="connsiteY3" fmla="*/ 957943 h 1099457"/>
              <a:gd name="connsiteX4" fmla="*/ 1948543 w 4713514"/>
              <a:gd name="connsiteY4" fmla="*/ 1077686 h 1099457"/>
              <a:gd name="connsiteX5" fmla="*/ 2960914 w 4713514"/>
              <a:gd name="connsiteY5" fmla="*/ 1055914 h 1099457"/>
              <a:gd name="connsiteX6" fmla="*/ 3712029 w 4713514"/>
              <a:gd name="connsiteY6" fmla="*/ 1099457 h 1099457"/>
              <a:gd name="connsiteX7" fmla="*/ 4713514 w 4713514"/>
              <a:gd name="connsiteY7" fmla="*/ 1055914 h 1099457"/>
              <a:gd name="connsiteX0" fmla="*/ 0 w 4713514"/>
              <a:gd name="connsiteY0" fmla="*/ 0 h 1099457"/>
              <a:gd name="connsiteX1" fmla="*/ 185057 w 4713514"/>
              <a:gd name="connsiteY1" fmla="*/ 435428 h 1099457"/>
              <a:gd name="connsiteX2" fmla="*/ 566057 w 4713514"/>
              <a:gd name="connsiteY2" fmla="*/ 772886 h 1099457"/>
              <a:gd name="connsiteX3" fmla="*/ 1034143 w 4713514"/>
              <a:gd name="connsiteY3" fmla="*/ 957943 h 1099457"/>
              <a:gd name="connsiteX4" fmla="*/ 1948543 w 4713514"/>
              <a:gd name="connsiteY4" fmla="*/ 1077686 h 1099457"/>
              <a:gd name="connsiteX5" fmla="*/ 2960914 w 4713514"/>
              <a:gd name="connsiteY5" fmla="*/ 1055914 h 1099457"/>
              <a:gd name="connsiteX6" fmla="*/ 3712029 w 4713514"/>
              <a:gd name="connsiteY6" fmla="*/ 1099457 h 1099457"/>
              <a:gd name="connsiteX7" fmla="*/ 4713514 w 4713514"/>
              <a:gd name="connsiteY7" fmla="*/ 1055914 h 1099457"/>
              <a:gd name="connsiteX0" fmla="*/ 0 w 4713514"/>
              <a:gd name="connsiteY0" fmla="*/ 0 h 1099457"/>
              <a:gd name="connsiteX1" fmla="*/ 185057 w 4713514"/>
              <a:gd name="connsiteY1" fmla="*/ 435428 h 1099457"/>
              <a:gd name="connsiteX2" fmla="*/ 511629 w 4713514"/>
              <a:gd name="connsiteY2" fmla="*/ 772886 h 1099457"/>
              <a:gd name="connsiteX3" fmla="*/ 1034143 w 4713514"/>
              <a:gd name="connsiteY3" fmla="*/ 957943 h 1099457"/>
              <a:gd name="connsiteX4" fmla="*/ 1948543 w 4713514"/>
              <a:gd name="connsiteY4" fmla="*/ 1077686 h 1099457"/>
              <a:gd name="connsiteX5" fmla="*/ 2960914 w 4713514"/>
              <a:gd name="connsiteY5" fmla="*/ 1055914 h 1099457"/>
              <a:gd name="connsiteX6" fmla="*/ 3712029 w 4713514"/>
              <a:gd name="connsiteY6" fmla="*/ 1099457 h 1099457"/>
              <a:gd name="connsiteX7" fmla="*/ 4713514 w 4713514"/>
              <a:gd name="connsiteY7" fmla="*/ 1055914 h 1099457"/>
              <a:gd name="connsiteX0" fmla="*/ 0 w 4713514"/>
              <a:gd name="connsiteY0" fmla="*/ 0 h 1099457"/>
              <a:gd name="connsiteX1" fmla="*/ 185057 w 4713514"/>
              <a:gd name="connsiteY1" fmla="*/ 435428 h 1099457"/>
              <a:gd name="connsiteX2" fmla="*/ 511629 w 4713514"/>
              <a:gd name="connsiteY2" fmla="*/ 772886 h 1099457"/>
              <a:gd name="connsiteX3" fmla="*/ 957943 w 4713514"/>
              <a:gd name="connsiteY3" fmla="*/ 957943 h 1099457"/>
              <a:gd name="connsiteX4" fmla="*/ 1948543 w 4713514"/>
              <a:gd name="connsiteY4" fmla="*/ 1077686 h 1099457"/>
              <a:gd name="connsiteX5" fmla="*/ 2960914 w 4713514"/>
              <a:gd name="connsiteY5" fmla="*/ 1055914 h 1099457"/>
              <a:gd name="connsiteX6" fmla="*/ 3712029 w 4713514"/>
              <a:gd name="connsiteY6" fmla="*/ 1099457 h 1099457"/>
              <a:gd name="connsiteX7" fmla="*/ 4713514 w 4713514"/>
              <a:gd name="connsiteY7" fmla="*/ 1055914 h 1099457"/>
              <a:gd name="connsiteX0" fmla="*/ 0 w 4713514"/>
              <a:gd name="connsiteY0" fmla="*/ 0 h 1099457"/>
              <a:gd name="connsiteX1" fmla="*/ 185057 w 4713514"/>
              <a:gd name="connsiteY1" fmla="*/ 435428 h 1099457"/>
              <a:gd name="connsiteX2" fmla="*/ 511629 w 4713514"/>
              <a:gd name="connsiteY2" fmla="*/ 772886 h 1099457"/>
              <a:gd name="connsiteX3" fmla="*/ 957943 w 4713514"/>
              <a:gd name="connsiteY3" fmla="*/ 957943 h 1099457"/>
              <a:gd name="connsiteX4" fmla="*/ 1752600 w 4713514"/>
              <a:gd name="connsiteY4" fmla="*/ 1077686 h 1099457"/>
              <a:gd name="connsiteX5" fmla="*/ 2960914 w 4713514"/>
              <a:gd name="connsiteY5" fmla="*/ 1055914 h 1099457"/>
              <a:gd name="connsiteX6" fmla="*/ 3712029 w 4713514"/>
              <a:gd name="connsiteY6" fmla="*/ 1099457 h 1099457"/>
              <a:gd name="connsiteX7" fmla="*/ 4713514 w 4713514"/>
              <a:gd name="connsiteY7" fmla="*/ 1055914 h 1099457"/>
              <a:gd name="connsiteX0" fmla="*/ 0 w 4713514"/>
              <a:gd name="connsiteY0" fmla="*/ 0 h 1100793"/>
              <a:gd name="connsiteX1" fmla="*/ 185057 w 4713514"/>
              <a:gd name="connsiteY1" fmla="*/ 435428 h 1100793"/>
              <a:gd name="connsiteX2" fmla="*/ 511629 w 4713514"/>
              <a:gd name="connsiteY2" fmla="*/ 772886 h 1100793"/>
              <a:gd name="connsiteX3" fmla="*/ 957943 w 4713514"/>
              <a:gd name="connsiteY3" fmla="*/ 957943 h 1100793"/>
              <a:gd name="connsiteX4" fmla="*/ 1752600 w 4713514"/>
              <a:gd name="connsiteY4" fmla="*/ 1077686 h 1100793"/>
              <a:gd name="connsiteX5" fmla="*/ 2666999 w 4713514"/>
              <a:gd name="connsiteY5" fmla="*/ 1088571 h 1100793"/>
              <a:gd name="connsiteX6" fmla="*/ 3712029 w 4713514"/>
              <a:gd name="connsiteY6" fmla="*/ 1099457 h 1100793"/>
              <a:gd name="connsiteX7" fmla="*/ 4713514 w 4713514"/>
              <a:gd name="connsiteY7" fmla="*/ 1055914 h 1100793"/>
              <a:gd name="connsiteX0" fmla="*/ 0 w 4713514"/>
              <a:gd name="connsiteY0" fmla="*/ 0 h 1090627"/>
              <a:gd name="connsiteX1" fmla="*/ 185057 w 4713514"/>
              <a:gd name="connsiteY1" fmla="*/ 435428 h 1090627"/>
              <a:gd name="connsiteX2" fmla="*/ 511629 w 4713514"/>
              <a:gd name="connsiteY2" fmla="*/ 772886 h 1090627"/>
              <a:gd name="connsiteX3" fmla="*/ 957943 w 4713514"/>
              <a:gd name="connsiteY3" fmla="*/ 957943 h 1090627"/>
              <a:gd name="connsiteX4" fmla="*/ 1752600 w 4713514"/>
              <a:gd name="connsiteY4" fmla="*/ 1077686 h 1090627"/>
              <a:gd name="connsiteX5" fmla="*/ 2666999 w 4713514"/>
              <a:gd name="connsiteY5" fmla="*/ 1088571 h 1090627"/>
              <a:gd name="connsiteX6" fmla="*/ 3657600 w 4713514"/>
              <a:gd name="connsiteY6" fmla="*/ 1088571 h 1090627"/>
              <a:gd name="connsiteX7" fmla="*/ 4713514 w 4713514"/>
              <a:gd name="connsiteY7" fmla="*/ 1055914 h 1090627"/>
              <a:gd name="connsiteX0" fmla="*/ 0 w 4702629"/>
              <a:gd name="connsiteY0" fmla="*/ 0 h 1090627"/>
              <a:gd name="connsiteX1" fmla="*/ 185057 w 4702629"/>
              <a:gd name="connsiteY1" fmla="*/ 435428 h 1090627"/>
              <a:gd name="connsiteX2" fmla="*/ 511629 w 4702629"/>
              <a:gd name="connsiteY2" fmla="*/ 772886 h 1090627"/>
              <a:gd name="connsiteX3" fmla="*/ 957943 w 4702629"/>
              <a:gd name="connsiteY3" fmla="*/ 957943 h 1090627"/>
              <a:gd name="connsiteX4" fmla="*/ 1752600 w 4702629"/>
              <a:gd name="connsiteY4" fmla="*/ 1077686 h 1090627"/>
              <a:gd name="connsiteX5" fmla="*/ 2666999 w 4702629"/>
              <a:gd name="connsiteY5" fmla="*/ 1088571 h 1090627"/>
              <a:gd name="connsiteX6" fmla="*/ 3657600 w 4702629"/>
              <a:gd name="connsiteY6" fmla="*/ 1088571 h 1090627"/>
              <a:gd name="connsiteX7" fmla="*/ 4702629 w 4702629"/>
              <a:gd name="connsiteY7" fmla="*/ 1077685 h 1090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02629" h="1090627">
                <a:moveTo>
                  <a:pt x="0" y="0"/>
                </a:moveTo>
                <a:cubicBezTo>
                  <a:pt x="67128" y="180521"/>
                  <a:pt x="99786" y="306614"/>
                  <a:pt x="185057" y="435428"/>
                </a:cubicBezTo>
                <a:cubicBezTo>
                  <a:pt x="270328" y="564242"/>
                  <a:pt x="382815" y="685800"/>
                  <a:pt x="511629" y="772886"/>
                </a:cubicBezTo>
                <a:cubicBezTo>
                  <a:pt x="640443" y="859972"/>
                  <a:pt x="751115" y="907143"/>
                  <a:pt x="957943" y="957943"/>
                </a:cubicBezTo>
                <a:cubicBezTo>
                  <a:pt x="1164771" y="1008743"/>
                  <a:pt x="1467757" y="1055915"/>
                  <a:pt x="1752600" y="1077686"/>
                </a:cubicBezTo>
                <a:cubicBezTo>
                  <a:pt x="2037443" y="1099457"/>
                  <a:pt x="2349499" y="1086757"/>
                  <a:pt x="2666999" y="1088571"/>
                </a:cubicBezTo>
                <a:lnTo>
                  <a:pt x="3657600" y="1088571"/>
                </a:lnTo>
                <a:lnTo>
                  <a:pt x="4702629" y="1077685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Rectángulo 27"/>
          <p:cNvSpPr/>
          <p:nvPr/>
        </p:nvSpPr>
        <p:spPr>
          <a:xfrm>
            <a:off x="737341" y="461747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0</a:t>
            </a:r>
            <a:endParaRPr lang="es-CL" dirty="0"/>
          </a:p>
        </p:txBody>
      </p:sp>
      <p:sp>
        <p:nvSpPr>
          <p:cNvPr id="29" name="Rectángulo 28"/>
          <p:cNvSpPr/>
          <p:nvPr/>
        </p:nvSpPr>
        <p:spPr>
          <a:xfrm>
            <a:off x="5184712" y="451677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0</a:t>
            </a:r>
            <a:endParaRPr lang="es-CL" dirty="0"/>
          </a:p>
        </p:txBody>
      </p:sp>
      <p:sp>
        <p:nvSpPr>
          <p:cNvPr id="30" name="CuadroTexto 29"/>
          <p:cNvSpPr txBox="1"/>
          <p:nvPr/>
        </p:nvSpPr>
        <p:spPr>
          <a:xfrm>
            <a:off x="6434305" y="2480727"/>
            <a:ext cx="6719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/>
              <a:t>(B)</a:t>
            </a:r>
            <a:endParaRPr lang="es-CL" sz="3200" b="1" dirty="0"/>
          </a:p>
        </p:txBody>
      </p:sp>
      <p:sp>
        <p:nvSpPr>
          <p:cNvPr id="31" name="CuadroTexto 30"/>
          <p:cNvSpPr txBox="1"/>
          <p:nvPr/>
        </p:nvSpPr>
        <p:spPr>
          <a:xfrm>
            <a:off x="-11224" y="2109309"/>
            <a:ext cx="689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/>
              <a:t>(A)</a:t>
            </a:r>
            <a:endParaRPr lang="es-CL" sz="3200" b="1" dirty="0"/>
          </a:p>
        </p:txBody>
      </p:sp>
    </p:spTree>
    <p:extLst>
      <p:ext uri="{BB962C8B-B14F-4D97-AF65-F5344CB8AC3E}">
        <p14:creationId xmlns:p14="http://schemas.microsoft.com/office/powerpoint/2010/main" val="4149926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4657" y="149600"/>
            <a:ext cx="2209800" cy="1152026"/>
          </a:xfrm>
        </p:spPr>
        <p:txBody>
          <a:bodyPr/>
          <a:lstStyle/>
          <a:p>
            <a:r>
              <a:rPr lang="es-MX" dirty="0"/>
              <a:t>Voltajes:</a:t>
            </a:r>
            <a:endParaRPr lang="es-CL" dirty="0"/>
          </a:p>
        </p:txBody>
      </p:sp>
      <p:sp>
        <p:nvSpPr>
          <p:cNvPr id="4" name="CuadroTexto 3"/>
          <p:cNvSpPr txBox="1"/>
          <p:nvPr/>
        </p:nvSpPr>
        <p:spPr>
          <a:xfrm>
            <a:off x="277894" y="954432"/>
            <a:ext cx="66622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Conexión: V</a:t>
            </a:r>
            <a:r>
              <a:rPr lang="es-MX" sz="3200" baseline="-25000" dirty="0"/>
              <a:t>F</a:t>
            </a:r>
            <a:r>
              <a:rPr lang="es-MX" sz="3200" dirty="0"/>
              <a:t> (</a:t>
            </a:r>
            <a:r>
              <a:rPr lang="es-MX" sz="3200" strike="dblStrike" dirty="0"/>
              <a:t>tiempo</a:t>
            </a:r>
            <a:r>
              <a:rPr lang="es-MX" sz="3200" dirty="0"/>
              <a:t>)+ V</a:t>
            </a:r>
            <a:r>
              <a:rPr lang="es-MX" sz="3200" baseline="-25000" dirty="0"/>
              <a:t>R</a:t>
            </a:r>
            <a:r>
              <a:rPr lang="es-MX" sz="3200" dirty="0"/>
              <a:t> (t)+ V</a:t>
            </a:r>
            <a:r>
              <a:rPr lang="es-MX" sz="3200" baseline="-25000" dirty="0"/>
              <a:t>C</a:t>
            </a:r>
            <a:r>
              <a:rPr lang="es-MX" sz="3200" dirty="0"/>
              <a:t> (t)= 0</a:t>
            </a:r>
            <a:endParaRPr lang="es-CL" sz="3200" dirty="0"/>
          </a:p>
        </p:txBody>
      </p:sp>
      <p:sp>
        <p:nvSpPr>
          <p:cNvPr id="5" name="CuadroTexto 4"/>
          <p:cNvSpPr txBox="1"/>
          <p:nvPr/>
        </p:nvSpPr>
        <p:spPr>
          <a:xfrm>
            <a:off x="7389808" y="499237"/>
            <a:ext cx="43735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dirty="0"/>
              <a:t>Desconexión: V</a:t>
            </a:r>
            <a:r>
              <a:rPr lang="es-MX" sz="3200" baseline="-25000" dirty="0"/>
              <a:t>R</a:t>
            </a:r>
            <a:r>
              <a:rPr lang="es-MX" sz="3200" dirty="0"/>
              <a:t> + V</a:t>
            </a:r>
            <a:r>
              <a:rPr lang="es-MX" sz="3200" baseline="-25000" dirty="0"/>
              <a:t>C</a:t>
            </a:r>
            <a:r>
              <a:rPr lang="es-MX" sz="3200" dirty="0"/>
              <a:t> = 0</a:t>
            </a:r>
            <a:endParaRPr lang="es-CL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646849" y="1419499"/>
                <a:ext cx="3578865" cy="8272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q(t)=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𝑉𝐶</m:t>
                        </m:r>
                        <m:r>
                          <a:rPr lang="es-MX" sz="32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sup>
                    </m:sSup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L" sz="3200" dirty="0"/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49" y="1419499"/>
                <a:ext cx="3578865" cy="827214"/>
              </a:xfrm>
              <a:prstGeom prst="rect">
                <a:avLst/>
              </a:prstGeom>
              <a:blipFill rotWithShape="0">
                <a:blip r:embed="rId2"/>
                <a:stretch>
                  <a:fillRect l="-4259" b="-2352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504444" y="2156945"/>
                <a:ext cx="3595087" cy="8272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V</a:t>
                </a:r>
                <a:r>
                  <a:rPr lang="es-MX" sz="3200" baseline="-25000" dirty="0"/>
                  <a:t>R</a:t>
                </a:r>
                <a:r>
                  <a:rPr lang="es-MX" sz="3200" dirty="0"/>
                  <a:t>=i(t)R=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3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s-MX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sup>
                    </m:sSup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L" sz="3200" dirty="0"/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44" y="2156945"/>
                <a:ext cx="3595087" cy="827214"/>
              </a:xfrm>
              <a:prstGeom prst="rect">
                <a:avLst/>
              </a:prstGeom>
              <a:blipFill rotWithShape="0">
                <a:blip r:embed="rId3"/>
                <a:stretch>
                  <a:fillRect l="-4414" b="-2352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/>
              <p:cNvSpPr txBox="1"/>
              <p:nvPr/>
            </p:nvSpPr>
            <p:spPr>
              <a:xfrm>
                <a:off x="504444" y="2845725"/>
                <a:ext cx="3986861" cy="8272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V</a:t>
                </a:r>
                <a:r>
                  <a:rPr lang="es-MX" sz="3200" baseline="-25000" dirty="0"/>
                  <a:t>C</a:t>
                </a:r>
                <a:r>
                  <a:rPr lang="es-MX" sz="3200" dirty="0"/>
                  <a:t>=q/C=V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sup>
                    </m:sSup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L" sz="3200" dirty="0"/>
              </a:p>
            </p:txBody>
          </p:sp>
        </mc:Choice>
        <mc:Fallback xmlns="">
          <p:sp>
            <p:nvSpPr>
              <p:cNvPr id="9" name="Cuadro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44" y="2845725"/>
                <a:ext cx="3986861" cy="827214"/>
              </a:xfrm>
              <a:prstGeom prst="rect">
                <a:avLst/>
              </a:prstGeom>
              <a:blipFill rotWithShape="0">
                <a:blip r:embed="rId4"/>
                <a:stretch>
                  <a:fillRect l="-3976" b="-2352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/>
              <p:cNvSpPr txBox="1"/>
              <p:nvPr/>
            </p:nvSpPr>
            <p:spPr>
              <a:xfrm>
                <a:off x="7649377" y="1597023"/>
                <a:ext cx="3362459" cy="8272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V</a:t>
                </a:r>
                <a:r>
                  <a:rPr lang="es-MX" sz="3200" baseline="-25000" dirty="0"/>
                  <a:t>R</a:t>
                </a:r>
                <a:r>
                  <a:rPr lang="es-MX" sz="3200" dirty="0"/>
                  <a:t> = -</a:t>
                </a:r>
                <a:r>
                  <a:rPr lang="es-MX" sz="3200" dirty="0" err="1"/>
                  <a:t>iR</a:t>
                </a:r>
                <a:r>
                  <a:rPr lang="es-MX" sz="32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𝑉𝑒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𝐶𝑅</m:t>
                            </m:r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sup>
                    </m:sSup>
                  </m:oMath>
                </a14:m>
                <a:endParaRPr lang="es-CL" sz="3200" dirty="0"/>
              </a:p>
            </p:txBody>
          </p:sp>
        </mc:Choice>
        <mc:Fallback xmlns="">
          <p:sp>
            <p:nvSpPr>
              <p:cNvPr id="10" name="Cuadro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377" y="1597023"/>
                <a:ext cx="3362459" cy="827214"/>
              </a:xfrm>
              <a:prstGeom prst="rect">
                <a:avLst/>
              </a:prstGeom>
              <a:blipFill rotWithShape="0">
                <a:blip r:embed="rId5"/>
                <a:stretch>
                  <a:fillRect l="-4719" b="-2352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7614002" y="2345885"/>
                <a:ext cx="3035062" cy="8272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V</a:t>
                </a:r>
                <a:r>
                  <a:rPr lang="es-MX" sz="3200" baseline="-25000" dirty="0"/>
                  <a:t>C</a:t>
                </a:r>
                <a:r>
                  <a:rPr lang="es-MX" sz="3200" dirty="0"/>
                  <a:t>=+q/C</a:t>
                </a:r>
                <a:r>
                  <a:rPr lang="es-CL" sz="3200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𝑉𝑒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s-MX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MX" sz="3200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  <m:r>
                              <a:rPr lang="es-MX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sup>
                    </m:sSup>
                  </m:oMath>
                </a14:m>
                <a:endParaRPr lang="es-CL" sz="3200" dirty="0"/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002" y="2345885"/>
                <a:ext cx="3035062" cy="827214"/>
              </a:xfrm>
              <a:prstGeom prst="rect">
                <a:avLst/>
              </a:prstGeom>
              <a:blipFill rotWithShape="0">
                <a:blip r:embed="rId6"/>
                <a:stretch>
                  <a:fillRect l="-5020" b="-2352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upo 25"/>
          <p:cNvGrpSpPr/>
          <p:nvPr/>
        </p:nvGrpSpPr>
        <p:grpSpPr>
          <a:xfrm>
            <a:off x="547988" y="4296999"/>
            <a:ext cx="5774958" cy="2378828"/>
            <a:chOff x="547988" y="4296999"/>
            <a:chExt cx="5774958" cy="2378828"/>
          </a:xfrm>
        </p:grpSpPr>
        <p:cxnSp>
          <p:nvCxnSpPr>
            <p:cNvPr id="13" name="Conector recto de flecha 12"/>
            <p:cNvCxnSpPr/>
            <p:nvPr/>
          </p:nvCxnSpPr>
          <p:spPr>
            <a:xfrm flipV="1">
              <a:off x="1421674" y="4296999"/>
              <a:ext cx="1" cy="22083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/>
            <p:cNvCxnSpPr/>
            <p:nvPr/>
          </p:nvCxnSpPr>
          <p:spPr>
            <a:xfrm flipV="1">
              <a:off x="547988" y="6165669"/>
              <a:ext cx="5654692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/>
            <p:cNvCxnSpPr/>
            <p:nvPr/>
          </p:nvCxnSpPr>
          <p:spPr>
            <a:xfrm flipV="1">
              <a:off x="547988" y="5072402"/>
              <a:ext cx="5354246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uadroTexto 15"/>
            <p:cNvSpPr txBox="1"/>
            <p:nvPr/>
          </p:nvSpPr>
          <p:spPr>
            <a:xfrm>
              <a:off x="5346355" y="5046612"/>
              <a:ext cx="8515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/>
                <a:t>V</a:t>
              </a:r>
              <a:r>
                <a:rPr lang="es-MX" sz="2800" baseline="-25000" dirty="0"/>
                <a:t>C</a:t>
              </a:r>
              <a:r>
                <a:rPr lang="es-MX" sz="2800" dirty="0"/>
                <a:t>(t)</a:t>
              </a:r>
              <a:endParaRPr lang="es-CL" sz="2800" dirty="0"/>
            </a:p>
          </p:txBody>
        </p:sp>
        <p:sp>
          <p:nvSpPr>
            <p:cNvPr id="17" name="CuadroTexto 16"/>
            <p:cNvSpPr txBox="1"/>
            <p:nvPr/>
          </p:nvSpPr>
          <p:spPr>
            <a:xfrm>
              <a:off x="963574" y="4616941"/>
              <a:ext cx="4443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s-CL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Forma libre 19"/>
            <p:cNvSpPr/>
            <p:nvPr/>
          </p:nvSpPr>
          <p:spPr>
            <a:xfrm>
              <a:off x="1408613" y="5107579"/>
              <a:ext cx="4480558" cy="1045028"/>
            </a:xfrm>
            <a:custGeom>
              <a:avLst/>
              <a:gdLst>
                <a:gd name="connsiteX0" fmla="*/ 0 w 4310743"/>
                <a:gd name="connsiteY0" fmla="*/ 1075712 h 1075712"/>
                <a:gd name="connsiteX1" fmla="*/ 574765 w 4310743"/>
                <a:gd name="connsiteY1" fmla="*/ 396443 h 1075712"/>
                <a:gd name="connsiteX2" fmla="*/ 1763485 w 4310743"/>
                <a:gd name="connsiteY2" fmla="*/ 43746 h 1075712"/>
                <a:gd name="connsiteX3" fmla="*/ 4310743 w 4310743"/>
                <a:gd name="connsiteY3" fmla="*/ 17621 h 1075712"/>
                <a:gd name="connsiteX0" fmla="*/ 0 w 4376057"/>
                <a:gd name="connsiteY0" fmla="*/ 1075712 h 1075712"/>
                <a:gd name="connsiteX1" fmla="*/ 640079 w 4376057"/>
                <a:gd name="connsiteY1" fmla="*/ 396443 h 1075712"/>
                <a:gd name="connsiteX2" fmla="*/ 1828799 w 4376057"/>
                <a:gd name="connsiteY2" fmla="*/ 43746 h 1075712"/>
                <a:gd name="connsiteX3" fmla="*/ 4376057 w 4376057"/>
                <a:gd name="connsiteY3" fmla="*/ 17621 h 1075712"/>
                <a:gd name="connsiteX0" fmla="*/ 0 w 4389119"/>
                <a:gd name="connsiteY0" fmla="*/ 1088775 h 1088775"/>
                <a:gd name="connsiteX1" fmla="*/ 653141 w 4389119"/>
                <a:gd name="connsiteY1" fmla="*/ 396443 h 1088775"/>
                <a:gd name="connsiteX2" fmla="*/ 1841861 w 4389119"/>
                <a:gd name="connsiteY2" fmla="*/ 43746 h 1088775"/>
                <a:gd name="connsiteX3" fmla="*/ 4389119 w 4389119"/>
                <a:gd name="connsiteY3" fmla="*/ 17621 h 1088775"/>
                <a:gd name="connsiteX0" fmla="*/ 0 w 4428308"/>
                <a:gd name="connsiteY0" fmla="*/ 1088775 h 1088775"/>
                <a:gd name="connsiteX1" fmla="*/ 692330 w 4428308"/>
                <a:gd name="connsiteY1" fmla="*/ 396443 h 1088775"/>
                <a:gd name="connsiteX2" fmla="*/ 1881050 w 4428308"/>
                <a:gd name="connsiteY2" fmla="*/ 43746 h 1088775"/>
                <a:gd name="connsiteX3" fmla="*/ 4428308 w 4428308"/>
                <a:gd name="connsiteY3" fmla="*/ 17621 h 1088775"/>
                <a:gd name="connsiteX0" fmla="*/ 0 w 4428308"/>
                <a:gd name="connsiteY0" fmla="*/ 1077666 h 1077666"/>
                <a:gd name="connsiteX1" fmla="*/ 692330 w 4428308"/>
                <a:gd name="connsiteY1" fmla="*/ 385334 h 1077666"/>
                <a:gd name="connsiteX2" fmla="*/ 1985553 w 4428308"/>
                <a:gd name="connsiteY2" fmla="*/ 71826 h 1077666"/>
                <a:gd name="connsiteX3" fmla="*/ 4428308 w 4428308"/>
                <a:gd name="connsiteY3" fmla="*/ 6512 h 1077666"/>
                <a:gd name="connsiteX0" fmla="*/ 0 w 4454433"/>
                <a:gd name="connsiteY0" fmla="*/ 1066494 h 1066494"/>
                <a:gd name="connsiteX1" fmla="*/ 692330 w 4454433"/>
                <a:gd name="connsiteY1" fmla="*/ 374162 h 1066494"/>
                <a:gd name="connsiteX2" fmla="*/ 1985553 w 4454433"/>
                <a:gd name="connsiteY2" fmla="*/ 60654 h 1066494"/>
                <a:gd name="connsiteX3" fmla="*/ 4454433 w 4454433"/>
                <a:gd name="connsiteY3" fmla="*/ 8403 h 1066494"/>
                <a:gd name="connsiteX0" fmla="*/ 0 w 4454433"/>
                <a:gd name="connsiteY0" fmla="*/ 1058091 h 1058091"/>
                <a:gd name="connsiteX1" fmla="*/ 692330 w 4454433"/>
                <a:gd name="connsiteY1" fmla="*/ 365759 h 1058091"/>
                <a:gd name="connsiteX2" fmla="*/ 1985553 w 4454433"/>
                <a:gd name="connsiteY2" fmla="*/ 52251 h 1058091"/>
                <a:gd name="connsiteX3" fmla="*/ 4454433 w 4454433"/>
                <a:gd name="connsiteY3" fmla="*/ 0 h 1058091"/>
                <a:gd name="connsiteX0" fmla="*/ 0 w 4480558"/>
                <a:gd name="connsiteY0" fmla="*/ 1045028 h 1045028"/>
                <a:gd name="connsiteX1" fmla="*/ 718455 w 4480558"/>
                <a:gd name="connsiteY1" fmla="*/ 365759 h 1045028"/>
                <a:gd name="connsiteX2" fmla="*/ 2011678 w 4480558"/>
                <a:gd name="connsiteY2" fmla="*/ 52251 h 1045028"/>
                <a:gd name="connsiteX3" fmla="*/ 4480558 w 4480558"/>
                <a:gd name="connsiteY3" fmla="*/ 0 h 1045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80558" h="1045028">
                  <a:moveTo>
                    <a:pt x="0" y="1045028"/>
                  </a:moveTo>
                  <a:cubicBezTo>
                    <a:pt x="140425" y="791390"/>
                    <a:pt x="383175" y="531222"/>
                    <a:pt x="718455" y="365759"/>
                  </a:cubicBezTo>
                  <a:cubicBezTo>
                    <a:pt x="1053735" y="200296"/>
                    <a:pt x="1384661" y="113211"/>
                    <a:pt x="2011678" y="52251"/>
                  </a:cubicBezTo>
                  <a:cubicBezTo>
                    <a:pt x="2638695" y="-8709"/>
                    <a:pt x="3557449" y="46808"/>
                    <a:pt x="4480558" y="0"/>
                  </a:cubicBezTo>
                </a:path>
              </a:pathLst>
            </a:cu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018054" y="6152607"/>
              <a:ext cx="3048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i="1" dirty="0"/>
                <a:t>t</a:t>
              </a:r>
              <a:endParaRPr lang="es-CL" sz="2800" i="1" dirty="0"/>
            </a:p>
          </p:txBody>
        </p:sp>
        <p:sp>
          <p:nvSpPr>
            <p:cNvPr id="24" name="Forma libre 23"/>
            <p:cNvSpPr/>
            <p:nvPr/>
          </p:nvSpPr>
          <p:spPr>
            <a:xfrm>
              <a:off x="1408613" y="5094517"/>
              <a:ext cx="4480558" cy="1045028"/>
            </a:xfrm>
            <a:custGeom>
              <a:avLst/>
              <a:gdLst>
                <a:gd name="connsiteX0" fmla="*/ 0 w 4310743"/>
                <a:gd name="connsiteY0" fmla="*/ 1075712 h 1075712"/>
                <a:gd name="connsiteX1" fmla="*/ 574765 w 4310743"/>
                <a:gd name="connsiteY1" fmla="*/ 396443 h 1075712"/>
                <a:gd name="connsiteX2" fmla="*/ 1763485 w 4310743"/>
                <a:gd name="connsiteY2" fmla="*/ 43746 h 1075712"/>
                <a:gd name="connsiteX3" fmla="*/ 4310743 w 4310743"/>
                <a:gd name="connsiteY3" fmla="*/ 17621 h 1075712"/>
                <a:gd name="connsiteX0" fmla="*/ 0 w 4376057"/>
                <a:gd name="connsiteY0" fmla="*/ 1075712 h 1075712"/>
                <a:gd name="connsiteX1" fmla="*/ 640079 w 4376057"/>
                <a:gd name="connsiteY1" fmla="*/ 396443 h 1075712"/>
                <a:gd name="connsiteX2" fmla="*/ 1828799 w 4376057"/>
                <a:gd name="connsiteY2" fmla="*/ 43746 h 1075712"/>
                <a:gd name="connsiteX3" fmla="*/ 4376057 w 4376057"/>
                <a:gd name="connsiteY3" fmla="*/ 17621 h 1075712"/>
                <a:gd name="connsiteX0" fmla="*/ 0 w 4389119"/>
                <a:gd name="connsiteY0" fmla="*/ 1088775 h 1088775"/>
                <a:gd name="connsiteX1" fmla="*/ 653141 w 4389119"/>
                <a:gd name="connsiteY1" fmla="*/ 396443 h 1088775"/>
                <a:gd name="connsiteX2" fmla="*/ 1841861 w 4389119"/>
                <a:gd name="connsiteY2" fmla="*/ 43746 h 1088775"/>
                <a:gd name="connsiteX3" fmla="*/ 4389119 w 4389119"/>
                <a:gd name="connsiteY3" fmla="*/ 17621 h 1088775"/>
                <a:gd name="connsiteX0" fmla="*/ 0 w 4428308"/>
                <a:gd name="connsiteY0" fmla="*/ 1088775 h 1088775"/>
                <a:gd name="connsiteX1" fmla="*/ 692330 w 4428308"/>
                <a:gd name="connsiteY1" fmla="*/ 396443 h 1088775"/>
                <a:gd name="connsiteX2" fmla="*/ 1881050 w 4428308"/>
                <a:gd name="connsiteY2" fmla="*/ 43746 h 1088775"/>
                <a:gd name="connsiteX3" fmla="*/ 4428308 w 4428308"/>
                <a:gd name="connsiteY3" fmla="*/ 17621 h 1088775"/>
                <a:gd name="connsiteX0" fmla="*/ 0 w 4428308"/>
                <a:gd name="connsiteY0" fmla="*/ 1077666 h 1077666"/>
                <a:gd name="connsiteX1" fmla="*/ 692330 w 4428308"/>
                <a:gd name="connsiteY1" fmla="*/ 385334 h 1077666"/>
                <a:gd name="connsiteX2" fmla="*/ 1985553 w 4428308"/>
                <a:gd name="connsiteY2" fmla="*/ 71826 h 1077666"/>
                <a:gd name="connsiteX3" fmla="*/ 4428308 w 4428308"/>
                <a:gd name="connsiteY3" fmla="*/ 6512 h 1077666"/>
                <a:gd name="connsiteX0" fmla="*/ 0 w 4454433"/>
                <a:gd name="connsiteY0" fmla="*/ 1066494 h 1066494"/>
                <a:gd name="connsiteX1" fmla="*/ 692330 w 4454433"/>
                <a:gd name="connsiteY1" fmla="*/ 374162 h 1066494"/>
                <a:gd name="connsiteX2" fmla="*/ 1985553 w 4454433"/>
                <a:gd name="connsiteY2" fmla="*/ 60654 h 1066494"/>
                <a:gd name="connsiteX3" fmla="*/ 4454433 w 4454433"/>
                <a:gd name="connsiteY3" fmla="*/ 8403 h 1066494"/>
                <a:gd name="connsiteX0" fmla="*/ 0 w 4454433"/>
                <a:gd name="connsiteY0" fmla="*/ 1058091 h 1058091"/>
                <a:gd name="connsiteX1" fmla="*/ 692330 w 4454433"/>
                <a:gd name="connsiteY1" fmla="*/ 365759 h 1058091"/>
                <a:gd name="connsiteX2" fmla="*/ 1985553 w 4454433"/>
                <a:gd name="connsiteY2" fmla="*/ 52251 h 1058091"/>
                <a:gd name="connsiteX3" fmla="*/ 4454433 w 4454433"/>
                <a:gd name="connsiteY3" fmla="*/ 0 h 1058091"/>
                <a:gd name="connsiteX0" fmla="*/ 0 w 4480558"/>
                <a:gd name="connsiteY0" fmla="*/ 1045028 h 1045028"/>
                <a:gd name="connsiteX1" fmla="*/ 718455 w 4480558"/>
                <a:gd name="connsiteY1" fmla="*/ 365759 h 1045028"/>
                <a:gd name="connsiteX2" fmla="*/ 2011678 w 4480558"/>
                <a:gd name="connsiteY2" fmla="*/ 52251 h 1045028"/>
                <a:gd name="connsiteX3" fmla="*/ 4480558 w 4480558"/>
                <a:gd name="connsiteY3" fmla="*/ 0 h 1045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80558" h="1045028">
                  <a:moveTo>
                    <a:pt x="0" y="1045028"/>
                  </a:moveTo>
                  <a:cubicBezTo>
                    <a:pt x="140425" y="791390"/>
                    <a:pt x="383175" y="531222"/>
                    <a:pt x="718455" y="365759"/>
                  </a:cubicBezTo>
                  <a:cubicBezTo>
                    <a:pt x="1053735" y="200296"/>
                    <a:pt x="1384661" y="113211"/>
                    <a:pt x="2011678" y="52251"/>
                  </a:cubicBezTo>
                  <a:cubicBezTo>
                    <a:pt x="2638695" y="-8709"/>
                    <a:pt x="3557449" y="46808"/>
                    <a:pt x="4480558" y="0"/>
                  </a:cubicBezTo>
                </a:path>
              </a:pathLst>
            </a:custGeom>
            <a:noFill/>
            <a:ln w="34925">
              <a:solidFill>
                <a:srgbClr val="FF0000"/>
              </a:solidFill>
              <a:prstDash val="sysDash"/>
            </a:ln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3428109" y="5524532"/>
              <a:ext cx="8563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/>
                <a:t>V</a:t>
              </a:r>
              <a:r>
                <a:rPr lang="es-MX" sz="2800" baseline="-25000" dirty="0"/>
                <a:t>R</a:t>
              </a:r>
              <a:r>
                <a:rPr lang="es-MX" sz="2800" dirty="0"/>
                <a:t>(t)</a:t>
              </a:r>
              <a:endParaRPr lang="es-CL" sz="2800" dirty="0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6170500" y="4296999"/>
            <a:ext cx="5654692" cy="2365060"/>
            <a:chOff x="6608032" y="4211737"/>
            <a:chExt cx="5654692" cy="2365060"/>
          </a:xfrm>
        </p:grpSpPr>
        <p:cxnSp>
          <p:nvCxnSpPr>
            <p:cNvPr id="28" name="Conector recto de flecha 27"/>
            <p:cNvCxnSpPr/>
            <p:nvPr/>
          </p:nvCxnSpPr>
          <p:spPr>
            <a:xfrm flipV="1">
              <a:off x="7361452" y="4211737"/>
              <a:ext cx="1" cy="22083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/>
            <p:cNvCxnSpPr/>
            <p:nvPr/>
          </p:nvCxnSpPr>
          <p:spPr>
            <a:xfrm flipV="1">
              <a:off x="6608032" y="5524532"/>
              <a:ext cx="5654692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uadroTexto 30"/>
            <p:cNvSpPr txBox="1"/>
            <p:nvPr/>
          </p:nvSpPr>
          <p:spPr>
            <a:xfrm>
              <a:off x="8861328" y="5660367"/>
              <a:ext cx="8563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/>
                <a:t>V</a:t>
              </a:r>
              <a:r>
                <a:rPr lang="es-MX" sz="2800" baseline="-25000" dirty="0"/>
                <a:t>R</a:t>
              </a:r>
              <a:r>
                <a:rPr lang="es-MX" sz="2800" dirty="0"/>
                <a:t>(t)</a:t>
              </a:r>
              <a:endParaRPr lang="es-CL" sz="2800" dirty="0"/>
            </a:p>
          </p:txBody>
        </p:sp>
        <p:sp>
          <p:nvSpPr>
            <p:cNvPr id="32" name="CuadroTexto 31"/>
            <p:cNvSpPr txBox="1"/>
            <p:nvPr/>
          </p:nvSpPr>
          <p:spPr>
            <a:xfrm>
              <a:off x="6903351" y="4282849"/>
              <a:ext cx="4443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s-CL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Forma libre 32"/>
            <p:cNvSpPr/>
            <p:nvPr/>
          </p:nvSpPr>
          <p:spPr>
            <a:xfrm>
              <a:off x="7332370" y="5531769"/>
              <a:ext cx="4480558" cy="1045028"/>
            </a:xfrm>
            <a:custGeom>
              <a:avLst/>
              <a:gdLst>
                <a:gd name="connsiteX0" fmla="*/ 0 w 4310743"/>
                <a:gd name="connsiteY0" fmla="*/ 1075712 h 1075712"/>
                <a:gd name="connsiteX1" fmla="*/ 574765 w 4310743"/>
                <a:gd name="connsiteY1" fmla="*/ 396443 h 1075712"/>
                <a:gd name="connsiteX2" fmla="*/ 1763485 w 4310743"/>
                <a:gd name="connsiteY2" fmla="*/ 43746 h 1075712"/>
                <a:gd name="connsiteX3" fmla="*/ 4310743 w 4310743"/>
                <a:gd name="connsiteY3" fmla="*/ 17621 h 1075712"/>
                <a:gd name="connsiteX0" fmla="*/ 0 w 4376057"/>
                <a:gd name="connsiteY0" fmla="*/ 1075712 h 1075712"/>
                <a:gd name="connsiteX1" fmla="*/ 640079 w 4376057"/>
                <a:gd name="connsiteY1" fmla="*/ 396443 h 1075712"/>
                <a:gd name="connsiteX2" fmla="*/ 1828799 w 4376057"/>
                <a:gd name="connsiteY2" fmla="*/ 43746 h 1075712"/>
                <a:gd name="connsiteX3" fmla="*/ 4376057 w 4376057"/>
                <a:gd name="connsiteY3" fmla="*/ 17621 h 1075712"/>
                <a:gd name="connsiteX0" fmla="*/ 0 w 4389119"/>
                <a:gd name="connsiteY0" fmla="*/ 1088775 h 1088775"/>
                <a:gd name="connsiteX1" fmla="*/ 653141 w 4389119"/>
                <a:gd name="connsiteY1" fmla="*/ 396443 h 1088775"/>
                <a:gd name="connsiteX2" fmla="*/ 1841861 w 4389119"/>
                <a:gd name="connsiteY2" fmla="*/ 43746 h 1088775"/>
                <a:gd name="connsiteX3" fmla="*/ 4389119 w 4389119"/>
                <a:gd name="connsiteY3" fmla="*/ 17621 h 1088775"/>
                <a:gd name="connsiteX0" fmla="*/ 0 w 4428308"/>
                <a:gd name="connsiteY0" fmla="*/ 1088775 h 1088775"/>
                <a:gd name="connsiteX1" fmla="*/ 692330 w 4428308"/>
                <a:gd name="connsiteY1" fmla="*/ 396443 h 1088775"/>
                <a:gd name="connsiteX2" fmla="*/ 1881050 w 4428308"/>
                <a:gd name="connsiteY2" fmla="*/ 43746 h 1088775"/>
                <a:gd name="connsiteX3" fmla="*/ 4428308 w 4428308"/>
                <a:gd name="connsiteY3" fmla="*/ 17621 h 1088775"/>
                <a:gd name="connsiteX0" fmla="*/ 0 w 4428308"/>
                <a:gd name="connsiteY0" fmla="*/ 1077666 h 1077666"/>
                <a:gd name="connsiteX1" fmla="*/ 692330 w 4428308"/>
                <a:gd name="connsiteY1" fmla="*/ 385334 h 1077666"/>
                <a:gd name="connsiteX2" fmla="*/ 1985553 w 4428308"/>
                <a:gd name="connsiteY2" fmla="*/ 71826 h 1077666"/>
                <a:gd name="connsiteX3" fmla="*/ 4428308 w 4428308"/>
                <a:gd name="connsiteY3" fmla="*/ 6512 h 1077666"/>
                <a:gd name="connsiteX0" fmla="*/ 0 w 4454433"/>
                <a:gd name="connsiteY0" fmla="*/ 1066494 h 1066494"/>
                <a:gd name="connsiteX1" fmla="*/ 692330 w 4454433"/>
                <a:gd name="connsiteY1" fmla="*/ 374162 h 1066494"/>
                <a:gd name="connsiteX2" fmla="*/ 1985553 w 4454433"/>
                <a:gd name="connsiteY2" fmla="*/ 60654 h 1066494"/>
                <a:gd name="connsiteX3" fmla="*/ 4454433 w 4454433"/>
                <a:gd name="connsiteY3" fmla="*/ 8403 h 1066494"/>
                <a:gd name="connsiteX0" fmla="*/ 0 w 4454433"/>
                <a:gd name="connsiteY0" fmla="*/ 1058091 h 1058091"/>
                <a:gd name="connsiteX1" fmla="*/ 692330 w 4454433"/>
                <a:gd name="connsiteY1" fmla="*/ 365759 h 1058091"/>
                <a:gd name="connsiteX2" fmla="*/ 1985553 w 4454433"/>
                <a:gd name="connsiteY2" fmla="*/ 52251 h 1058091"/>
                <a:gd name="connsiteX3" fmla="*/ 4454433 w 4454433"/>
                <a:gd name="connsiteY3" fmla="*/ 0 h 1058091"/>
                <a:gd name="connsiteX0" fmla="*/ 0 w 4480558"/>
                <a:gd name="connsiteY0" fmla="*/ 1045028 h 1045028"/>
                <a:gd name="connsiteX1" fmla="*/ 718455 w 4480558"/>
                <a:gd name="connsiteY1" fmla="*/ 365759 h 1045028"/>
                <a:gd name="connsiteX2" fmla="*/ 2011678 w 4480558"/>
                <a:gd name="connsiteY2" fmla="*/ 52251 h 1045028"/>
                <a:gd name="connsiteX3" fmla="*/ 4480558 w 4480558"/>
                <a:gd name="connsiteY3" fmla="*/ 0 h 1045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80558" h="1045028">
                  <a:moveTo>
                    <a:pt x="0" y="1045028"/>
                  </a:moveTo>
                  <a:cubicBezTo>
                    <a:pt x="140425" y="791390"/>
                    <a:pt x="383175" y="531222"/>
                    <a:pt x="718455" y="365759"/>
                  </a:cubicBezTo>
                  <a:cubicBezTo>
                    <a:pt x="1053735" y="200296"/>
                    <a:pt x="1384661" y="113211"/>
                    <a:pt x="2011678" y="52251"/>
                  </a:cubicBezTo>
                  <a:cubicBezTo>
                    <a:pt x="2638695" y="-8709"/>
                    <a:pt x="3557449" y="46808"/>
                    <a:pt x="4480558" y="0"/>
                  </a:cubicBezTo>
                </a:path>
              </a:pathLst>
            </a:cu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34" name="CuadroTexto 33"/>
            <p:cNvSpPr txBox="1"/>
            <p:nvPr/>
          </p:nvSpPr>
          <p:spPr>
            <a:xfrm>
              <a:off x="11572638" y="5553731"/>
              <a:ext cx="3048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i="1" dirty="0"/>
                <a:t>t</a:t>
              </a:r>
              <a:endParaRPr lang="es-CL" sz="2800" i="1" dirty="0"/>
            </a:p>
          </p:txBody>
        </p:sp>
        <p:sp>
          <p:nvSpPr>
            <p:cNvPr id="35" name="Forma libre 34"/>
            <p:cNvSpPr/>
            <p:nvPr/>
          </p:nvSpPr>
          <p:spPr>
            <a:xfrm>
              <a:off x="7375201" y="4515803"/>
              <a:ext cx="4480558" cy="1045028"/>
            </a:xfrm>
            <a:custGeom>
              <a:avLst/>
              <a:gdLst>
                <a:gd name="connsiteX0" fmla="*/ 0 w 4310743"/>
                <a:gd name="connsiteY0" fmla="*/ 1075712 h 1075712"/>
                <a:gd name="connsiteX1" fmla="*/ 574765 w 4310743"/>
                <a:gd name="connsiteY1" fmla="*/ 396443 h 1075712"/>
                <a:gd name="connsiteX2" fmla="*/ 1763485 w 4310743"/>
                <a:gd name="connsiteY2" fmla="*/ 43746 h 1075712"/>
                <a:gd name="connsiteX3" fmla="*/ 4310743 w 4310743"/>
                <a:gd name="connsiteY3" fmla="*/ 17621 h 1075712"/>
                <a:gd name="connsiteX0" fmla="*/ 0 w 4376057"/>
                <a:gd name="connsiteY0" fmla="*/ 1075712 h 1075712"/>
                <a:gd name="connsiteX1" fmla="*/ 640079 w 4376057"/>
                <a:gd name="connsiteY1" fmla="*/ 396443 h 1075712"/>
                <a:gd name="connsiteX2" fmla="*/ 1828799 w 4376057"/>
                <a:gd name="connsiteY2" fmla="*/ 43746 h 1075712"/>
                <a:gd name="connsiteX3" fmla="*/ 4376057 w 4376057"/>
                <a:gd name="connsiteY3" fmla="*/ 17621 h 1075712"/>
                <a:gd name="connsiteX0" fmla="*/ 0 w 4389119"/>
                <a:gd name="connsiteY0" fmla="*/ 1088775 h 1088775"/>
                <a:gd name="connsiteX1" fmla="*/ 653141 w 4389119"/>
                <a:gd name="connsiteY1" fmla="*/ 396443 h 1088775"/>
                <a:gd name="connsiteX2" fmla="*/ 1841861 w 4389119"/>
                <a:gd name="connsiteY2" fmla="*/ 43746 h 1088775"/>
                <a:gd name="connsiteX3" fmla="*/ 4389119 w 4389119"/>
                <a:gd name="connsiteY3" fmla="*/ 17621 h 1088775"/>
                <a:gd name="connsiteX0" fmla="*/ 0 w 4428308"/>
                <a:gd name="connsiteY0" fmla="*/ 1088775 h 1088775"/>
                <a:gd name="connsiteX1" fmla="*/ 692330 w 4428308"/>
                <a:gd name="connsiteY1" fmla="*/ 396443 h 1088775"/>
                <a:gd name="connsiteX2" fmla="*/ 1881050 w 4428308"/>
                <a:gd name="connsiteY2" fmla="*/ 43746 h 1088775"/>
                <a:gd name="connsiteX3" fmla="*/ 4428308 w 4428308"/>
                <a:gd name="connsiteY3" fmla="*/ 17621 h 1088775"/>
                <a:gd name="connsiteX0" fmla="*/ 0 w 4428308"/>
                <a:gd name="connsiteY0" fmla="*/ 1077666 h 1077666"/>
                <a:gd name="connsiteX1" fmla="*/ 692330 w 4428308"/>
                <a:gd name="connsiteY1" fmla="*/ 385334 h 1077666"/>
                <a:gd name="connsiteX2" fmla="*/ 1985553 w 4428308"/>
                <a:gd name="connsiteY2" fmla="*/ 71826 h 1077666"/>
                <a:gd name="connsiteX3" fmla="*/ 4428308 w 4428308"/>
                <a:gd name="connsiteY3" fmla="*/ 6512 h 1077666"/>
                <a:gd name="connsiteX0" fmla="*/ 0 w 4454433"/>
                <a:gd name="connsiteY0" fmla="*/ 1066494 h 1066494"/>
                <a:gd name="connsiteX1" fmla="*/ 692330 w 4454433"/>
                <a:gd name="connsiteY1" fmla="*/ 374162 h 1066494"/>
                <a:gd name="connsiteX2" fmla="*/ 1985553 w 4454433"/>
                <a:gd name="connsiteY2" fmla="*/ 60654 h 1066494"/>
                <a:gd name="connsiteX3" fmla="*/ 4454433 w 4454433"/>
                <a:gd name="connsiteY3" fmla="*/ 8403 h 1066494"/>
                <a:gd name="connsiteX0" fmla="*/ 0 w 4454433"/>
                <a:gd name="connsiteY0" fmla="*/ 1058091 h 1058091"/>
                <a:gd name="connsiteX1" fmla="*/ 692330 w 4454433"/>
                <a:gd name="connsiteY1" fmla="*/ 365759 h 1058091"/>
                <a:gd name="connsiteX2" fmla="*/ 1985553 w 4454433"/>
                <a:gd name="connsiteY2" fmla="*/ 52251 h 1058091"/>
                <a:gd name="connsiteX3" fmla="*/ 4454433 w 4454433"/>
                <a:gd name="connsiteY3" fmla="*/ 0 h 1058091"/>
                <a:gd name="connsiteX0" fmla="*/ 0 w 4480558"/>
                <a:gd name="connsiteY0" fmla="*/ 1045028 h 1045028"/>
                <a:gd name="connsiteX1" fmla="*/ 718455 w 4480558"/>
                <a:gd name="connsiteY1" fmla="*/ 365759 h 1045028"/>
                <a:gd name="connsiteX2" fmla="*/ 2011678 w 4480558"/>
                <a:gd name="connsiteY2" fmla="*/ 52251 h 1045028"/>
                <a:gd name="connsiteX3" fmla="*/ 4480558 w 4480558"/>
                <a:gd name="connsiteY3" fmla="*/ 0 h 1045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80558" h="1045028">
                  <a:moveTo>
                    <a:pt x="0" y="1045028"/>
                  </a:moveTo>
                  <a:cubicBezTo>
                    <a:pt x="140425" y="791390"/>
                    <a:pt x="383175" y="531222"/>
                    <a:pt x="718455" y="365759"/>
                  </a:cubicBezTo>
                  <a:cubicBezTo>
                    <a:pt x="1053735" y="200296"/>
                    <a:pt x="1384661" y="113211"/>
                    <a:pt x="2011678" y="52251"/>
                  </a:cubicBezTo>
                  <a:cubicBezTo>
                    <a:pt x="2638695" y="-8709"/>
                    <a:pt x="3557449" y="46808"/>
                    <a:pt x="4480558" y="0"/>
                  </a:cubicBezTo>
                </a:path>
              </a:pathLst>
            </a:custGeom>
            <a:noFill/>
            <a:ln w="34925">
              <a:solidFill>
                <a:srgbClr val="FF0000"/>
              </a:solidFill>
              <a:prstDash val="sysDash"/>
            </a:ln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36" name="CuadroTexto 35"/>
            <p:cNvSpPr txBox="1"/>
            <p:nvPr/>
          </p:nvSpPr>
          <p:spPr>
            <a:xfrm>
              <a:off x="8788009" y="4851058"/>
              <a:ext cx="8515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/>
                <a:t>V</a:t>
              </a:r>
              <a:r>
                <a:rPr lang="es-MX" sz="2800" baseline="-25000" dirty="0"/>
                <a:t>C</a:t>
              </a:r>
              <a:r>
                <a:rPr lang="es-MX" sz="2800" dirty="0"/>
                <a:t>(t)</a:t>
              </a:r>
              <a:endParaRPr lang="es-CL" sz="2800" dirty="0"/>
            </a:p>
          </p:txBody>
        </p:sp>
      </p:grpSp>
      <p:sp>
        <p:nvSpPr>
          <p:cNvPr id="38" name="CuadroTexto 37"/>
          <p:cNvSpPr txBox="1"/>
          <p:nvPr/>
        </p:nvSpPr>
        <p:spPr>
          <a:xfrm>
            <a:off x="6632698" y="52486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0</a:t>
            </a:r>
            <a:endParaRPr lang="es-CL" dirty="0"/>
          </a:p>
        </p:txBody>
      </p:sp>
      <p:sp>
        <p:nvSpPr>
          <p:cNvPr id="39" name="CuadroTexto 38"/>
          <p:cNvSpPr txBox="1"/>
          <p:nvPr/>
        </p:nvSpPr>
        <p:spPr>
          <a:xfrm>
            <a:off x="504444" y="4075723"/>
            <a:ext cx="689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/>
              <a:t>(A)</a:t>
            </a:r>
            <a:endParaRPr lang="es-CL" sz="3200" b="1" dirty="0"/>
          </a:p>
        </p:txBody>
      </p:sp>
      <p:sp>
        <p:nvSpPr>
          <p:cNvPr id="40" name="CuadroTexto 39"/>
          <p:cNvSpPr txBox="1"/>
          <p:nvPr/>
        </p:nvSpPr>
        <p:spPr>
          <a:xfrm>
            <a:off x="7086226" y="4201291"/>
            <a:ext cx="6719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/>
              <a:t>(B)</a:t>
            </a:r>
            <a:endParaRPr lang="es-CL" sz="3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5346355" y="37006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C=q/V</a:t>
            </a:r>
            <a:endParaRPr lang="es-CL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/>
              <p:cNvSpPr txBox="1"/>
              <p:nvPr/>
            </p:nvSpPr>
            <p:spPr>
              <a:xfrm>
                <a:off x="7643437" y="926911"/>
                <a:ext cx="2708818" cy="8272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3200" dirty="0"/>
                  <a:t>q(t) = </a:t>
                </a:r>
                <a14:m>
                  <m:oMath xmlns:m="http://schemas.openxmlformats.org/officeDocument/2006/math">
                    <m:r>
                      <a:rPr lang="es-MX" sz="3200" i="1">
                        <a:latin typeface="Cambria Math" panose="02040503050406030204" pitchFamily="18" charset="0"/>
                      </a:rPr>
                      <m:t>𝑉𝐶</m:t>
                    </m:r>
                    <m:sSup>
                      <m:sSupPr>
                        <m:ctrlPr>
                          <a:rPr lang="es-C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𝑅𝐶</m:t>
                            </m:r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sup>
                    </m:sSup>
                  </m:oMath>
                </a14:m>
                <a:endParaRPr lang="es-CL" sz="3200" dirty="0"/>
              </a:p>
            </p:txBody>
          </p:sp>
        </mc:Choice>
        <mc:Fallback xmlns="">
          <p:sp>
            <p:nvSpPr>
              <p:cNvPr id="41" name="CuadroTexto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437" y="926911"/>
                <a:ext cx="2708818" cy="827214"/>
              </a:xfrm>
              <a:prstGeom prst="rect">
                <a:avLst/>
              </a:prstGeom>
              <a:blipFill rotWithShape="0">
                <a:blip r:embed="rId7"/>
                <a:stretch>
                  <a:fillRect l="-5856" b="-2352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05191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741</Words>
  <Application>Microsoft Office PowerPoint</Application>
  <PresentationFormat>Widescreen</PresentationFormat>
  <Paragraphs>113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 New Roman</vt:lpstr>
      <vt:lpstr>Tema de Office</vt:lpstr>
      <vt:lpstr>Circuito RC</vt:lpstr>
      <vt:lpstr>PowerPoint Presentation</vt:lpstr>
      <vt:lpstr>PowerPoint Presentation</vt:lpstr>
      <vt:lpstr>PowerPoint Presentation</vt:lpstr>
      <vt:lpstr>Etapa de descarga:</vt:lpstr>
      <vt:lpstr>PowerPoint Presentation</vt:lpstr>
      <vt:lpstr>Voltajes: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LB</dc:creator>
  <cp:lastModifiedBy>Leonardo Daniel Bennun Torres</cp:lastModifiedBy>
  <cp:revision>90</cp:revision>
  <dcterms:created xsi:type="dcterms:W3CDTF">2020-09-16T17:24:55Z</dcterms:created>
  <dcterms:modified xsi:type="dcterms:W3CDTF">2021-11-22T12:37:53Z</dcterms:modified>
</cp:coreProperties>
</file>