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312" r:id="rId6"/>
    <p:sldId id="301" r:id="rId7"/>
    <p:sldId id="315" r:id="rId8"/>
    <p:sldId id="314" r:id="rId9"/>
    <p:sldId id="316" r:id="rId10"/>
    <p:sldId id="317" r:id="rId11"/>
    <p:sldId id="318" r:id="rId12"/>
    <p:sldId id="320" r:id="rId13"/>
    <p:sldId id="319" r:id="rId14"/>
    <p:sldId id="322" r:id="rId15"/>
    <p:sldId id="32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6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22ECB-25A5-40E5-A8E8-6EBA67A38630}" v="2" dt="2021-10-21T21:59:06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 autoAdjust="0"/>
    <p:restoredTop sz="94660"/>
  </p:normalViewPr>
  <p:slideViewPr>
    <p:cSldViewPr snapToGrid="0">
      <p:cViewPr varScale="1">
        <p:scale>
          <a:sx n="67" d="100"/>
          <a:sy n="67" d="100"/>
        </p:scale>
        <p:origin x="4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Elizabeth Valenzuela Carrasco" userId="S::cvalenzue2016@udec.cl::f46ef4a5-fe66-40bf-b055-48e2ce8059a5" providerId="AD" clId="Web-{64122ECB-25A5-40E5-A8E8-6EBA67A38630}"/>
    <pc:docChg chg="addSld delSld">
      <pc:chgData name="Carolina Elizabeth Valenzuela Carrasco" userId="S::cvalenzue2016@udec.cl::f46ef4a5-fe66-40bf-b055-48e2ce8059a5" providerId="AD" clId="Web-{64122ECB-25A5-40E5-A8E8-6EBA67A38630}" dt="2021-10-21T21:59:06.797" v="1"/>
      <pc:docMkLst>
        <pc:docMk/>
      </pc:docMkLst>
      <pc:sldChg chg="new del">
        <pc:chgData name="Carolina Elizabeth Valenzuela Carrasco" userId="S::cvalenzue2016@udec.cl::f46ef4a5-fe66-40bf-b055-48e2ce8059a5" providerId="AD" clId="Web-{64122ECB-25A5-40E5-A8E8-6EBA67A38630}" dt="2021-10-21T21:59:06.797" v="1"/>
        <pc:sldMkLst>
          <pc:docMk/>
          <pc:sldMk cId="4276794883" sldId="32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6T16:35:11.19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1,'4'1,"1"0,-1 1,1-1,-1 1,0 0,0 1,7 4,-1-1,20 9,1-2,1-1,0-1,56 10,-56-14,-1 1,1 1,-2 2,1 1,34 19,-60-28,-1 1,0-1,0 1,0 0,-1 0,1 0,5 9,16 19,4-2,26 35,-13-15,-37-43,1 0,-2 0,1 0,-1 1,0 0,-1-1,0 1,3 11,0 9,4 33,-2-9,-5-35,7 34,-2 0,2 70,-10-108,0 0,4 18,2-9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6T16:35:39.5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0,'36'29,"-26"-22,0 1,16 16,-10-8,1 0,1-2,1 0,21 12,36 28,72 73,-112-93,60 75,-72-81,49 46,-51-54,0 1,-2 1,29 41,-28-27,-2 1,-2 0,-1 2,11 40,-19-58,1 0,1 0,23 32,12 26,-31-46,17 65,-3-9,-14-41,-9-25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6T16:35:43.4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15AFC-2639-444E-80FD-9A826254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9F4C35-3CF9-425D-B262-6A1F37AC6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10CAB2-6908-4A03-9397-03324CAF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28796-38F4-4BAE-89BD-18873CAC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702145-864A-41AA-8D8D-A77C8454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206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C1DEC-751C-4D67-8D15-7352EDF0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F7BAA2-6F6E-448B-8E68-E8DA6677E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973D49-B705-48C5-B656-A81EB88D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41B0E7-CC07-45CA-A6BB-04A73DE6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C5CC-98FF-452E-9DBA-ACD7683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567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58496-2203-4315-8C1C-63C52011F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074560-0DBC-47B4-A74C-C1FBA6D7A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0915E2-B499-405A-A976-79E9E361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9AC5A6-0260-47A0-B03E-5B441A17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3B8C88-3658-44C9-8948-94FA6F02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38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587F5-6DFE-4351-9A69-8D9C8754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092B50-EF17-4387-B8D7-65B4D3F72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74BBFB-22ED-4274-BD8C-709F28277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785C2E-ABBF-44AF-892C-A0FE1651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8B108-46A1-4561-A551-0ADD8F75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082290-68BF-4A3B-B69F-388DD94B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079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7B5A3-1303-4A43-8506-B629AB734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70E8FD-7B56-4E96-BBB8-7C4058E85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10D9A0-7C17-4CB7-9C16-31918F0AF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F1C59E-CC26-4E58-A9D5-E309C370A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186286-807C-46EB-9209-105F303CE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9D18E2-AE2E-45E7-9625-384F9DCE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AAE1C2-A4A8-47B5-8B36-75B8039B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483060-CDFB-4F0F-AC30-09385BEA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526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5DD6D-AA8F-4C53-8D9C-E363A162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3E2F82-4946-49FE-ADC3-AB6E32A0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CA65A0-B877-4CB5-A8D8-F798D0EE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FF9CA5-2DB6-4F94-81BE-F2AC8436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676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411BB7-8C32-41E9-9FEE-82BCC87B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2549B5-0EB9-4B54-B981-E58BAF1F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E0A158-5976-4DE1-8411-FC128A37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41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95769-C9E9-497A-B796-D591E254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AFE264-27FA-4ACC-886A-9560A23F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86AC88-4B15-4156-B175-12B1C63D2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FACACF-AA62-4D1C-90B6-23C34206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1EF0CB-C818-4B74-ADC0-A01CBF15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97432-2D44-48EB-A111-BCDEA846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026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A9D77-0435-4FF0-AEB7-B7298CDD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155947-44A6-4163-B729-010E7CF0C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7FAD9D-F336-492C-9978-4D34E52D0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0BC7FD-2D04-46A9-B011-13224CB8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BD71FD-2A9E-4B28-AD24-878BC2D9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5EFBD6-C013-4EE2-8225-AAD495C0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353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1B02F-EAFC-4128-AE33-287DBC5A9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0A94EC-668D-416A-9B29-5B7288FA5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69A2E-1E39-46F3-9CB5-8C758DB3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169D97-1718-4673-8187-C9075065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30B839-7082-4A56-964F-1844CA31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421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82F224-048F-4FB6-BE79-70DE20C3A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A4ACA3-2ABD-423C-88FE-82EDAD62C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BA6CA2-8264-4301-B78C-8C040A39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6B71F1-223D-418F-8065-F2A006B1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2AB38E-83A8-4459-9003-B9D67206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0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5808A3-4761-459C-A7C1-BBA0CC52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5A41DC-A9AE-4717-9AEF-DEFEE76B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BC8BBA-2FA1-4F95-B50E-3A6751D88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0665F-91EC-4799-8346-B23E5E295474}" type="datetimeFigureOut">
              <a:rPr lang="es-CL" smtClean="0"/>
              <a:t>21-10-2021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EC4AFB-91A6-4A0C-B96A-1AE678D0C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D98F9A-7533-4C57-BFE3-2AE779557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693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asminmaril@udec.c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460.png"/><Relationship Id="rId12" Type="http://schemas.openxmlformats.org/officeDocument/2006/relationships/image" Target="../media/image29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0.png"/><Relationship Id="rId5" Type="http://schemas.openxmlformats.org/officeDocument/2006/relationships/image" Target="../media/image19.png"/><Relationship Id="rId10" Type="http://schemas.openxmlformats.org/officeDocument/2006/relationships/image" Target="../media/image89.png"/><Relationship Id="rId4" Type="http://schemas.openxmlformats.org/officeDocument/2006/relationships/image" Target="../media/image470.png"/><Relationship Id="rId9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4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1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customXml" Target="../ink/ink1.xml"/><Relationship Id="rId18" Type="http://schemas.openxmlformats.org/officeDocument/2006/relationships/image" Target="../media/image61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8.png"/><Relationship Id="rId17" Type="http://schemas.openxmlformats.org/officeDocument/2006/relationships/customXml" Target="../ink/ink3.xml"/><Relationship Id="rId2" Type="http://schemas.openxmlformats.org/officeDocument/2006/relationships/image" Target="../media/image49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48.png"/><Relationship Id="rId5" Type="http://schemas.openxmlformats.org/officeDocument/2006/relationships/image" Target="../media/image52.png"/><Relationship Id="rId15" Type="http://schemas.openxmlformats.org/officeDocument/2006/relationships/customXml" Target="../ink/ink2.xml"/><Relationship Id="rId10" Type="http://schemas.openxmlformats.org/officeDocument/2006/relationships/image" Target="../media/image520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ste impresionante puente es la última locura arquitectónica de China y  lleva más de 200.000 visitantes">
            <a:extLst>
              <a:ext uri="{FF2B5EF4-FFF2-40B4-BE49-F238E27FC236}">
                <a16:creationId xmlns:a16="http://schemas.microsoft.com/office/drawing/2014/main" id="{8235FA94-B873-469E-92BD-270D0CC65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91" r="9091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7F4694-0B0D-4CEB-86BB-37A11787D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s-CL" sz="6600" dirty="0"/>
              <a:t>Práctica N°3 Mecánica de Materiales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9AC1C2-3AF8-4890-A7CF-2DB36DAC3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s-CL" sz="1300"/>
              <a:t>Ayudante: Yasmin Maril </a:t>
            </a:r>
            <a:r>
              <a:rPr lang="es-CL" sz="13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yasminmaril@udec.cl</a:t>
            </a:r>
            <a:endParaRPr lang="es-CL" sz="1300"/>
          </a:p>
          <a:p>
            <a:pPr algn="l"/>
            <a:r>
              <a:rPr lang="es-CL" sz="1300"/>
              <a:t>Profesor: Dr. Carlos </a:t>
            </a:r>
            <a:r>
              <a:rPr lang="es-CL" sz="1300" err="1"/>
              <a:t>Camurri</a:t>
            </a:r>
            <a:endParaRPr lang="es-CL" sz="1300"/>
          </a:p>
        </p:txBody>
      </p:sp>
    </p:spTree>
    <p:extLst>
      <p:ext uri="{BB962C8B-B14F-4D97-AF65-F5344CB8AC3E}">
        <p14:creationId xmlns:p14="http://schemas.microsoft.com/office/powerpoint/2010/main" val="1067047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34FEE-2046-4B61-A624-F197FF0B1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347" y="323147"/>
            <a:ext cx="8567928" cy="758254"/>
          </a:xfrm>
        </p:spPr>
        <p:txBody>
          <a:bodyPr/>
          <a:lstStyle/>
          <a:p>
            <a:r>
              <a:rPr lang="es-CL" dirty="0"/>
              <a:t>Esfuerzo y deformación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BDFC87-ADDD-4196-A03D-5FC5ABA1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2</a:t>
            </a:fld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D4505A9-B64B-4457-B36F-5EAEBFD8B068}"/>
                  </a:ext>
                </a:extLst>
              </p:cNvPr>
              <p:cNvSpPr txBox="1"/>
              <p:nvPr/>
            </p:nvSpPr>
            <p:spPr>
              <a:xfrm>
                <a:off x="5962649" y="3318400"/>
                <a:ext cx="5191887" cy="2357697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𝑐𝑜𝑚𝑝𝑜𝑛𝑒𝑛𝑡𝑒𝑠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𝑛𝑜𝑟𝑚𝑎𝑙𝑒𝑠</m:t>
                      </m:r>
                    </m:oMath>
                  </m:oMathPara>
                </a14:m>
                <a:endParaRPr lang="es-CL" dirty="0"/>
              </a:p>
              <a:p>
                <a:pPr algn="ctr"/>
                <a:r>
                  <a:rPr lang="es-CL" b="1" dirty="0"/>
                  <a:t>Deformaciones normales principales:</a:t>
                </a:r>
              </a:p>
              <a:p>
                <a:pPr algn="ctr"/>
                <a:r>
                  <a:rPr lang="es-CL" b="1" dirty="0"/>
                  <a:t> </a:t>
                </a:r>
                <a:r>
                  <a:rPr lang="es-CL" dirty="0"/>
                  <a:t>l(1) &gt; l(2) &gt; l(3)</a:t>
                </a:r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D4505A9-B64B-4457-B36F-5EAEBFD8B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649" y="3318400"/>
                <a:ext cx="5191887" cy="23576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9F388274-16DC-4DCC-9F74-F96C3A40F557}"/>
              </a:ext>
            </a:extLst>
          </p:cNvPr>
          <p:cNvSpPr txBox="1"/>
          <p:nvPr/>
        </p:nvSpPr>
        <p:spPr>
          <a:xfrm>
            <a:off x="4115563" y="5927951"/>
            <a:ext cx="6143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Actúan en </a:t>
            </a:r>
            <a:r>
              <a:rPr lang="es-CL" b="1" dirty="0"/>
              <a:t>planos normales principales.</a:t>
            </a:r>
          </a:p>
          <a:p>
            <a:r>
              <a:rPr lang="es-CL" dirty="0"/>
              <a:t>Dados por las </a:t>
            </a:r>
            <a:r>
              <a:rPr lang="es-CL" b="1" dirty="0"/>
              <a:t>direcciones normales principales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0A51C33-2D04-4D2D-A803-C3275896EEBD}"/>
                  </a:ext>
                </a:extLst>
              </p:cNvPr>
              <p:cNvSpPr txBox="1"/>
              <p:nvPr/>
            </p:nvSpPr>
            <p:spPr>
              <a:xfrm>
                <a:off x="228599" y="3290765"/>
                <a:ext cx="5191887" cy="2412968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L" sz="20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L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𝑐𝑜𝑚𝑝𝑜𝑛𝑒𝑛𝑡𝑒𝑠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𝑛𝑜𝑟𝑚𝑎𝑙𝑒𝑠</m:t>
                      </m:r>
                    </m:oMath>
                  </m:oMathPara>
                </a14:m>
                <a:endParaRPr lang="es-CL" sz="2000" dirty="0"/>
              </a:p>
              <a:p>
                <a:pPr algn="ctr"/>
                <a:r>
                  <a:rPr lang="es-CL" sz="2000" b="1" dirty="0"/>
                  <a:t>Esfuerzos normales principales: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2000" b="1" dirty="0"/>
              </a:p>
              <a:p>
                <a:pPr algn="ctr"/>
                <a:r>
                  <a:rPr lang="es-CL" b="1" dirty="0"/>
                  <a:t> </a:t>
                </a:r>
                <a:endParaRPr lang="es-CL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0A51C33-2D04-4D2D-A803-C3275896E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99" y="3290765"/>
                <a:ext cx="5191887" cy="2412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lexión mecánica - Wikipedia, la enciclopedia libre">
            <a:extLst>
              <a:ext uri="{FF2B5EF4-FFF2-40B4-BE49-F238E27FC236}">
                <a16:creationId xmlns:a16="http://schemas.microsoft.com/office/drawing/2014/main" id="{276C933F-71E1-4728-8EBB-A4135A168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862" y="1519361"/>
            <a:ext cx="2981325" cy="177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5532182-DF19-4572-A844-FE036ED7FB8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417" t="24652" r="43203" b="13186"/>
          <a:stretch/>
        </p:blipFill>
        <p:spPr>
          <a:xfrm>
            <a:off x="1647062" y="1081401"/>
            <a:ext cx="1724787" cy="198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8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EF356-73A3-4557-BD0C-9728A3978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05" y="-68473"/>
            <a:ext cx="9692640" cy="1325562"/>
          </a:xfrm>
        </p:spPr>
        <p:txBody>
          <a:bodyPr/>
          <a:lstStyle/>
          <a:p>
            <a:r>
              <a:rPr lang="es-CL" dirty="0"/>
              <a:t>Tensor deformación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F6739E-D53C-4884-B4CF-52B94442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3</a:t>
            </a:fld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48D6ED5-6584-48C2-8256-EB7AC619A6FE}"/>
                  </a:ext>
                </a:extLst>
              </p:cNvPr>
              <p:cNvSpPr txBox="1"/>
              <p:nvPr/>
            </p:nvSpPr>
            <p:spPr>
              <a:xfrm>
                <a:off x="227305" y="1436453"/>
                <a:ext cx="5532719" cy="1220847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s-CL" dirty="0">
                    <a:latin typeface="Century Schoolbook" panose="02040604050505020304" pitchFamily="18" charset="0"/>
                    <a:ea typeface="Cambria" panose="02040503050406030204" pitchFamily="18" charset="0"/>
                  </a:rPr>
                  <a:t>l: variación unitaria en longitud </a:t>
                </a:r>
                <a14:m>
                  <m:oMath xmlns:m="http://schemas.openxmlformats.org/officeDocument/2006/math">
                    <m:r>
                      <a:rPr lang="es-CL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s-CL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adimensional</m:t>
                    </m:r>
                    <m:r>
                      <a:rPr lang="es-CL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endParaRPr lang="es-CL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s-CL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𝑐𝑎𝑚𝑏𝑖𝑜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𝑑𝑒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𝑙𝑜𝑛𝑔𝑖𝑡𝑢𝑑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𝑙𝑜𝑛𝑔𝑖𝑡𝑢𝑑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𝑖𝑛𝑖𝑐𝑖𝑎𝑙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𝑑𝑦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𝑑𝑎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𝑑𝑎</m:t>
                          </m:r>
                        </m:den>
                      </m:f>
                      <m:r>
                        <a:rPr lang="es-CL" b="0" i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s-CL" b="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48D6ED5-6584-48C2-8256-EB7AC619A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05" y="1436453"/>
                <a:ext cx="5532719" cy="1220847"/>
              </a:xfrm>
              <a:prstGeom prst="rect">
                <a:avLst/>
              </a:prstGeom>
              <a:blipFill>
                <a:blip r:embed="rId2"/>
                <a:stretch>
                  <a:fillRect l="-769" t="-2475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4F02F03-AEF7-43C8-AE90-A55F83F01BBB}"/>
                  </a:ext>
                </a:extLst>
              </p:cNvPr>
              <p:cNvSpPr txBox="1"/>
              <p:nvPr/>
            </p:nvSpPr>
            <p:spPr>
              <a:xfrm>
                <a:off x="227305" y="3223054"/>
                <a:ext cx="5532720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s-CL" dirty="0">
                    <a:ea typeface="Cambria" panose="02040503050406030204" pitchFamily="18" charset="0"/>
                  </a:rPr>
                  <a:t> cambios unitarios de longitud según las direcciones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L" dirty="0"/>
                  <a:t>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L" dirty="0"/>
                  <a:t>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L" dirty="0">
                    <a:ea typeface="Cambria" panose="02040503050406030204" pitchFamily="18" charset="0"/>
                  </a:rPr>
                  <a:t>respectivamente.</a:t>
                </a: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4F02F03-AEF7-43C8-AE90-A55F83F01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05" y="3223054"/>
                <a:ext cx="5532720" cy="646331"/>
              </a:xfrm>
              <a:prstGeom prst="rect">
                <a:avLst/>
              </a:prstGeom>
              <a:blipFill>
                <a:blip r:embed="rId3"/>
                <a:stretch>
                  <a:fillRect l="-769" t="-4630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1D643D3-7A86-41AB-9C98-49B95D2CAD8E}"/>
                  </a:ext>
                </a:extLst>
              </p:cNvPr>
              <p:cNvSpPr txBox="1"/>
              <p:nvPr/>
            </p:nvSpPr>
            <p:spPr>
              <a:xfrm>
                <a:off x="638253" y="5079277"/>
                <a:ext cx="47108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1D643D3-7A86-41AB-9C98-49B95D2CA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53" y="5079277"/>
                <a:ext cx="4710822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n 20">
            <a:extLst>
              <a:ext uri="{FF2B5EF4-FFF2-40B4-BE49-F238E27FC236}">
                <a16:creationId xmlns:a16="http://schemas.microsoft.com/office/drawing/2014/main" id="{718BF148-6C12-467B-8FE0-301B6E5FD1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250" t="25116" r="51783" b="53644"/>
          <a:stretch/>
        </p:blipFill>
        <p:spPr>
          <a:xfrm>
            <a:off x="6904456" y="1261773"/>
            <a:ext cx="3497894" cy="190238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410E80A-FA55-4ADA-8D09-4EAE270B1D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201" t="25116" r="21513" b="53644"/>
          <a:stretch/>
        </p:blipFill>
        <p:spPr>
          <a:xfrm>
            <a:off x="5868569" y="3546220"/>
            <a:ext cx="4822464" cy="1902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4436EE4-603C-4DF2-9FD9-3B117E46BDE7}"/>
                  </a:ext>
                </a:extLst>
              </p:cNvPr>
              <p:cNvSpPr txBox="1"/>
              <p:nvPr/>
            </p:nvSpPr>
            <p:spPr>
              <a:xfrm>
                <a:off x="599095" y="4217032"/>
                <a:ext cx="5269474" cy="715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L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s-CL" dirty="0"/>
                            <m:t> </m:t>
                          </m:r>
                        </m:e>
                      </m:nary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4436EE4-603C-4DF2-9FD9-3B117E46B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95" y="4217032"/>
                <a:ext cx="5269474" cy="7152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4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1" grpId="0" animBg="1"/>
      <p:bldP spid="31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8542CD4C-BB9E-4B06-B16E-CEBC73CC1B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1" t="30515" r="49507" b="7450"/>
          <a:stretch/>
        </p:blipFill>
        <p:spPr>
          <a:xfrm>
            <a:off x="6272867" y="180187"/>
            <a:ext cx="4936550" cy="36711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6EF356-73A3-4557-BD0C-9728A3978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05" y="-68473"/>
            <a:ext cx="9692640" cy="1325562"/>
          </a:xfrm>
        </p:spPr>
        <p:txBody>
          <a:bodyPr/>
          <a:lstStyle/>
          <a:p>
            <a:r>
              <a:rPr lang="es-CL" dirty="0"/>
              <a:t>Tensor deformación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F6739E-D53C-4884-B4CF-52B94442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4</a:t>
            </a:fld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875A5875-A54E-4DF0-A04A-A1FD29B91C16}"/>
                  </a:ext>
                </a:extLst>
              </p:cNvPr>
              <p:cNvSpPr txBox="1"/>
              <p:nvPr/>
            </p:nvSpPr>
            <p:spPr>
              <a:xfrm>
                <a:off x="227305" y="1577089"/>
                <a:ext cx="5532720" cy="117051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L" b="0" dirty="0">
                  <a:ea typeface="Cambria" panose="02040503050406030204" pitchFamily="18" charset="0"/>
                </a:endParaRPr>
              </a:p>
              <a:p>
                <a:r>
                  <a:rPr lang="es-CL" dirty="0">
                    <a:latin typeface="Century Schoolbook" panose="02040604050505020304" pitchFamily="18" charset="0"/>
                    <a:ea typeface="Cambria" panose="02040503050406030204" pitchFamily="18" charset="0"/>
                  </a:rPr>
                  <a:t>es la semi rotación angular en el plano y2y3 de elementos </a:t>
                </a:r>
                <a:r>
                  <a:rPr lang="es-CL" b="1" u="sng" dirty="0">
                    <a:latin typeface="Century Schoolbook" panose="02040604050505020304" pitchFamily="18" charset="0"/>
                    <a:ea typeface="Cambria" panose="02040503050406030204" pitchFamily="18" charset="0"/>
                  </a:rPr>
                  <a:t>paralelos </a:t>
                </a:r>
                <a:r>
                  <a:rPr lang="es-CL" dirty="0">
                    <a:latin typeface="Century Schoolbook" panose="02040604050505020304" pitchFamily="18" charset="0"/>
                    <a:ea typeface="Cambria" panose="02040503050406030204" pitchFamily="18" charset="0"/>
                  </a:rPr>
                  <a:t>a los lados de la base y2 e y3</a:t>
                </a:r>
                <a:endParaRPr lang="es-CL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875A5875-A54E-4DF0-A04A-A1FD29B91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05" y="1577089"/>
                <a:ext cx="5532720" cy="1170513"/>
              </a:xfrm>
              <a:prstGeom prst="rect">
                <a:avLst/>
              </a:prstGeom>
              <a:blipFill>
                <a:blip r:embed="rId3"/>
                <a:stretch>
                  <a:fillRect l="-769" b="-6701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A9AF0A4-C682-41A0-A5B4-48B1B21DD4D9}"/>
              </a:ext>
            </a:extLst>
          </p:cNvPr>
          <p:cNvCxnSpPr>
            <a:cxnSpLocks/>
          </p:cNvCxnSpPr>
          <p:nvPr/>
        </p:nvCxnSpPr>
        <p:spPr>
          <a:xfrm>
            <a:off x="714374" y="5757862"/>
            <a:ext cx="222885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3697C13-BD11-4F8E-A6BA-378D2442661F}"/>
              </a:ext>
            </a:extLst>
          </p:cNvPr>
          <p:cNvCxnSpPr>
            <a:cxnSpLocks/>
          </p:cNvCxnSpPr>
          <p:nvPr/>
        </p:nvCxnSpPr>
        <p:spPr>
          <a:xfrm flipH="1" flipV="1">
            <a:off x="714374" y="4557712"/>
            <a:ext cx="1" cy="120015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238A37B-8E4F-428B-975C-252643FD731F}"/>
              </a:ext>
            </a:extLst>
          </p:cNvPr>
          <p:cNvCxnSpPr>
            <a:cxnSpLocks/>
          </p:cNvCxnSpPr>
          <p:nvPr/>
        </p:nvCxnSpPr>
        <p:spPr>
          <a:xfrm>
            <a:off x="752474" y="5760852"/>
            <a:ext cx="2901315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D582846-BCB2-4435-8D4C-E040503FA628}"/>
                  </a:ext>
                </a:extLst>
              </p:cNvPr>
              <p:cNvSpPr txBox="1"/>
              <p:nvPr/>
            </p:nvSpPr>
            <p:spPr>
              <a:xfrm>
                <a:off x="1201444" y="4349503"/>
                <a:ext cx="1227430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s-CL" dirty="0">
                    <a:ea typeface="Cambria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&gt;0</m:t>
                    </m:r>
                  </m:oMath>
                </a14:m>
                <a:endParaRPr lang="es-CL" b="0" dirty="0"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D582846-BCB2-4435-8D4C-E040503FA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444" y="4349503"/>
                <a:ext cx="1227430" cy="369332"/>
              </a:xfrm>
              <a:prstGeom prst="rect">
                <a:avLst/>
              </a:prstGeom>
              <a:blipFill>
                <a:blip r:embed="rId4"/>
                <a:stretch>
                  <a:fillRect l="-3448" t="-8065" b="-2419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B4DAB42-94E9-414B-AF22-1D1F1FC89A94}"/>
              </a:ext>
            </a:extLst>
          </p:cNvPr>
          <p:cNvCxnSpPr>
            <a:cxnSpLocks/>
          </p:cNvCxnSpPr>
          <p:nvPr/>
        </p:nvCxnSpPr>
        <p:spPr>
          <a:xfrm flipV="1">
            <a:off x="714374" y="5233987"/>
            <a:ext cx="2085976" cy="50587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667D1A40-B81A-4153-8158-2FE6888DD14E}"/>
                  </a:ext>
                </a:extLst>
              </p:cNvPr>
              <p:cNvSpPr txBox="1"/>
              <p:nvPr/>
            </p:nvSpPr>
            <p:spPr>
              <a:xfrm>
                <a:off x="3429000" y="5629645"/>
                <a:ext cx="9239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667D1A40-B81A-4153-8158-2FE6888DD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5629645"/>
                <a:ext cx="923925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9B333A70-0CFA-4510-A367-FFB897B65368}"/>
                  </a:ext>
                </a:extLst>
              </p:cNvPr>
              <p:cNvSpPr txBox="1"/>
              <p:nvPr/>
            </p:nvSpPr>
            <p:spPr>
              <a:xfrm>
                <a:off x="227305" y="4188381"/>
                <a:ext cx="9239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9B333A70-0CFA-4510-A367-FFB897B65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05" y="4188381"/>
                <a:ext cx="923925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lecha: curvada hacia la derecha 33">
            <a:extLst>
              <a:ext uri="{FF2B5EF4-FFF2-40B4-BE49-F238E27FC236}">
                <a16:creationId xmlns:a16="http://schemas.microsoft.com/office/drawing/2014/main" id="{0DC4A9AD-C1C3-4C3A-8A8F-FE41634D42DE}"/>
              </a:ext>
            </a:extLst>
          </p:cNvPr>
          <p:cNvSpPr/>
          <p:nvPr/>
        </p:nvSpPr>
        <p:spPr>
          <a:xfrm rot="9233556">
            <a:off x="2766832" y="5242354"/>
            <a:ext cx="156930" cy="45425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546F3A0-DD38-4C8F-95CB-A92E6972DC46}"/>
              </a:ext>
            </a:extLst>
          </p:cNvPr>
          <p:cNvSpPr txBox="1"/>
          <p:nvPr/>
        </p:nvSpPr>
        <p:spPr>
          <a:xfrm>
            <a:off x="441868" y="5629645"/>
            <a:ext cx="373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DF8CF15-9EAB-4AC3-87E0-BE7132EBC2C6}"/>
              </a:ext>
            </a:extLst>
          </p:cNvPr>
          <p:cNvSpPr txBox="1"/>
          <p:nvPr/>
        </p:nvSpPr>
        <p:spPr>
          <a:xfrm>
            <a:off x="2727868" y="5739857"/>
            <a:ext cx="373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688E5561-3313-4539-AE1C-CCE27B4B9219}"/>
                  </a:ext>
                </a:extLst>
              </p:cNvPr>
              <p:cNvSpPr txBox="1"/>
              <p:nvPr/>
            </p:nvSpPr>
            <p:spPr>
              <a:xfrm>
                <a:off x="2542902" y="4852664"/>
                <a:ext cx="373649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688E5561-3313-4539-AE1C-CCE27B4B9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902" y="4852664"/>
                <a:ext cx="373649" cy="369909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1FEADEA-82D9-4C30-A0FF-4A7606475685}"/>
              </a:ext>
            </a:extLst>
          </p:cNvPr>
          <p:cNvCxnSpPr>
            <a:cxnSpLocks/>
          </p:cNvCxnSpPr>
          <p:nvPr/>
        </p:nvCxnSpPr>
        <p:spPr>
          <a:xfrm>
            <a:off x="6228044" y="5731329"/>
            <a:ext cx="222885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D5D2C05-0D45-469F-87B4-3A476A3DA65D}"/>
              </a:ext>
            </a:extLst>
          </p:cNvPr>
          <p:cNvCxnSpPr>
            <a:cxnSpLocks/>
          </p:cNvCxnSpPr>
          <p:nvPr/>
        </p:nvCxnSpPr>
        <p:spPr>
          <a:xfrm flipH="1" flipV="1">
            <a:off x="6228044" y="4531179"/>
            <a:ext cx="1" cy="120015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53D1BDB-FC80-4642-9AD4-AD1D69D435E2}"/>
              </a:ext>
            </a:extLst>
          </p:cNvPr>
          <p:cNvCxnSpPr>
            <a:cxnSpLocks/>
          </p:cNvCxnSpPr>
          <p:nvPr/>
        </p:nvCxnSpPr>
        <p:spPr>
          <a:xfrm>
            <a:off x="6266144" y="5734319"/>
            <a:ext cx="2901315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5641C676-2D45-4A61-A984-36D7737E3C1C}"/>
              </a:ext>
            </a:extLst>
          </p:cNvPr>
          <p:cNvCxnSpPr>
            <a:cxnSpLocks/>
          </p:cNvCxnSpPr>
          <p:nvPr/>
        </p:nvCxnSpPr>
        <p:spPr>
          <a:xfrm>
            <a:off x="6228044" y="5732374"/>
            <a:ext cx="2130923" cy="59458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11329384-4E44-4833-83D9-4F9B3214CC69}"/>
                  </a:ext>
                </a:extLst>
              </p:cNvPr>
              <p:cNvSpPr txBox="1"/>
              <p:nvPr/>
            </p:nvSpPr>
            <p:spPr>
              <a:xfrm>
                <a:off x="8942670" y="5603112"/>
                <a:ext cx="9239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11329384-4E44-4833-83D9-4F9B3214C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670" y="5603112"/>
                <a:ext cx="923925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91B5F36C-8988-4772-8EAC-6A881F58E172}"/>
                  </a:ext>
                </a:extLst>
              </p:cNvPr>
              <p:cNvSpPr txBox="1"/>
              <p:nvPr/>
            </p:nvSpPr>
            <p:spPr>
              <a:xfrm>
                <a:off x="5740975" y="4161848"/>
                <a:ext cx="9239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91B5F36C-8988-4772-8EAC-6A881F58E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975" y="4161848"/>
                <a:ext cx="923925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lecha: curvada hacia la derecha 46">
            <a:extLst>
              <a:ext uri="{FF2B5EF4-FFF2-40B4-BE49-F238E27FC236}">
                <a16:creationId xmlns:a16="http://schemas.microsoft.com/office/drawing/2014/main" id="{19C4B16B-F636-469C-BFB8-C7B2F9AFA805}"/>
              </a:ext>
            </a:extLst>
          </p:cNvPr>
          <p:cNvSpPr/>
          <p:nvPr/>
        </p:nvSpPr>
        <p:spPr>
          <a:xfrm rot="21223920" flipH="1">
            <a:off x="8164563" y="5790993"/>
            <a:ext cx="153779" cy="45425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124E84E-4353-46D0-860F-8BF2F7488E94}"/>
              </a:ext>
            </a:extLst>
          </p:cNvPr>
          <p:cNvSpPr txBox="1"/>
          <p:nvPr/>
        </p:nvSpPr>
        <p:spPr>
          <a:xfrm>
            <a:off x="5955538" y="5603112"/>
            <a:ext cx="373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B605507-909C-435A-82B3-32ED0EB50647}"/>
              </a:ext>
            </a:extLst>
          </p:cNvPr>
          <p:cNvSpPr txBox="1"/>
          <p:nvPr/>
        </p:nvSpPr>
        <p:spPr>
          <a:xfrm>
            <a:off x="8241538" y="5713324"/>
            <a:ext cx="373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67452EC9-8993-4B3C-858E-2BDCD7F5197B}"/>
                  </a:ext>
                </a:extLst>
              </p:cNvPr>
              <p:cNvSpPr txBox="1"/>
              <p:nvPr/>
            </p:nvSpPr>
            <p:spPr>
              <a:xfrm>
                <a:off x="8113428" y="6284107"/>
                <a:ext cx="373649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67452EC9-8993-4B3C-858E-2BDCD7F51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428" y="6284107"/>
                <a:ext cx="373649" cy="369909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9B988DD-DBD3-42DD-A87F-3B8499402F47}"/>
                  </a:ext>
                </a:extLst>
              </p:cNvPr>
              <p:cNvSpPr txBox="1"/>
              <p:nvPr/>
            </p:nvSpPr>
            <p:spPr>
              <a:xfrm>
                <a:off x="6679790" y="4402519"/>
                <a:ext cx="1227430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s-CL" dirty="0">
                    <a:ea typeface="Cambria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&lt;0</m:t>
                    </m:r>
                  </m:oMath>
                </a14:m>
                <a:endParaRPr lang="es-CL" b="0" dirty="0"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9B988DD-DBD3-42DD-A87F-3B8499402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790" y="4402519"/>
                <a:ext cx="1227430" cy="369332"/>
              </a:xfrm>
              <a:prstGeom prst="rect">
                <a:avLst/>
              </a:prstGeom>
              <a:blipFill>
                <a:blip r:embed="rId11"/>
                <a:stretch>
                  <a:fillRect l="-3941" t="-6349" b="-22222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45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6" grpId="0"/>
      <p:bldP spid="24" grpId="0"/>
      <p:bldP spid="34" grpId="0" animBg="1"/>
      <p:bldP spid="36" grpId="0"/>
      <p:bldP spid="38" grpId="0"/>
      <p:bldP spid="40" grpId="0"/>
      <p:bldP spid="45" grpId="0"/>
      <p:bldP spid="46" grpId="0"/>
      <p:bldP spid="47" grpId="0" animBg="1"/>
      <p:bldP spid="48" grpId="0"/>
      <p:bldP spid="49" grpId="0"/>
      <p:bldP spid="50" grpId="0"/>
      <p:bldP spid="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568F6-59D4-401B-88D4-55704E30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Deformaciones de corte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AFDA3B-7DB4-403A-B686-2F38482A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5</a:t>
            </a:fld>
            <a:endParaRPr lang="es-CL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950DD5A-2AD0-4077-B2A4-52F2F5EE8484}"/>
              </a:ext>
            </a:extLst>
          </p:cNvPr>
          <p:cNvCxnSpPr>
            <a:cxnSpLocks/>
          </p:cNvCxnSpPr>
          <p:nvPr/>
        </p:nvCxnSpPr>
        <p:spPr>
          <a:xfrm>
            <a:off x="1964294" y="2334591"/>
            <a:ext cx="0" cy="32400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C883B33-49B7-4CD0-B978-0DFA7B0EC90C}"/>
              </a:ext>
            </a:extLst>
          </p:cNvPr>
          <p:cNvCxnSpPr>
            <a:cxnSpLocks/>
          </p:cNvCxnSpPr>
          <p:nvPr/>
        </p:nvCxnSpPr>
        <p:spPr>
          <a:xfrm>
            <a:off x="1990776" y="5563566"/>
            <a:ext cx="379214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12D76FA-3BCA-4B6D-BB0F-C6DD8AA61F73}"/>
              </a:ext>
            </a:extLst>
          </p:cNvPr>
          <p:cNvCxnSpPr>
            <a:cxnSpLocks/>
          </p:cNvCxnSpPr>
          <p:nvPr/>
        </p:nvCxnSpPr>
        <p:spPr>
          <a:xfrm flipH="1">
            <a:off x="666750" y="5563566"/>
            <a:ext cx="1324026" cy="55245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96D1957-5730-43A6-AF27-4A0E393FC9B1}"/>
                  </a:ext>
                </a:extLst>
              </p:cNvPr>
              <p:cNvSpPr txBox="1"/>
              <p:nvPr/>
            </p:nvSpPr>
            <p:spPr>
              <a:xfrm>
                <a:off x="666750" y="6040616"/>
                <a:ext cx="28575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96D1957-5730-43A6-AF27-4A0E393FC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6040616"/>
                <a:ext cx="285750" cy="276999"/>
              </a:xfrm>
              <a:prstGeom prst="rect">
                <a:avLst/>
              </a:prstGeom>
              <a:blipFill>
                <a:blip r:embed="rId2"/>
                <a:stretch>
                  <a:fillRect l="-19149" r="-6383" b="-3111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65022D3-CADA-429F-9F74-1A191E3A43C9}"/>
                  </a:ext>
                </a:extLst>
              </p:cNvPr>
              <p:cNvSpPr txBox="1"/>
              <p:nvPr/>
            </p:nvSpPr>
            <p:spPr>
              <a:xfrm>
                <a:off x="5809400" y="5436091"/>
                <a:ext cx="355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65022D3-CADA-429F-9F74-1A191E3A4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00" y="5436091"/>
                <a:ext cx="355290" cy="276999"/>
              </a:xfrm>
              <a:prstGeom prst="rect">
                <a:avLst/>
              </a:prstGeom>
              <a:blipFill>
                <a:blip r:embed="rId3"/>
                <a:stretch>
                  <a:fillRect l="-6897" b="-3111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11A2AE3-F477-4989-AEDD-193E6502F7BA}"/>
                  </a:ext>
                </a:extLst>
              </p:cNvPr>
              <p:cNvSpPr txBox="1"/>
              <p:nvPr/>
            </p:nvSpPr>
            <p:spPr>
              <a:xfrm>
                <a:off x="1990776" y="2110226"/>
                <a:ext cx="355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11A2AE3-F477-4989-AEDD-193E6502F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76" y="2110226"/>
                <a:ext cx="355290" cy="276999"/>
              </a:xfrm>
              <a:prstGeom prst="rect">
                <a:avLst/>
              </a:prstGeom>
              <a:blipFill>
                <a:blip r:embed="rId4"/>
                <a:stretch>
                  <a:fillRect l="-6897" b="-2826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2E0BC434-0C25-488D-81D1-D27297F5A65A}"/>
              </a:ext>
            </a:extLst>
          </p:cNvPr>
          <p:cNvSpPr txBox="1"/>
          <p:nvPr/>
        </p:nvSpPr>
        <p:spPr>
          <a:xfrm>
            <a:off x="3196198" y="386704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D9083EC-A862-4257-BA34-A54EE0214C76}"/>
              </a:ext>
            </a:extLst>
          </p:cNvPr>
          <p:cNvSpPr txBox="1"/>
          <p:nvPr/>
        </p:nvSpPr>
        <p:spPr>
          <a:xfrm>
            <a:off x="5215556" y="3395586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66A18DF-9E32-44CC-8A02-F4B200E89FCA}"/>
              </a:ext>
            </a:extLst>
          </p:cNvPr>
          <p:cNvSpPr/>
          <p:nvPr/>
        </p:nvSpPr>
        <p:spPr>
          <a:xfrm>
            <a:off x="5143556" y="346862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18B2061-7909-45E7-A84E-B6253CCA9499}"/>
              </a:ext>
            </a:extLst>
          </p:cNvPr>
          <p:cNvSpPr/>
          <p:nvPr/>
        </p:nvSpPr>
        <p:spPr>
          <a:xfrm>
            <a:off x="3544445" y="407286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96FD87-21BA-494D-A8F1-A54C7929ED11}"/>
              </a:ext>
            </a:extLst>
          </p:cNvPr>
          <p:cNvSpPr txBox="1"/>
          <p:nvPr/>
        </p:nvSpPr>
        <p:spPr>
          <a:xfrm>
            <a:off x="3873539" y="2442766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56FA269-3467-4607-BE5D-F753C60E1675}"/>
              </a:ext>
            </a:extLst>
          </p:cNvPr>
          <p:cNvSpPr/>
          <p:nvPr/>
        </p:nvSpPr>
        <p:spPr>
          <a:xfrm>
            <a:off x="4001206" y="275102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C8F91B9-FF97-4DA7-801A-5CFB92EEB111}"/>
              </a:ext>
            </a:extLst>
          </p:cNvPr>
          <p:cNvCxnSpPr>
            <a:cxnSpLocks/>
          </p:cNvCxnSpPr>
          <p:nvPr/>
        </p:nvCxnSpPr>
        <p:spPr>
          <a:xfrm flipV="1">
            <a:off x="3592452" y="3523154"/>
            <a:ext cx="1578229" cy="585874"/>
          </a:xfrm>
          <a:prstGeom prst="line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27B45604-9E2C-4CA2-B2AB-38D9774A7059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580445" y="2817312"/>
            <a:ext cx="456761" cy="1255550"/>
          </a:xfrm>
          <a:prstGeom prst="line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C1018F9-2DDC-459F-8E73-60EB888B7159}"/>
                  </a:ext>
                </a:extLst>
              </p:cNvPr>
              <p:cNvSpPr txBox="1"/>
              <p:nvPr/>
            </p:nvSpPr>
            <p:spPr>
              <a:xfrm>
                <a:off x="6938552" y="3721430"/>
                <a:ext cx="3686937" cy="2629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Si los elementos NO son inicialmente paralelos a los lados de la base:</a:t>
                </a:r>
              </a:p>
              <a:p>
                <a:endParaRPr lang="es-CL" dirty="0"/>
              </a:p>
              <a:p>
                <a:r>
                  <a:rPr lang="es-CL" dirty="0"/>
                  <a:t>Se debe calcular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𝑙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s-CL" dirty="0"/>
                  <a:t>en una nueva base’ para PQ</a:t>
                </a:r>
              </a:p>
              <a:p>
                <a:endParaRPr lang="es-CL" dirty="0"/>
              </a:p>
              <a:p>
                <a:r>
                  <a:rPr lang="es-CL" dirty="0"/>
                  <a:t>Se debe calcular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𝑙</m:t>
                        </m:r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s-CL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CL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s-CL" dirty="0"/>
                  <a:t>en una </a:t>
                </a:r>
                <a:r>
                  <a:rPr lang="es-CL"/>
                  <a:t>nueva base’’ </a:t>
                </a:r>
                <a:r>
                  <a:rPr lang="es-CL" dirty="0"/>
                  <a:t>para PR</a:t>
                </a:r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C1018F9-2DDC-459F-8E73-60EB888B7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552" y="3721430"/>
                <a:ext cx="3686937" cy="2629951"/>
              </a:xfrm>
              <a:prstGeom prst="rect">
                <a:avLst/>
              </a:prstGeom>
              <a:blipFill>
                <a:blip r:embed="rId5"/>
                <a:stretch>
                  <a:fillRect l="-1322" t="-1157" r="-82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A8FE9D0-BA93-4F4C-88A7-C8D01CD6C49A}"/>
              </a:ext>
            </a:extLst>
          </p:cNvPr>
          <p:cNvCxnSpPr>
            <a:cxnSpLocks/>
          </p:cNvCxnSpPr>
          <p:nvPr/>
        </p:nvCxnSpPr>
        <p:spPr>
          <a:xfrm flipV="1">
            <a:off x="3604299" y="3221904"/>
            <a:ext cx="2383930" cy="870982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349FD17-0B60-4824-B2DC-675BF84E6AF9}"/>
                  </a:ext>
                </a:extLst>
              </p:cNvPr>
              <p:cNvSpPr txBox="1"/>
              <p:nvPr/>
            </p:nvSpPr>
            <p:spPr>
              <a:xfrm>
                <a:off x="6015287" y="2997840"/>
                <a:ext cx="355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349FD17-0B60-4824-B2DC-675BF84E6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287" y="2997840"/>
                <a:ext cx="355290" cy="276999"/>
              </a:xfrm>
              <a:prstGeom prst="rect">
                <a:avLst/>
              </a:prstGeom>
              <a:blipFill>
                <a:blip r:embed="rId8"/>
                <a:stretch>
                  <a:fillRect l="-15517" r="-5172" b="-3111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2712B89-693C-40E6-B63D-DA7F9FD560D2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2649083" y="2599859"/>
            <a:ext cx="931362" cy="1473003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9D0AFE7-4E2C-4E50-A236-1946F11ADF32}"/>
                  </a:ext>
                </a:extLst>
              </p:cNvPr>
              <p:cNvSpPr txBox="1"/>
              <p:nvPr/>
            </p:nvSpPr>
            <p:spPr>
              <a:xfrm>
                <a:off x="2293793" y="2461359"/>
                <a:ext cx="355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9D0AFE7-4E2C-4E50-A236-1946F11A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793" y="2461359"/>
                <a:ext cx="355290" cy="276999"/>
              </a:xfrm>
              <a:prstGeom prst="rect">
                <a:avLst/>
              </a:prstGeom>
              <a:blipFill>
                <a:blip r:embed="rId9"/>
                <a:stretch>
                  <a:fillRect l="-15254" r="-5085" b="-3111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F636D6E-0A17-4C25-A9DD-6FE50A4BDA59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580445" y="2110226"/>
            <a:ext cx="684788" cy="1962636"/>
          </a:xfrm>
          <a:prstGeom prst="straightConnector1">
            <a:avLst/>
          </a:prstGeom>
          <a:ln>
            <a:solidFill>
              <a:srgbClr val="00B05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6611D6DE-B7F6-4253-A449-CAF5CE15A94F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1393001" y="3221904"/>
            <a:ext cx="2161988" cy="861502"/>
          </a:xfrm>
          <a:prstGeom prst="straightConnector1">
            <a:avLst/>
          </a:prstGeom>
          <a:ln>
            <a:solidFill>
              <a:srgbClr val="00B05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605D6588-5B87-43AE-BB23-EB9EC1629386}"/>
                  </a:ext>
                </a:extLst>
              </p:cNvPr>
              <p:cNvSpPr txBox="1"/>
              <p:nvPr/>
            </p:nvSpPr>
            <p:spPr>
              <a:xfrm>
                <a:off x="1261872" y="2856118"/>
                <a:ext cx="355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605D6588-5B87-43AE-BB23-EB9EC1629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872" y="2856118"/>
                <a:ext cx="355290" cy="276999"/>
              </a:xfrm>
              <a:prstGeom prst="rect">
                <a:avLst/>
              </a:prstGeom>
              <a:blipFill>
                <a:blip r:embed="rId10"/>
                <a:stretch>
                  <a:fillRect l="-20690" r="-8621" b="-3111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1ABC73AC-75BD-49D5-8FF6-708A1EDB7F43}"/>
                  </a:ext>
                </a:extLst>
              </p:cNvPr>
              <p:cNvSpPr txBox="1"/>
              <p:nvPr/>
            </p:nvSpPr>
            <p:spPr>
              <a:xfrm>
                <a:off x="4265233" y="1833227"/>
                <a:ext cx="355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1ABC73AC-75BD-49D5-8FF6-708A1EDB7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233" y="1833227"/>
                <a:ext cx="355290" cy="276999"/>
              </a:xfrm>
              <a:prstGeom prst="rect">
                <a:avLst/>
              </a:prstGeom>
              <a:blipFill>
                <a:blip r:embed="rId11"/>
                <a:stretch>
                  <a:fillRect l="-27586" r="-8621" b="-40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DCAE1C4-AC20-45A2-B78A-237A91C74CBE}"/>
                  </a:ext>
                </a:extLst>
              </p:cNvPr>
              <p:cNvSpPr txBox="1"/>
              <p:nvPr/>
            </p:nvSpPr>
            <p:spPr>
              <a:xfrm>
                <a:off x="6804837" y="1833227"/>
                <a:ext cx="4309445" cy="144751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L" b="0" dirty="0">
                  <a:ea typeface="Cambria" panose="02040503050406030204" pitchFamily="18" charset="0"/>
                </a:endParaRPr>
              </a:p>
              <a:p>
                <a:r>
                  <a:rPr lang="es-CL" dirty="0">
                    <a:latin typeface="Century Schoolbook" panose="02040604050505020304" pitchFamily="18" charset="0"/>
                    <a:ea typeface="Cambria" panose="02040503050406030204" pitchFamily="18" charset="0"/>
                  </a:rPr>
                  <a:t>es la semi rotación angular en el plano y2y3 de elementos </a:t>
                </a:r>
                <a:r>
                  <a:rPr lang="es-CL" b="1" u="sng" dirty="0">
                    <a:latin typeface="Century Schoolbook" panose="02040604050505020304" pitchFamily="18" charset="0"/>
                    <a:ea typeface="Cambria" panose="02040503050406030204" pitchFamily="18" charset="0"/>
                  </a:rPr>
                  <a:t>paralelos </a:t>
                </a:r>
                <a:r>
                  <a:rPr lang="es-CL" dirty="0">
                    <a:latin typeface="Century Schoolbook" panose="02040604050505020304" pitchFamily="18" charset="0"/>
                    <a:ea typeface="Cambria" panose="02040503050406030204" pitchFamily="18" charset="0"/>
                  </a:rPr>
                  <a:t>a los lados de la base y2 e y3</a:t>
                </a:r>
                <a:endParaRPr lang="es-CL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DCAE1C4-AC20-45A2-B78A-237A91C74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837" y="1833227"/>
                <a:ext cx="4309445" cy="1447512"/>
              </a:xfrm>
              <a:prstGeom prst="rect">
                <a:avLst/>
              </a:prstGeom>
              <a:blipFill>
                <a:blip r:embed="rId12"/>
                <a:stretch>
                  <a:fillRect l="-987" r="-1269" b="-5439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80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3" grpId="0"/>
      <p:bldP spid="54" grpId="0"/>
      <p:bldP spid="73" grpId="0"/>
      <p:bldP spid="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3132A-240C-4A9E-9A92-104F8366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452" y="-269080"/>
            <a:ext cx="9692640" cy="1325562"/>
          </a:xfrm>
        </p:spPr>
        <p:txBody>
          <a:bodyPr/>
          <a:lstStyle/>
          <a:p>
            <a:r>
              <a:rPr lang="es-CL" dirty="0"/>
              <a:t>Ejercicio 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91C687A-17E1-40EF-A4FD-6C74F08AD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094" y="1269268"/>
                <a:ext cx="7785201" cy="3303849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L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CL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s-CL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Mediante dos métodos determine:</a:t>
                </a:r>
              </a:p>
              <a:p>
                <a:r>
                  <a:rPr lang="es-CL" dirty="0"/>
                  <a:t>Largo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s-CL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es-CL" dirty="0"/>
                  <a:t> mediante 2 métodos. Sabiendo que el largo inicial PQ=5cm y PR=7cm</a:t>
                </a:r>
              </a:p>
              <a:p>
                <a:r>
                  <a:rPr lang="es-CL" dirty="0"/>
                  <a:t>El ángulo </a:t>
                </a:r>
                <a14:m>
                  <m:oMath xmlns:m="http://schemas.openxmlformats.org/officeDocument/2006/math">
                    <m:r>
                      <a:rPr lang="es-C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s-CL" dirty="0"/>
                  <a:t>PQR durante la deformación</a:t>
                </a:r>
              </a:p>
              <a:p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Solución</a:t>
                </a:r>
                <a:br>
                  <a:rPr lang="es-CL" dirty="0"/>
                </a:br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Dado que los elemento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s-CL" dirty="0"/>
                  <a:t>  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es-CL" dirty="0"/>
                  <a:t> no son paralelos a la base, debemos pasar cada uno de ellos a una base donde si sean paralelos. Primero trabajaremos con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es-CL" dirty="0"/>
                  <a:t> :</a:t>
                </a:r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91C687A-17E1-40EF-A4FD-6C74F08AD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094" y="1269268"/>
                <a:ext cx="7785201" cy="3303849"/>
              </a:xfrm>
              <a:blipFill>
                <a:blip r:embed="rId2"/>
                <a:stretch>
                  <a:fillRect l="-626" r="-31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50962E2-38C9-459F-BEB4-D3209446517E}"/>
              </a:ext>
            </a:extLst>
          </p:cNvPr>
          <p:cNvCxnSpPr>
            <a:cxnSpLocks/>
            <a:endCxn id="48" idx="3"/>
          </p:cNvCxnSpPr>
          <p:nvPr/>
        </p:nvCxnSpPr>
        <p:spPr>
          <a:xfrm flipV="1">
            <a:off x="8508995" y="1711441"/>
            <a:ext cx="1484487" cy="48804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D2C7791-24CD-433A-8993-BAAC5F835AB6}"/>
              </a:ext>
            </a:extLst>
          </p:cNvPr>
          <p:cNvCxnSpPr>
            <a:cxnSpLocks/>
          </p:cNvCxnSpPr>
          <p:nvPr/>
        </p:nvCxnSpPr>
        <p:spPr>
          <a:xfrm flipV="1">
            <a:off x="8486775" y="1056482"/>
            <a:ext cx="1228725" cy="117000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6AC56EC-97FF-4EB0-AF6E-EB3EC2D6B8FA}"/>
              </a:ext>
            </a:extLst>
          </p:cNvPr>
          <p:cNvCxnSpPr/>
          <p:nvPr/>
        </p:nvCxnSpPr>
        <p:spPr>
          <a:xfrm>
            <a:off x="8486775" y="2205310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601E75A-1F0D-495E-A48A-08A14AA797DB}"/>
              </a:ext>
            </a:extLst>
          </p:cNvPr>
          <p:cNvCxnSpPr/>
          <p:nvPr/>
        </p:nvCxnSpPr>
        <p:spPr>
          <a:xfrm flipV="1">
            <a:off x="8486775" y="759482"/>
            <a:ext cx="0" cy="14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34C3F9B-330B-4FA9-BDB5-285792942CA3}"/>
                  </a:ext>
                </a:extLst>
              </p:cNvPr>
              <p:cNvSpPr txBox="1"/>
              <p:nvPr/>
            </p:nvSpPr>
            <p:spPr>
              <a:xfrm flipH="1">
                <a:off x="10549397" y="2066568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34C3F9B-330B-4FA9-BDB5-285792942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549397" y="2066568"/>
                <a:ext cx="721847" cy="319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B2927CF-1B28-4BC4-A375-C1459F808D47}"/>
                  </a:ext>
                </a:extLst>
              </p:cNvPr>
              <p:cNvSpPr txBox="1"/>
              <p:nvPr/>
            </p:nvSpPr>
            <p:spPr>
              <a:xfrm flipH="1">
                <a:off x="8331664" y="667265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B2927CF-1B28-4BC4-A375-C1459F808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31664" y="667265"/>
                <a:ext cx="721847" cy="319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627A313-5201-4FC1-BE22-30AD805002AE}"/>
                  </a:ext>
                </a:extLst>
              </p:cNvPr>
              <p:cNvSpPr txBox="1"/>
              <p:nvPr/>
            </p:nvSpPr>
            <p:spPr>
              <a:xfrm>
                <a:off x="8313122" y="1411922"/>
                <a:ext cx="824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s-C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627A313-5201-4FC1-BE22-30AD80500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122" y="1411922"/>
                <a:ext cx="82480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D5B10524-0B97-406E-9169-8F109C58ACDA}"/>
                  </a:ext>
                </a:extLst>
              </p:cNvPr>
              <p:cNvSpPr txBox="1"/>
              <p:nvPr/>
            </p:nvSpPr>
            <p:spPr>
              <a:xfrm>
                <a:off x="8923826" y="1604940"/>
                <a:ext cx="791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s-C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D5B10524-0B97-406E-9169-8F109C58A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826" y="1604940"/>
                <a:ext cx="7910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uadroTexto 39">
            <a:extLst>
              <a:ext uri="{FF2B5EF4-FFF2-40B4-BE49-F238E27FC236}">
                <a16:creationId xmlns:a16="http://schemas.microsoft.com/office/drawing/2014/main" id="{0C2A66A6-503B-4FB2-B0B6-DEFD52D4C896}"/>
              </a:ext>
            </a:extLst>
          </p:cNvPr>
          <p:cNvSpPr txBox="1"/>
          <p:nvPr/>
        </p:nvSpPr>
        <p:spPr>
          <a:xfrm flipH="1">
            <a:off x="9615948" y="794870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7782AFF-4D80-4478-8481-6B025637729B}"/>
              </a:ext>
            </a:extLst>
          </p:cNvPr>
          <p:cNvSpPr txBox="1"/>
          <p:nvPr/>
        </p:nvSpPr>
        <p:spPr>
          <a:xfrm flipH="1">
            <a:off x="9993482" y="1555757"/>
            <a:ext cx="573207" cy="311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Q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A51BC07-DB76-49AA-9622-0A514D946C2D}"/>
              </a:ext>
            </a:extLst>
          </p:cNvPr>
          <p:cNvSpPr txBox="1"/>
          <p:nvPr/>
        </p:nvSpPr>
        <p:spPr>
          <a:xfrm flipH="1">
            <a:off x="8278250" y="2191959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BE0C59B1-06A8-4077-859C-DE67CEBECDCD}"/>
              </a:ext>
            </a:extLst>
          </p:cNvPr>
          <p:cNvCxnSpPr>
            <a:cxnSpLocks/>
          </p:cNvCxnSpPr>
          <p:nvPr/>
        </p:nvCxnSpPr>
        <p:spPr>
          <a:xfrm flipV="1">
            <a:off x="7280270" y="5238821"/>
            <a:ext cx="1593269" cy="68439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956AF67B-A0A0-4E60-8CB8-253458B956CB}"/>
              </a:ext>
            </a:extLst>
          </p:cNvPr>
          <p:cNvCxnSpPr/>
          <p:nvPr/>
        </p:nvCxnSpPr>
        <p:spPr>
          <a:xfrm flipV="1">
            <a:off x="7258050" y="4483213"/>
            <a:ext cx="0" cy="14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CD363465-BF9C-4DCB-9F76-8B98290D6E8A}"/>
                  </a:ext>
                </a:extLst>
              </p:cNvPr>
              <p:cNvSpPr txBox="1"/>
              <p:nvPr/>
            </p:nvSpPr>
            <p:spPr>
              <a:xfrm flipH="1">
                <a:off x="9320672" y="5790299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CD363465-BF9C-4DCB-9F76-8B98290D6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320672" y="5790299"/>
                <a:ext cx="721847" cy="3198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A2089C3-7672-408F-A88A-D9F6C26CCA2F}"/>
                  </a:ext>
                </a:extLst>
              </p:cNvPr>
              <p:cNvSpPr txBox="1"/>
              <p:nvPr/>
            </p:nvSpPr>
            <p:spPr>
              <a:xfrm flipH="1">
                <a:off x="7102939" y="4390996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A2089C3-7672-408F-A88A-D9F6C26CC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02939" y="4390996"/>
                <a:ext cx="721847" cy="3198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3200E21D-B265-4A80-81B5-46A75B4F8808}"/>
                  </a:ext>
                </a:extLst>
              </p:cNvPr>
              <p:cNvSpPr txBox="1"/>
              <p:nvPr/>
            </p:nvSpPr>
            <p:spPr>
              <a:xfrm>
                <a:off x="7524244" y="5605633"/>
                <a:ext cx="13625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20°</m:t>
                      </m:r>
                    </m:oMath>
                  </m:oMathPara>
                </a14:m>
                <a:endParaRPr lang="es-C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3200E21D-B265-4A80-81B5-46A75B4F8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244" y="5605633"/>
                <a:ext cx="13625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CuadroTexto 61">
            <a:extLst>
              <a:ext uri="{FF2B5EF4-FFF2-40B4-BE49-F238E27FC236}">
                <a16:creationId xmlns:a16="http://schemas.microsoft.com/office/drawing/2014/main" id="{C7B035A7-822C-4E8F-B1A0-DDEB2AFE1EBF}"/>
              </a:ext>
            </a:extLst>
          </p:cNvPr>
          <p:cNvSpPr txBox="1"/>
          <p:nvPr/>
        </p:nvSpPr>
        <p:spPr>
          <a:xfrm flipH="1">
            <a:off x="8817718" y="4883367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Q</a:t>
            </a: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546A753B-DCAD-4536-A787-8294B5DD6394}"/>
              </a:ext>
            </a:extLst>
          </p:cNvPr>
          <p:cNvCxnSpPr/>
          <p:nvPr/>
        </p:nvCxnSpPr>
        <p:spPr>
          <a:xfrm>
            <a:off x="7280270" y="5928248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FB526D1A-F0B0-4FD2-B7F6-D767F3B30C46}"/>
              </a:ext>
            </a:extLst>
          </p:cNvPr>
          <p:cNvCxnSpPr>
            <a:cxnSpLocks/>
          </p:cNvCxnSpPr>
          <p:nvPr/>
        </p:nvCxnSpPr>
        <p:spPr>
          <a:xfrm flipV="1">
            <a:off x="7309770" y="5004195"/>
            <a:ext cx="2090487" cy="907101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03D32E84-D653-4B04-B78B-825E97D551BB}"/>
                  </a:ext>
                </a:extLst>
              </p:cNvPr>
              <p:cNvSpPr txBox="1"/>
              <p:nvPr/>
            </p:nvSpPr>
            <p:spPr>
              <a:xfrm>
                <a:off x="9230361" y="4807846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03D32E84-D653-4B04-B78B-825E97D55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361" y="4807846"/>
                <a:ext cx="721847" cy="276999"/>
              </a:xfrm>
              <a:prstGeom prst="rect">
                <a:avLst/>
              </a:prstGeom>
              <a:blipFill>
                <a:blip r:embed="rId10"/>
                <a:stretch>
                  <a:fillRect t="-8889" b="-3777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3228C62E-95DB-471C-B28F-AB548B6B888D}"/>
              </a:ext>
            </a:extLst>
          </p:cNvPr>
          <p:cNvCxnSpPr>
            <a:cxnSpLocks/>
          </p:cNvCxnSpPr>
          <p:nvPr/>
        </p:nvCxnSpPr>
        <p:spPr>
          <a:xfrm flipH="1" flipV="1">
            <a:off x="6330658" y="4424534"/>
            <a:ext cx="931362" cy="1473003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C0D393A8-3261-4FA9-B8D4-F5D885965D38}"/>
                  </a:ext>
                </a:extLst>
              </p:cNvPr>
              <p:cNvSpPr txBox="1"/>
              <p:nvPr/>
            </p:nvSpPr>
            <p:spPr>
              <a:xfrm>
                <a:off x="6307703" y="4273920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C0D393A8-3261-4FA9-B8D4-F5D885965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703" y="4273920"/>
                <a:ext cx="721847" cy="276999"/>
              </a:xfrm>
              <a:prstGeom prst="rect">
                <a:avLst/>
              </a:prstGeom>
              <a:blipFill>
                <a:blip r:embed="rId11"/>
                <a:stretch>
                  <a:fillRect t="-4348" b="-3913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81D91D98-7B5C-4B34-BD5B-57B3A2C057A3}"/>
              </a:ext>
            </a:extLst>
          </p:cNvPr>
          <p:cNvSpPr txBox="1"/>
          <p:nvPr/>
        </p:nvSpPr>
        <p:spPr>
          <a:xfrm flipH="1">
            <a:off x="6988305" y="5897537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87195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5" grpId="0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119062"/>
                <a:ext cx="11487150" cy="6619875"/>
              </a:xfrm>
            </p:spPr>
            <p:txBody>
              <a:bodyPr>
                <a:normAutofit/>
              </a:bodyPr>
              <a:lstStyle/>
              <a:p>
                <a:r>
                  <a:rPr lang="es-CL" sz="1700" dirty="0"/>
                  <a:t>Para conocer el alargamiento del elemento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  <m:r>
                      <a:rPr lang="es-CL" sz="17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L" sz="1700" dirty="0"/>
                  <a:t> debemos encontrar la componente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CL" sz="17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s-CL" sz="1700" dirty="0"/>
                  <a:t> Esto implica conocer el tensor de deformación en la base original y la matriz de cosenos directores</a:t>
                </a:r>
              </a:p>
              <a:p>
                <a:pPr marL="0" indent="0">
                  <a:buNone/>
                </a:pPr>
                <a:r>
                  <a:rPr lang="es-CL" sz="17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340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340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.94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.34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.34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0.94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dirty="0"/>
                  <a:t>Aplicando la ley directa:</a:t>
                </a:r>
                <a:endParaRPr lang="es-CL" sz="1700" b="0" dirty="0"/>
              </a:p>
              <a:p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𝑖𝑟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</m:oMath>
                  </m:oMathPara>
                </a14:m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b="0" dirty="0">
                    <a:latin typeface="Cambria Math" panose="02040503050406030204" pitchFamily="18" charset="0"/>
                  </a:rPr>
                  <a:t>Reemplazando r=1,2,3: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Reemplazando s=1,2,3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Necesitamos encontrar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s-CL" sz="1700" dirty="0"/>
                  <a:t>, por tanto remplazaremos i= j=1</a:t>
                </a:r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Pero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lang="es-CL" sz="1700" dirty="0"/>
                  <a:t>=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s-CL" sz="17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  <m:t>0.94</m:t>
                              </m:r>
                            </m:e>
                            <m:sup>
                              <m: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2∙</m:t>
                          </m:r>
                          <m: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4∙0.34∙5+</m:t>
                          </m:r>
                          <m:sSup>
                            <m:sSupPr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CL" sz="17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L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s-CL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=4.8×</m:t>
                      </m:r>
                      <m:sSup>
                        <m:sSup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𝑃𝑄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𝑃𝑄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es-C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4.8×</m:t>
                          </m:r>
                          <m:sSup>
                            <m:sSupPr>
                              <m:ctrlP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e>
                      </m:d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=5,24 </m:t>
                      </m:r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L" sz="17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119062"/>
                <a:ext cx="11487150" cy="6619875"/>
              </a:xfrm>
              <a:blipFill>
                <a:blip r:embed="rId2"/>
                <a:stretch>
                  <a:fillRect l="-372" t="-73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23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CF14E20-B799-42C1-98DE-589934E78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9268" y="30013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8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CL" sz="18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CL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𝑃𝑄</m:t>
                          </m:r>
                        </m:sub>
                      </m:sSub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s-CL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CL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20,</m:t>
                          </m:r>
                        </m:e>
                      </m:func>
                      <m:func>
                        <m:func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sin</m:t>
                          </m:r>
                        </m:fName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20</m:t>
                          </m:r>
                        </m:e>
                      </m:func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,0)=(0.94,0.34,0)</m:t>
                      </m:r>
                    </m:oMath>
                  </m:oMathPara>
                </a14:m>
                <a:endParaRPr lang="es-CL" sz="18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1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s-CL" sz="18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L" sz="1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𝑗</m:t>
                    </m:r>
                    <m:r>
                      <a:rPr lang="es-CL" sz="1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=1,2</m:t>
                    </m:r>
                  </m:oMath>
                </a14:m>
                <a:endParaRPr lang="es-CL" sz="18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8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L" sz="1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  <m:r>
                      <a:rPr lang="es-CL" sz="1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=1,2</m:t>
                    </m:r>
                  </m:oMath>
                </a14:m>
                <a:endParaRPr lang="es-CL" sz="18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800" b="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s-CL" sz="1800" b="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+2</m:t>
                      </m:r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L" sz="1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CL" sz="180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s-CL" sz="180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s-CL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L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1800" b="0" i="1" smtClean="0">
                                      <a:latin typeface="Cambria Math" panose="02040503050406030204" pitchFamily="18" charset="0"/>
                                    </a:rPr>
                                    <m:t>0.94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5)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94∙0.34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7∙</m:t>
                          </m:r>
                          <m:sSup>
                            <m:sSupPr>
                              <m:ctrlP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34</m:t>
                              </m:r>
                            </m:e>
                            <m:sup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s-CL" sz="1800" dirty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C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4.8</m:t>
                      </m:r>
                      <m:r>
                        <a:rPr lang="es-C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sz="180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s-CL" sz="180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𝑃𝑄</m:t>
                          </m:r>
                        </m:e>
                      </m:acc>
                      <m:r>
                        <a:rPr lang="es-CL" sz="1800" i="1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s-CL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800" i="1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4.8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CL" sz="1800" dirty="0">
                  <a:ea typeface="Cambria Math" panose="02040503050406030204" pitchFamily="18" charset="0"/>
                </a:endParaRPr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CF14E20-B799-42C1-98DE-589934E78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9268" y="300130"/>
                <a:ext cx="10515600" cy="4351338"/>
              </a:xfrm>
              <a:blipFill>
                <a:blip r:embed="rId2"/>
                <a:stretch>
                  <a:fillRect l="-348" t="-2086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4B3CF3A-3E6B-449F-8CA8-1DE96877BDBA}"/>
              </a:ext>
            </a:extLst>
          </p:cNvPr>
          <p:cNvCxnSpPr>
            <a:cxnSpLocks/>
          </p:cNvCxnSpPr>
          <p:nvPr/>
        </p:nvCxnSpPr>
        <p:spPr>
          <a:xfrm flipV="1">
            <a:off x="7280270" y="5238821"/>
            <a:ext cx="1593269" cy="68439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02C6DB5-5D46-4AF5-A67A-EBCCC72B5622}"/>
              </a:ext>
            </a:extLst>
          </p:cNvPr>
          <p:cNvCxnSpPr/>
          <p:nvPr/>
        </p:nvCxnSpPr>
        <p:spPr>
          <a:xfrm flipV="1">
            <a:off x="7258050" y="4483213"/>
            <a:ext cx="0" cy="14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A68AE2F-A5F5-406A-A277-FF9A78029A24}"/>
                  </a:ext>
                </a:extLst>
              </p:cNvPr>
              <p:cNvSpPr txBox="1"/>
              <p:nvPr/>
            </p:nvSpPr>
            <p:spPr>
              <a:xfrm flipH="1">
                <a:off x="9320672" y="5790299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A68AE2F-A5F5-406A-A277-FF9A78029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320672" y="5790299"/>
                <a:ext cx="721847" cy="319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0C6D44-6DAE-4FC7-B55A-C8DFE092016B}"/>
                  </a:ext>
                </a:extLst>
              </p:cNvPr>
              <p:cNvSpPr txBox="1"/>
              <p:nvPr/>
            </p:nvSpPr>
            <p:spPr>
              <a:xfrm flipH="1">
                <a:off x="7102939" y="4390996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0C6D44-6DAE-4FC7-B55A-C8DFE0920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02939" y="4390996"/>
                <a:ext cx="721847" cy="319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5DF836C-EDBB-4C17-AC30-72D1FC95185C}"/>
                  </a:ext>
                </a:extLst>
              </p:cNvPr>
              <p:cNvSpPr txBox="1"/>
              <p:nvPr/>
            </p:nvSpPr>
            <p:spPr>
              <a:xfrm>
                <a:off x="7524244" y="5605633"/>
                <a:ext cx="13625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20°</m:t>
                      </m:r>
                    </m:oMath>
                  </m:oMathPara>
                </a14:m>
                <a:endParaRPr lang="es-C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5DF836C-EDBB-4C17-AC30-72D1FC951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244" y="5605633"/>
                <a:ext cx="13625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741623FE-77E7-43CB-9E83-A8C6FF31A8A3}"/>
              </a:ext>
            </a:extLst>
          </p:cNvPr>
          <p:cNvSpPr txBox="1"/>
          <p:nvPr/>
        </p:nvSpPr>
        <p:spPr>
          <a:xfrm flipH="1">
            <a:off x="8817718" y="4883367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Q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4BD72D4-F808-4C50-9223-271F812A2B5F}"/>
              </a:ext>
            </a:extLst>
          </p:cNvPr>
          <p:cNvCxnSpPr/>
          <p:nvPr/>
        </p:nvCxnSpPr>
        <p:spPr>
          <a:xfrm>
            <a:off x="7280270" y="5928248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2B4F024-704E-4ACF-B998-CBE240661596}"/>
              </a:ext>
            </a:extLst>
          </p:cNvPr>
          <p:cNvCxnSpPr>
            <a:cxnSpLocks/>
          </p:cNvCxnSpPr>
          <p:nvPr/>
        </p:nvCxnSpPr>
        <p:spPr>
          <a:xfrm flipV="1">
            <a:off x="7309770" y="5004195"/>
            <a:ext cx="2090487" cy="907101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8B721B-74F4-4E34-95F4-2B2AEE91EDBC}"/>
                  </a:ext>
                </a:extLst>
              </p:cNvPr>
              <p:cNvSpPr txBox="1"/>
              <p:nvPr/>
            </p:nvSpPr>
            <p:spPr>
              <a:xfrm>
                <a:off x="9230361" y="4807846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8B721B-74F4-4E34-95F4-2B2AEE91E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361" y="4807846"/>
                <a:ext cx="721847" cy="276999"/>
              </a:xfrm>
              <a:prstGeom prst="rect">
                <a:avLst/>
              </a:prstGeom>
              <a:blipFill>
                <a:blip r:embed="rId6"/>
                <a:stretch>
                  <a:fillRect t="-8889" b="-3777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47C7A28-2A21-4F9B-8762-4570532C2D96}"/>
              </a:ext>
            </a:extLst>
          </p:cNvPr>
          <p:cNvCxnSpPr>
            <a:cxnSpLocks/>
          </p:cNvCxnSpPr>
          <p:nvPr/>
        </p:nvCxnSpPr>
        <p:spPr>
          <a:xfrm flipH="1" flipV="1">
            <a:off x="6330658" y="4424534"/>
            <a:ext cx="931362" cy="1473003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78B20AD-BCB0-458F-93A0-86B32BA4ADB2}"/>
                  </a:ext>
                </a:extLst>
              </p:cNvPr>
              <p:cNvSpPr txBox="1"/>
              <p:nvPr/>
            </p:nvSpPr>
            <p:spPr>
              <a:xfrm>
                <a:off x="6307703" y="4273920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78B20AD-BCB0-458F-93A0-86B32BA4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703" y="4273920"/>
                <a:ext cx="721847" cy="276999"/>
              </a:xfrm>
              <a:prstGeom prst="rect">
                <a:avLst/>
              </a:prstGeom>
              <a:blipFill>
                <a:blip r:embed="rId7"/>
                <a:stretch>
                  <a:fillRect t="-8696" b="-3478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AA2992B0-3733-4129-B1E5-A8F63AD79DD3}"/>
              </a:ext>
            </a:extLst>
          </p:cNvPr>
          <p:cNvSpPr txBox="1"/>
          <p:nvPr/>
        </p:nvSpPr>
        <p:spPr>
          <a:xfrm flipH="1">
            <a:off x="6988305" y="5897537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82919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119062"/>
                <a:ext cx="11487150" cy="6619875"/>
              </a:xfrm>
            </p:spPr>
            <p:txBody>
              <a:bodyPr>
                <a:normAutofit/>
              </a:bodyPr>
              <a:lstStyle/>
              <a:p>
                <a:r>
                  <a:rPr lang="es-CL" sz="1700" dirty="0"/>
                  <a:t>Para conocer el alargamiento del elemento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</m:acc>
                    <m:r>
                      <a:rPr lang="es-CL" sz="17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L" sz="1700" dirty="0"/>
                  <a:t> debemos encontrar la componente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CL" sz="17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s-CL" sz="1700" dirty="0"/>
                  <a:t> Esto implica conocer el tensor de deformación en la base original y la matriz de cosenos directores</a:t>
                </a:r>
              </a:p>
              <a:p>
                <a:pPr marL="0" indent="0">
                  <a:buNone/>
                </a:pPr>
                <a:r>
                  <a:rPr lang="es-CL" sz="17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310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220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310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s-CL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CL" sz="17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s-CL" sz="17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.64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.77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.77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0.64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dirty="0"/>
                  <a:t>Aplicando la ley directa:</a:t>
                </a:r>
                <a:endParaRPr lang="es-CL" sz="1700" b="0" dirty="0"/>
              </a:p>
              <a:p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𝑖𝑟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</m:oMath>
                  </m:oMathPara>
                </a14:m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b="0" dirty="0">
                    <a:latin typeface="Cambria Math" panose="02040503050406030204" pitchFamily="18" charset="0"/>
                  </a:rPr>
                  <a:t>Reemplazando r=1,2,3: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Reemplazando s=1,2,3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Necesitamos encontrar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s-CL" sz="1700" dirty="0"/>
                  <a:t>, por tanto remplazaremos i= j=1</a:t>
                </a:r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Pero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lang="es-CL" sz="1700" dirty="0"/>
                  <a:t>=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s-CL" sz="17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  <m:t>0.64</m:t>
                              </m:r>
                            </m:e>
                            <m:sup>
                              <m: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2∙</m:t>
                          </m:r>
                          <m: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64∙0.77∙5+</m:t>
                          </m:r>
                          <m:sSup>
                            <m:sSupPr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s-CL" sz="1700" b="0" i="1" smtClean="0">
                                  <a:latin typeface="Cambria Math" panose="02040503050406030204" pitchFamily="18" charset="0"/>
                                </a:rPr>
                                <m:t>77</m:t>
                              </m:r>
                              <m:r>
                                <a:rPr lang="es-CL" sz="17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L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s-CL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=9.48×</m:t>
                      </m:r>
                      <m:sSup>
                        <m:sSup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s-CL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es-C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s-CL" sz="1600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bSup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=7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1+9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8×</m:t>
                          </m:r>
                          <m:sSup>
                            <m:sSupPr>
                              <m:ctrlP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e>
                      </m:d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=7,66 </m:t>
                      </m:r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L" sz="17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119062"/>
                <a:ext cx="11487150" cy="6619875"/>
              </a:xfrm>
              <a:blipFill>
                <a:blip r:embed="rId2"/>
                <a:stretch>
                  <a:fillRect l="-372" t="-73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9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CF14E20-B799-42C1-98DE-589934E78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543" y="64061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CL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8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CL" sz="18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CL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𝑃𝑅</m:t>
                          </m:r>
                        </m:sub>
                      </m:sSub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s-CL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CL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cos</m:t>
                          </m:r>
                        </m:fName>
                        <m:e>
                          <m:r>
                            <a:rPr lang="es-CL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5</m:t>
                          </m:r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0,</m:t>
                          </m:r>
                        </m:e>
                      </m:func>
                      <m:func>
                        <m:func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sin</m:t>
                          </m:r>
                        </m:fName>
                        <m:e>
                          <m:r>
                            <a:rPr lang="es-CL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5</m:t>
                          </m:r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func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,0)=(0.</m:t>
                      </m:r>
                      <m:r>
                        <a:rPr lang="es-CL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6</m:t>
                      </m:r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4,0.</m:t>
                      </m:r>
                      <m:r>
                        <a:rPr lang="es-CL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77</m:t>
                      </m:r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,0)</m:t>
                      </m:r>
                    </m:oMath>
                  </m:oMathPara>
                </a14:m>
                <a:endParaRPr lang="es-CL" sz="20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20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s-CL" sz="20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L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𝑗</m:t>
                    </m:r>
                    <m:r>
                      <a:rPr lang="es-CL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=1,2</m:t>
                    </m:r>
                  </m:oMath>
                </a14:m>
                <a:endParaRPr lang="es-CL" sz="20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20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20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L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  <m:r>
                      <a:rPr lang="es-CL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=1,2</m:t>
                    </m:r>
                  </m:oMath>
                </a14:m>
                <a:endParaRPr lang="es-CL" sz="200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2000" b="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s-CL" sz="2000" b="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+2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L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CL" sz="200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𝑙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L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2000" b="0" i="1" smtClean="0">
                                      <a:latin typeface="Cambria Math" panose="02040503050406030204" pitchFamily="18" charset="0"/>
                                    </a:rPr>
                                    <m:t>0.64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5)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77∙0.64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7∙</m:t>
                          </m:r>
                          <m:sSup>
                            <m:sSupPr>
                              <m:ctrlPr>
                                <a:rPr lang="es-C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77</m:t>
                              </m:r>
                            </m:e>
                            <m:sup>
                              <m:r>
                                <a:rPr lang="es-C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s-CL" sz="2000" dirty="0"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C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9.48</m:t>
                      </m:r>
                      <m:r>
                        <a:rPr lang="es-C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sz="200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s-CL" sz="2000" dirty="0">
                  <a:latin typeface="Century Schoolbook" panose="020406040505050203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s-C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d>
                        <m:d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=7</m:t>
                      </m:r>
                      <m:d>
                        <m:d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9.48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C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CL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=7.66 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L" sz="2000" dirty="0">
                  <a:ea typeface="Cambria Math" panose="02040503050406030204" pitchFamily="18" charset="0"/>
                </a:endParaRPr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CF14E20-B799-42C1-98DE-589934E78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543" y="640617"/>
                <a:ext cx="10515600" cy="4351338"/>
              </a:xfrm>
              <a:blipFill>
                <a:blip r:embed="rId2"/>
                <a:stretch>
                  <a:fillRect l="-522" t="-2086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4B3CF3A-3E6B-449F-8CA8-1DE96877BDBA}"/>
              </a:ext>
            </a:extLst>
          </p:cNvPr>
          <p:cNvCxnSpPr>
            <a:cxnSpLocks/>
          </p:cNvCxnSpPr>
          <p:nvPr/>
        </p:nvCxnSpPr>
        <p:spPr>
          <a:xfrm flipV="1">
            <a:off x="7280270" y="4991955"/>
            <a:ext cx="1232658" cy="93125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02C6DB5-5D46-4AF5-A67A-EBCCC72B5622}"/>
              </a:ext>
            </a:extLst>
          </p:cNvPr>
          <p:cNvCxnSpPr/>
          <p:nvPr/>
        </p:nvCxnSpPr>
        <p:spPr>
          <a:xfrm flipV="1">
            <a:off x="7258050" y="4483213"/>
            <a:ext cx="0" cy="14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A68AE2F-A5F5-406A-A277-FF9A78029A24}"/>
                  </a:ext>
                </a:extLst>
              </p:cNvPr>
              <p:cNvSpPr txBox="1"/>
              <p:nvPr/>
            </p:nvSpPr>
            <p:spPr>
              <a:xfrm flipH="1">
                <a:off x="9320672" y="5790299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A68AE2F-A5F5-406A-A277-FF9A78029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320672" y="5790299"/>
                <a:ext cx="721847" cy="319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0C6D44-6DAE-4FC7-B55A-C8DFE092016B}"/>
                  </a:ext>
                </a:extLst>
              </p:cNvPr>
              <p:cNvSpPr txBox="1"/>
              <p:nvPr/>
            </p:nvSpPr>
            <p:spPr>
              <a:xfrm flipH="1">
                <a:off x="7102939" y="4390996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0C6D44-6DAE-4FC7-B55A-C8DFE0920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02939" y="4390996"/>
                <a:ext cx="721847" cy="319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5DF836C-EDBB-4C17-AC30-72D1FC95185C}"/>
                  </a:ext>
                </a:extLst>
              </p:cNvPr>
              <p:cNvSpPr txBox="1"/>
              <p:nvPr/>
            </p:nvSpPr>
            <p:spPr>
              <a:xfrm>
                <a:off x="7274804" y="5541965"/>
                <a:ext cx="13625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s-C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5DF836C-EDBB-4C17-AC30-72D1FC951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804" y="5541965"/>
                <a:ext cx="13625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741623FE-77E7-43CB-9E83-A8C6FF31A8A3}"/>
              </a:ext>
            </a:extLst>
          </p:cNvPr>
          <p:cNvSpPr txBox="1"/>
          <p:nvPr/>
        </p:nvSpPr>
        <p:spPr>
          <a:xfrm flipH="1">
            <a:off x="8356527" y="4742515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4BD72D4-F808-4C50-9223-271F812A2B5F}"/>
              </a:ext>
            </a:extLst>
          </p:cNvPr>
          <p:cNvCxnSpPr/>
          <p:nvPr/>
        </p:nvCxnSpPr>
        <p:spPr>
          <a:xfrm>
            <a:off x="7280270" y="5928248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2B4F024-704E-4ACF-B998-CBE240661596}"/>
              </a:ext>
            </a:extLst>
          </p:cNvPr>
          <p:cNvCxnSpPr>
            <a:cxnSpLocks/>
          </p:cNvCxnSpPr>
          <p:nvPr/>
        </p:nvCxnSpPr>
        <p:spPr>
          <a:xfrm flipV="1">
            <a:off x="7309770" y="4782753"/>
            <a:ext cx="1503979" cy="1128544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8B721B-74F4-4E34-95F4-2B2AEE91EDBC}"/>
                  </a:ext>
                </a:extLst>
              </p:cNvPr>
              <p:cNvSpPr txBox="1"/>
              <p:nvPr/>
            </p:nvSpPr>
            <p:spPr>
              <a:xfrm>
                <a:off x="8772544" y="4550919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28B721B-74F4-4E34-95F4-2B2AEE91E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544" y="4550919"/>
                <a:ext cx="721847" cy="276999"/>
              </a:xfrm>
              <a:prstGeom prst="rect">
                <a:avLst/>
              </a:prstGeom>
              <a:blipFill>
                <a:blip r:embed="rId6"/>
                <a:stretch>
                  <a:fillRect t="-4444" b="-2666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47C7A28-2A21-4F9B-8762-4570532C2D96}"/>
              </a:ext>
            </a:extLst>
          </p:cNvPr>
          <p:cNvCxnSpPr>
            <a:cxnSpLocks/>
          </p:cNvCxnSpPr>
          <p:nvPr/>
        </p:nvCxnSpPr>
        <p:spPr>
          <a:xfrm flipH="1" flipV="1">
            <a:off x="6086843" y="4782753"/>
            <a:ext cx="1175177" cy="1114785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78B20AD-BCB0-458F-93A0-86B32BA4ADB2}"/>
                  </a:ext>
                </a:extLst>
              </p:cNvPr>
              <p:cNvSpPr txBox="1"/>
              <p:nvPr/>
            </p:nvSpPr>
            <p:spPr>
              <a:xfrm>
                <a:off x="5984769" y="4579694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78B20AD-BCB0-458F-93A0-86B32BA4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769" y="4579694"/>
                <a:ext cx="721847" cy="276999"/>
              </a:xfrm>
              <a:prstGeom prst="rect">
                <a:avLst/>
              </a:prstGeom>
              <a:blipFill>
                <a:blip r:embed="rId7"/>
                <a:stretch>
                  <a:fillRect t="-2174" b="-2391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AA2992B0-3733-4129-B1E5-A8F63AD79DD3}"/>
              </a:ext>
            </a:extLst>
          </p:cNvPr>
          <p:cNvSpPr txBox="1"/>
          <p:nvPr/>
        </p:nvSpPr>
        <p:spPr>
          <a:xfrm flipH="1">
            <a:off x="6988305" y="5897537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B967D31-01F5-4BF6-BEBB-F62B106DFFC2}"/>
                  </a:ext>
                </a:extLst>
              </p:cNvPr>
              <p:cNvSpPr txBox="1"/>
              <p:nvPr/>
            </p:nvSpPr>
            <p:spPr>
              <a:xfrm>
                <a:off x="6835527" y="5286893"/>
                <a:ext cx="13625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s-C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B967D31-01F5-4BF6-BEBB-F62B106DF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27" y="5286893"/>
                <a:ext cx="13625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82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4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119062"/>
                <a:ext cx="11487150" cy="6619875"/>
              </a:xfrm>
            </p:spPr>
            <p:txBody>
              <a:bodyPr>
                <a:normAutofit/>
              </a:bodyPr>
              <a:lstStyle/>
              <a:p>
                <a:r>
                  <a:rPr lang="es-CL" sz="1700" dirty="0"/>
                  <a:t>Para conocer la rotación angular del elemento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s-CL" sz="1700" dirty="0"/>
                  <a:t> y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es-CL" sz="1700" dirty="0"/>
                  <a:t>  debemos encontrar la componente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s-CL" sz="1700" dirty="0"/>
                  <a:t> 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CL" sz="17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CL" sz="1700" dirty="0"/>
                  <a:t> Esto implica conocer el tensor de deformación en la base original y la matriz de cosenos directores</a:t>
                </a:r>
              </a:p>
              <a:p>
                <a:pPr marL="0" indent="0">
                  <a:buNone/>
                </a:pPr>
                <a:r>
                  <a:rPr lang="es-CL" sz="17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.94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−0.34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0.94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dirty="0"/>
                  <a:t>Aplicando la ley directa:</a:t>
                </a:r>
                <a:endParaRPr lang="es-CL" sz="1700" b="0" dirty="0"/>
              </a:p>
              <a:p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𝑖𝑟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</m:oMath>
                  </m:oMathPara>
                </a14:m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b="0" dirty="0">
                    <a:latin typeface="Cambria Math" panose="02040503050406030204" pitchFamily="18" charset="0"/>
                  </a:rPr>
                  <a:t>Reemplazando r=1,2,3: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𝑗𝑠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Reemplazando s=1,2,3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Necesitamos encontrar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s-CL" sz="1700" dirty="0"/>
                  <a:t>, por tanto remplazaremos i=1, j=2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Pero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es-CL" sz="17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CL" sz="1700" dirty="0"/>
                  <a:t>=0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0.94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+0.9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∙0.9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5+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5+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∙0.9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s-CL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=5.75×</m:t>
                      </m:r>
                      <m:sSup>
                        <m:sSup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5.75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1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180°</m:t>
                          </m:r>
                        </m:num>
                        <m:den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=3.29°</m:t>
                      </m:r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:endParaRPr lang="es-CL" sz="17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119062"/>
                <a:ext cx="11487150" cy="6619875"/>
              </a:xfrm>
              <a:blipFill>
                <a:blip r:embed="rId2"/>
                <a:stretch>
                  <a:fillRect l="-372" t="-73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36CD004E-2B4F-49C6-A6AC-46CB40243209}"/>
              </a:ext>
            </a:extLst>
          </p:cNvPr>
          <p:cNvSpPr txBox="1"/>
          <p:nvPr/>
        </p:nvSpPr>
        <p:spPr>
          <a:xfrm flipH="1">
            <a:off x="9892638" y="6261796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Q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85B8142-1B79-426B-A106-E03498F3C43A}"/>
              </a:ext>
            </a:extLst>
          </p:cNvPr>
          <p:cNvCxnSpPr>
            <a:cxnSpLocks/>
          </p:cNvCxnSpPr>
          <p:nvPr/>
        </p:nvCxnSpPr>
        <p:spPr>
          <a:xfrm flipV="1">
            <a:off x="9183756" y="6064553"/>
            <a:ext cx="1159906" cy="568725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7F4F219-AD9D-4B93-9F62-A1C764BA4BD8}"/>
                  </a:ext>
                </a:extLst>
              </p:cNvPr>
              <p:cNvSpPr txBox="1"/>
              <p:nvPr/>
            </p:nvSpPr>
            <p:spPr>
              <a:xfrm>
                <a:off x="10253561" y="5879137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7F4F219-AD9D-4B93-9F62-A1C764BA4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561" y="5879137"/>
                <a:ext cx="721847" cy="276999"/>
              </a:xfrm>
              <a:prstGeom prst="rect">
                <a:avLst/>
              </a:prstGeom>
              <a:blipFill>
                <a:blip r:embed="rId3"/>
                <a:stretch>
                  <a:fillRect t="-6522" b="-3478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CA573FB-778D-477B-AF8E-EBAEDC21A6E5}"/>
              </a:ext>
            </a:extLst>
          </p:cNvPr>
          <p:cNvCxnSpPr>
            <a:cxnSpLocks/>
          </p:cNvCxnSpPr>
          <p:nvPr/>
        </p:nvCxnSpPr>
        <p:spPr>
          <a:xfrm flipV="1">
            <a:off x="9175805" y="6170212"/>
            <a:ext cx="942276" cy="46306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74A527F-FF44-4261-B900-30FA1751613F}"/>
              </a:ext>
            </a:extLst>
          </p:cNvPr>
          <p:cNvCxnSpPr>
            <a:cxnSpLocks/>
          </p:cNvCxnSpPr>
          <p:nvPr/>
        </p:nvCxnSpPr>
        <p:spPr>
          <a:xfrm flipV="1">
            <a:off x="9191709" y="5789212"/>
            <a:ext cx="746172" cy="83218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C8EE4A17-A460-4599-82D7-A8DE9FC022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9877306" y="5949834"/>
            <a:ext cx="183005" cy="152255"/>
          </a:xfrm>
          <a:prstGeom prst="curvedConnector3">
            <a:avLst>
              <a:gd name="adj1" fmla="val 1282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CE307C8-AD06-4CD0-803F-5490A7D02F82}"/>
                  </a:ext>
                </a:extLst>
              </p:cNvPr>
              <p:cNvSpPr txBox="1"/>
              <p:nvPr/>
            </p:nvSpPr>
            <p:spPr>
              <a:xfrm rot="19238018">
                <a:off x="9876037" y="5650712"/>
                <a:ext cx="76531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3.29°</m:t>
                      </m:r>
                    </m:oMath>
                  </m:oMathPara>
                </a14:m>
                <a:endParaRPr lang="es-CL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CE307C8-AD06-4CD0-803F-5490A7D02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38018">
                <a:off x="9876037" y="5650712"/>
                <a:ext cx="76531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7F187E82-AF63-4C99-B4D6-8039D807B7BA}"/>
              </a:ext>
            </a:extLst>
          </p:cNvPr>
          <p:cNvSpPr txBox="1"/>
          <p:nvPr/>
        </p:nvSpPr>
        <p:spPr>
          <a:xfrm flipH="1">
            <a:off x="8826809" y="6576893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8EB8165-DBE0-45B6-8064-59B335372604}"/>
                  </a:ext>
                </a:extLst>
              </p:cNvPr>
              <p:cNvSpPr txBox="1"/>
              <p:nvPr/>
            </p:nvSpPr>
            <p:spPr>
              <a:xfrm flipH="1">
                <a:off x="9418924" y="5657547"/>
                <a:ext cx="721847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8EB8165-DBE0-45B6-8064-59B335372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418924" y="5657547"/>
                <a:ext cx="721847" cy="308226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A6AAB4E2-5F41-4039-B33E-80293D7C6C6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083" t="61629" r="15900" b="9274"/>
          <a:stretch/>
        </p:blipFill>
        <p:spPr>
          <a:xfrm>
            <a:off x="8136914" y="1713887"/>
            <a:ext cx="3601934" cy="168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6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745" y="76803"/>
                <a:ext cx="11487150" cy="6619875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es-CL" sz="1700" dirty="0"/>
                  <a:t>Para conocer la rotación angular del elemento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s-CL" sz="1700" dirty="0"/>
                  <a:t> y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es-CL" sz="1700" dirty="0"/>
                  <a:t>  debemos encontrar la componente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s-CL" sz="1700" dirty="0"/>
                  <a:t> 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CL" sz="17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CL" sz="1700" dirty="0"/>
                  <a:t> Esto implica conocer el tensor de deformación en la base original y la matriz de cosenos directores</a:t>
                </a:r>
              </a:p>
              <a:p>
                <a:pPr marL="0" indent="0">
                  <a:buNone/>
                </a:pPr>
                <a:r>
                  <a:rPr lang="es-CL" sz="17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.64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0.77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−0.77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0.64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CL" sz="17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dirty="0"/>
                  <a:t>Aplicando la ley directa:</a:t>
                </a:r>
                <a:endParaRPr lang="es-CL" sz="1700" b="0" dirty="0"/>
              </a:p>
              <a:p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Necesitamos encontrar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L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s-CL" sz="1700" dirty="0"/>
                  <a:t>, por tanto remplazaremos i=1, j=2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r>
                  <a:rPr lang="es-CL" sz="1700" dirty="0"/>
                  <a:t>Pero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es-CL" sz="17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CL" sz="17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1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CL" sz="1700" dirty="0"/>
                  <a:t>=0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0.64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77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5+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77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77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5+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77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∙0.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s-CL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=2.04×</m:t>
                      </m:r>
                      <m:sSup>
                        <m:sSup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CL" sz="17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2.04×</m:t>
                          </m:r>
                          <m:sSup>
                            <m:sSupPr>
                              <m:ctrlP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s-CL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180°</m:t>
                          </m:r>
                        </m:num>
                        <m:den>
                          <m:r>
                            <a:rPr lang="es-CL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s-CL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=1.16°</m:t>
                      </m:r>
                    </m:oMath>
                  </m:oMathPara>
                </a14:m>
                <a:endParaRPr lang="es-CL" sz="1700" dirty="0"/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:endParaRPr lang="es-CL" sz="17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L" sz="1700" dirty="0"/>
                  <a:t>Calculo del ángulo durante la deformación </a:t>
                </a:r>
                <a14:m>
                  <m:oMath xmlns:m="http://schemas.openxmlformats.org/officeDocument/2006/math">
                    <m:r>
                      <a:rPr lang="es-CL" sz="1700" b="0" i="1" smtClean="0">
                        <a:latin typeface="Cambria Math" panose="02040503050406030204" pitchFamily="18" charset="0"/>
                      </a:rPr>
                      <m:t>30°−</m:t>
                    </m:r>
                    <m:r>
                      <a:rPr lang="es-CL" sz="17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3.29°</m:t>
                    </m:r>
                    <m:r>
                      <a:rPr lang="es-CL" sz="1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L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1.16°=</m:t>
                    </m:r>
                    <m:r>
                      <a:rPr lang="es-CL" sz="17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27,87°</m:t>
                    </m:r>
                  </m:oMath>
                </a14:m>
                <a:endParaRPr lang="es-CL" sz="17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s-CL" sz="1700" dirty="0"/>
              </a:p>
              <a:p>
                <a:pPr marL="0" indent="0">
                  <a:buNone/>
                </a:pPr>
                <a:endParaRPr lang="es-CL" sz="17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25FEB3-B9A8-4628-9912-46CBCF6F9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45" y="76803"/>
                <a:ext cx="11487150" cy="6619875"/>
              </a:xfrm>
              <a:blipFill>
                <a:blip r:embed="rId2"/>
                <a:stretch>
                  <a:fillRect l="-318" t="-7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36CD004E-2B4F-49C6-A6AC-46CB40243209}"/>
              </a:ext>
            </a:extLst>
          </p:cNvPr>
          <p:cNvSpPr txBox="1"/>
          <p:nvPr/>
        </p:nvSpPr>
        <p:spPr>
          <a:xfrm flipH="1">
            <a:off x="9867727" y="5099833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85B8142-1B79-426B-A106-E03498F3C43A}"/>
              </a:ext>
            </a:extLst>
          </p:cNvPr>
          <p:cNvCxnSpPr>
            <a:cxnSpLocks/>
          </p:cNvCxnSpPr>
          <p:nvPr/>
        </p:nvCxnSpPr>
        <p:spPr>
          <a:xfrm flipV="1">
            <a:off x="9176892" y="4875328"/>
            <a:ext cx="1159906" cy="568725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7F4F219-AD9D-4B93-9F62-A1C764BA4BD8}"/>
                  </a:ext>
                </a:extLst>
              </p:cNvPr>
              <p:cNvSpPr txBox="1"/>
              <p:nvPr/>
            </p:nvSpPr>
            <p:spPr>
              <a:xfrm>
                <a:off x="10228650" y="4717174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7F4F219-AD9D-4B93-9F62-A1C764BA4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8650" y="4717174"/>
                <a:ext cx="721847" cy="276999"/>
              </a:xfrm>
              <a:prstGeom prst="rect">
                <a:avLst/>
              </a:prstGeom>
              <a:blipFill>
                <a:blip r:embed="rId3"/>
                <a:stretch>
                  <a:fillRect t="-8889" b="-3777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CA573FB-778D-477B-AF8E-EBAEDC21A6E5}"/>
              </a:ext>
            </a:extLst>
          </p:cNvPr>
          <p:cNvCxnSpPr>
            <a:cxnSpLocks/>
          </p:cNvCxnSpPr>
          <p:nvPr/>
        </p:nvCxnSpPr>
        <p:spPr>
          <a:xfrm flipV="1">
            <a:off x="9150894" y="5008249"/>
            <a:ext cx="942276" cy="46306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74A527F-FF44-4261-B900-30FA1751613F}"/>
              </a:ext>
            </a:extLst>
          </p:cNvPr>
          <p:cNvCxnSpPr>
            <a:cxnSpLocks/>
          </p:cNvCxnSpPr>
          <p:nvPr/>
        </p:nvCxnSpPr>
        <p:spPr>
          <a:xfrm flipV="1">
            <a:off x="9166798" y="4627249"/>
            <a:ext cx="746172" cy="8321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C8EE4A17-A460-4599-82D7-A8DE9FC022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9734647" y="4903583"/>
            <a:ext cx="183005" cy="152255"/>
          </a:xfrm>
          <a:prstGeom prst="curvedConnector3">
            <a:avLst>
              <a:gd name="adj1" fmla="val 1282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CE307C8-AD06-4CD0-803F-5490A7D02F82}"/>
                  </a:ext>
                </a:extLst>
              </p:cNvPr>
              <p:cNvSpPr txBox="1"/>
              <p:nvPr/>
            </p:nvSpPr>
            <p:spPr>
              <a:xfrm rot="19238018">
                <a:off x="9851126" y="4488749"/>
                <a:ext cx="76531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1.16°</m:t>
                      </m:r>
                    </m:oMath>
                  </m:oMathPara>
                </a14:m>
                <a:endParaRPr lang="es-CL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CE307C8-AD06-4CD0-803F-5490A7D02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38018">
                <a:off x="9851126" y="4488749"/>
                <a:ext cx="76531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7F187E82-AF63-4C99-B4D6-8039D807B7BA}"/>
              </a:ext>
            </a:extLst>
          </p:cNvPr>
          <p:cNvSpPr txBox="1"/>
          <p:nvPr/>
        </p:nvSpPr>
        <p:spPr>
          <a:xfrm flipH="1">
            <a:off x="8801898" y="5414930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8EB8165-DBE0-45B6-8064-59B335372604}"/>
                  </a:ext>
                </a:extLst>
              </p:cNvPr>
              <p:cNvSpPr txBox="1"/>
              <p:nvPr/>
            </p:nvSpPr>
            <p:spPr>
              <a:xfrm flipH="1">
                <a:off x="9394013" y="4495584"/>
                <a:ext cx="7218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8EB8165-DBE0-45B6-8064-59B335372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394013" y="4495584"/>
                <a:ext cx="721847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89F2B69-4288-4501-AD34-18CAF3B2044E}"/>
              </a:ext>
            </a:extLst>
          </p:cNvPr>
          <p:cNvCxnSpPr>
            <a:cxnSpLocks/>
          </p:cNvCxnSpPr>
          <p:nvPr/>
        </p:nvCxnSpPr>
        <p:spPr>
          <a:xfrm flipV="1">
            <a:off x="1932074" y="5194846"/>
            <a:ext cx="1773127" cy="49817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DCAD548-2A52-49AD-A80C-DBB8D3C7E58B}"/>
              </a:ext>
            </a:extLst>
          </p:cNvPr>
          <p:cNvSpPr txBox="1"/>
          <p:nvPr/>
        </p:nvSpPr>
        <p:spPr>
          <a:xfrm flipH="1">
            <a:off x="3068806" y="4435714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60B4E2-DF7E-468B-82AB-FD7B031648B7}"/>
              </a:ext>
            </a:extLst>
          </p:cNvPr>
          <p:cNvCxnSpPr>
            <a:cxnSpLocks/>
          </p:cNvCxnSpPr>
          <p:nvPr/>
        </p:nvCxnSpPr>
        <p:spPr>
          <a:xfrm flipV="1">
            <a:off x="1945104" y="4504650"/>
            <a:ext cx="846382" cy="118696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07371AC-2C02-474A-B8BF-20CC3131DBA2}"/>
                  </a:ext>
                </a:extLst>
              </p:cNvPr>
              <p:cNvSpPr txBox="1"/>
              <p:nvPr/>
            </p:nvSpPr>
            <p:spPr>
              <a:xfrm rot="20199179">
                <a:off x="3607167" y="5045550"/>
                <a:ext cx="76531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3.29°</m:t>
                      </m:r>
                    </m:oMath>
                  </m:oMathPara>
                </a14:m>
                <a:endParaRPr lang="es-CL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07371AC-2C02-474A-B8BF-20CC3131D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99179">
                <a:off x="3607167" y="5045550"/>
                <a:ext cx="76531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3A692C16-007F-4816-A6CF-09BF2A94C659}"/>
              </a:ext>
            </a:extLst>
          </p:cNvPr>
          <p:cNvCxnSpPr>
            <a:cxnSpLocks/>
          </p:cNvCxnSpPr>
          <p:nvPr/>
        </p:nvCxnSpPr>
        <p:spPr>
          <a:xfrm flipV="1">
            <a:off x="1939711" y="4599373"/>
            <a:ext cx="1080240" cy="106634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582ECDE-C80B-4EB0-9DB4-346E02C79757}"/>
              </a:ext>
            </a:extLst>
          </p:cNvPr>
          <p:cNvCxnSpPr>
            <a:cxnSpLocks/>
          </p:cNvCxnSpPr>
          <p:nvPr/>
        </p:nvCxnSpPr>
        <p:spPr>
          <a:xfrm>
            <a:off x="1917491" y="5671539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451EDFA-2755-4D9D-A8D6-7D9D347FE309}"/>
              </a:ext>
            </a:extLst>
          </p:cNvPr>
          <p:cNvCxnSpPr>
            <a:cxnSpLocks/>
          </p:cNvCxnSpPr>
          <p:nvPr/>
        </p:nvCxnSpPr>
        <p:spPr>
          <a:xfrm flipV="1">
            <a:off x="1917491" y="4225711"/>
            <a:ext cx="0" cy="14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5257F518-DABB-4740-8EEF-B8B906109ED5}"/>
                  </a:ext>
                </a:extLst>
              </p:cNvPr>
              <p:cNvSpPr txBox="1"/>
              <p:nvPr/>
            </p:nvSpPr>
            <p:spPr>
              <a:xfrm flipH="1">
                <a:off x="3894842" y="5557540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5257F518-DABB-4740-8EEF-B8B906109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94842" y="5557540"/>
                <a:ext cx="721847" cy="3198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5650D67-C3C9-4126-BF86-368B662C0F86}"/>
                  </a:ext>
                </a:extLst>
              </p:cNvPr>
              <p:cNvSpPr txBox="1"/>
              <p:nvPr/>
            </p:nvSpPr>
            <p:spPr>
              <a:xfrm flipH="1">
                <a:off x="1867427" y="4124005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5650D67-C3C9-4126-BF86-368B662C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67427" y="4124005"/>
                <a:ext cx="721847" cy="3198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BCDA1BCE-5FFE-4E7C-87F2-1F7439292A9B}"/>
              </a:ext>
            </a:extLst>
          </p:cNvPr>
          <p:cNvSpPr txBox="1"/>
          <p:nvPr/>
        </p:nvSpPr>
        <p:spPr>
          <a:xfrm flipH="1">
            <a:off x="3745833" y="5288488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Q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2057572-3321-492E-8D54-45ADF0154553}"/>
              </a:ext>
            </a:extLst>
          </p:cNvPr>
          <p:cNvSpPr txBox="1"/>
          <p:nvPr/>
        </p:nvSpPr>
        <p:spPr>
          <a:xfrm flipH="1">
            <a:off x="1708966" y="5658188"/>
            <a:ext cx="721847" cy="31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6714B34-AD24-44EB-99C3-899267C53562}"/>
                  </a:ext>
                </a:extLst>
              </p:cNvPr>
              <p:cNvSpPr txBox="1"/>
              <p:nvPr/>
            </p:nvSpPr>
            <p:spPr>
              <a:xfrm flipH="1">
                <a:off x="2417463" y="4216086"/>
                <a:ext cx="7218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6714B34-AD24-44EB-99C3-899267C53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17463" y="4216086"/>
                <a:ext cx="72184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BF399EA-18D9-4FF2-A0CF-038C0E8F6B53}"/>
                  </a:ext>
                </a:extLst>
              </p:cNvPr>
              <p:cNvSpPr txBox="1"/>
              <p:nvPr/>
            </p:nvSpPr>
            <p:spPr>
              <a:xfrm flipH="1">
                <a:off x="3394426" y="4950914"/>
                <a:ext cx="721847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BF399EA-18D9-4FF2-A0CF-038C0E8F6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94426" y="4950914"/>
                <a:ext cx="721847" cy="308226"/>
              </a:xfrm>
              <a:prstGeom prst="rect">
                <a:avLst/>
              </a:prstGeom>
              <a:blipFill>
                <a:blip r:embed="rId10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3EB7079-EBC4-4658-A23E-A040D65F16AC}"/>
              </a:ext>
            </a:extLst>
          </p:cNvPr>
          <p:cNvCxnSpPr/>
          <p:nvPr/>
        </p:nvCxnSpPr>
        <p:spPr>
          <a:xfrm flipH="1" flipV="1">
            <a:off x="3644443" y="5211036"/>
            <a:ext cx="91440" cy="2342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19420B7C-1455-413D-9072-CE3B9B7070C2}"/>
              </a:ext>
            </a:extLst>
          </p:cNvPr>
          <p:cNvCxnSpPr>
            <a:cxnSpLocks/>
          </p:cNvCxnSpPr>
          <p:nvPr/>
        </p:nvCxnSpPr>
        <p:spPr>
          <a:xfrm flipH="1" flipV="1">
            <a:off x="2864985" y="4417323"/>
            <a:ext cx="99435" cy="19759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E0377588-85AB-47E7-B32F-38EEB08445EF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1932074" y="5448411"/>
            <a:ext cx="1813759" cy="2064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F11BA2D-4812-43AB-B72D-55F20C3C1393}"/>
              </a:ext>
            </a:extLst>
          </p:cNvPr>
          <p:cNvCxnSpPr>
            <a:cxnSpLocks/>
          </p:cNvCxnSpPr>
          <p:nvPr/>
        </p:nvCxnSpPr>
        <p:spPr>
          <a:xfrm>
            <a:off x="1917491" y="5665333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C15E960-F71A-4925-8338-F239469D6342}"/>
              </a:ext>
            </a:extLst>
          </p:cNvPr>
          <p:cNvCxnSpPr>
            <a:cxnSpLocks/>
          </p:cNvCxnSpPr>
          <p:nvPr/>
        </p:nvCxnSpPr>
        <p:spPr>
          <a:xfrm flipV="1">
            <a:off x="1917491" y="4219505"/>
            <a:ext cx="0" cy="14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: curvado 38">
            <a:extLst>
              <a:ext uri="{FF2B5EF4-FFF2-40B4-BE49-F238E27FC236}">
                <a16:creationId xmlns:a16="http://schemas.microsoft.com/office/drawing/2014/main" id="{67C8C182-35FA-4DAC-9073-E661D732B6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30500" y="5069729"/>
            <a:ext cx="1034487" cy="26097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97A929B3-F972-4531-AAF7-F6B2304E0C2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8317" t="65045" r="19209" b="9283"/>
          <a:stretch/>
        </p:blipFill>
        <p:spPr>
          <a:xfrm>
            <a:off x="8009984" y="589417"/>
            <a:ext cx="3480076" cy="1547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FC82E43-9AAC-44D0-9712-965D7B9DC816}"/>
                  </a:ext>
                </a:extLst>
              </p:cNvPr>
              <p:cNvSpPr txBox="1"/>
              <p:nvPr/>
            </p:nvSpPr>
            <p:spPr>
              <a:xfrm rot="19238018">
                <a:off x="2690378" y="4156816"/>
                <a:ext cx="76531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1.16°</m:t>
                      </m:r>
                    </m:oMath>
                  </m:oMathPara>
                </a14:m>
                <a:endParaRPr lang="es-CL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FC82E43-9AAC-44D0-9712-965D7B9DC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38018">
                <a:off x="2690378" y="4156816"/>
                <a:ext cx="765313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65763A17-C439-41BA-8B77-A71CEEA5DACE}"/>
                  </a:ext>
                </a:extLst>
              </p14:cNvPr>
              <p14:cNvContentPartPr/>
              <p14:nvPr/>
            </p14:nvContentPartPr>
            <p14:xfrm>
              <a:off x="2352390" y="5266785"/>
              <a:ext cx="280440" cy="33516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65763A17-C439-41BA-8B77-A71CEEA5DAC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43750" y="5257785"/>
                <a:ext cx="29808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50A16CB8-32CC-4D5C-B685-DAF1B309F384}"/>
                  </a:ext>
                </a:extLst>
              </p14:cNvPr>
              <p14:cNvContentPartPr/>
              <p14:nvPr/>
            </p14:nvContentPartPr>
            <p14:xfrm>
              <a:off x="2533470" y="4857465"/>
              <a:ext cx="380160" cy="511560"/>
            </p14:xfrm>
          </p:contentPart>
        </mc:Choice>
        <mc:Fallback xmlns=""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50A16CB8-32CC-4D5C-B685-DAF1B309F38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24470" y="4848465"/>
                <a:ext cx="39780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ABF672D4-67F3-4671-8427-A0E803837D94}"/>
                  </a:ext>
                </a:extLst>
              </p14:cNvPr>
              <p14:cNvContentPartPr/>
              <p14:nvPr/>
            </p14:nvContentPartPr>
            <p14:xfrm>
              <a:off x="4923870" y="6124305"/>
              <a:ext cx="360" cy="360"/>
            </p14:xfrm>
          </p:contentPart>
        </mc:Choice>
        <mc:Fallback xmlns=""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ABF672D4-67F3-4671-8427-A0E803837D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15230" y="611530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110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5F0FE65AF9CC4282254F9200F2FB20" ma:contentTypeVersion="10" ma:contentTypeDescription="Crear nuevo documento." ma:contentTypeScope="" ma:versionID="112bc522f886021163d21564e39669d1">
  <xsd:schema xmlns:xsd="http://www.w3.org/2001/XMLSchema" xmlns:xs="http://www.w3.org/2001/XMLSchema" xmlns:p="http://schemas.microsoft.com/office/2006/metadata/properties" xmlns:ns2="1f83bce6-c843-4a86-bc32-cf53c9603f6d" xmlns:ns3="6e6a2bdf-eda8-4091-81b1-8eb89982575a" targetNamespace="http://schemas.microsoft.com/office/2006/metadata/properties" ma:root="true" ma:fieldsID="45d5f459d7e8b5f80f8d3ace5e27ced4" ns2:_="" ns3:_="">
    <xsd:import namespace="1f83bce6-c843-4a86-bc32-cf53c9603f6d"/>
    <xsd:import namespace="6e6a2bdf-eda8-4091-81b1-8eb8998257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83bce6-c843-4a86-bc32-cf53c9603f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a2bdf-eda8-4091-81b1-8eb89982575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2A7641-D20C-43EE-B81E-AE5A17AEEE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7CA63C-6014-4194-A097-FBE99622ED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B94523-F1E9-46FF-ACC1-D01E5AA082A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4866</TotalTime>
  <Words>1365</Words>
  <Application>Microsoft Office PowerPoint</Application>
  <PresentationFormat>Panorámica</PresentationFormat>
  <Paragraphs>210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Práctica N°3 Mecánica de Materiales</vt:lpstr>
      <vt:lpstr>Esfuerzo y deformación</vt:lpstr>
      <vt:lpstr>Tensor deformación</vt:lpstr>
      <vt:lpstr>Tensor deformación</vt:lpstr>
      <vt:lpstr>Deformaciones de corte</vt:lpstr>
      <vt:lpstr>Ejercicio 1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N°1 Mecánica de Materiales</dc:title>
  <dc:creator>yasmin alejandra maril millan</dc:creator>
  <cp:lastModifiedBy>yasmin alejandra maril millan</cp:lastModifiedBy>
  <cp:revision>423</cp:revision>
  <cp:lastPrinted>2020-10-09T03:04:05Z</cp:lastPrinted>
  <dcterms:created xsi:type="dcterms:W3CDTF">2020-09-22T04:39:44Z</dcterms:created>
  <dcterms:modified xsi:type="dcterms:W3CDTF">2021-10-21T21:59:16Z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0x0101000B5F0FE65AF9CC4282254F9200F2FB20</vt:lpwstr>
  </property>
</Properties>
</file>