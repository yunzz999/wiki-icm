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7239000" cx="9144000"/>
  <p:notesSz cx="6858000" cy="9144000"/>
  <p:embeddedFontLst>
    <p:embeddedFont>
      <p:font typeface="Arial Narrow"/>
      <p:regular r:id="rId54"/>
      <p:bold r:id="rId55"/>
      <p:italic r:id="rId56"/>
      <p:boldItalic r:id="rId57"/>
    </p:embeddedFont>
    <p:embeddedFont>
      <p:font typeface="Book Antiqua"/>
      <p:regular r:id="rId58"/>
      <p:bold r:id="rId59"/>
      <p:italic r:id="rId60"/>
      <p:boldItalic r:id="rId61"/>
    </p:embeddedFont>
    <p:embeddedFont>
      <p:font typeface="Questrial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63" roundtripDataSignature="AMtx7mhDcfAckGW4wKi2F1LNUH6WkJ94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42A076-3AF6-475F-96DD-521DAEBB3B82}">
  <a:tblStyle styleId="{C942A076-3AF6-475F-96DD-521DAEBB3B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Questrial-regular.fntdata"/><Relationship Id="rId61" Type="http://schemas.openxmlformats.org/officeDocument/2006/relationships/font" Target="fonts/BookAntiqua-bold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BookAntiqua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ArialNarrow-bold.fntdata"/><Relationship Id="rId10" Type="http://schemas.openxmlformats.org/officeDocument/2006/relationships/slide" Target="slides/slide4.xml"/><Relationship Id="rId54" Type="http://schemas.openxmlformats.org/officeDocument/2006/relationships/font" Target="fonts/ArialNarrow-regular.fntdata"/><Relationship Id="rId13" Type="http://schemas.openxmlformats.org/officeDocument/2006/relationships/slide" Target="slides/slide7.xml"/><Relationship Id="rId57" Type="http://schemas.openxmlformats.org/officeDocument/2006/relationships/font" Target="fonts/ArialNarrow-boldItalic.fntdata"/><Relationship Id="rId12" Type="http://schemas.openxmlformats.org/officeDocument/2006/relationships/slide" Target="slides/slide6.xml"/><Relationship Id="rId56" Type="http://schemas.openxmlformats.org/officeDocument/2006/relationships/font" Target="fonts/ArialNarrow-italic.fntdata"/><Relationship Id="rId15" Type="http://schemas.openxmlformats.org/officeDocument/2006/relationships/slide" Target="slides/slide9.xml"/><Relationship Id="rId59" Type="http://schemas.openxmlformats.org/officeDocument/2006/relationships/font" Target="fonts/BookAntiqua-bold.fntdata"/><Relationship Id="rId14" Type="http://schemas.openxmlformats.org/officeDocument/2006/relationships/slide" Target="slides/slide8.xml"/><Relationship Id="rId58" Type="http://schemas.openxmlformats.org/officeDocument/2006/relationships/font" Target="fonts/BookAntiqua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-473075" y="0"/>
            <a:ext cx="4546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503237" y="4316412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/>
          <p:nvPr>
            <p:ph idx="2" type="sldImg"/>
          </p:nvPr>
        </p:nvSpPr>
        <p:spPr>
          <a:xfrm>
            <a:off x="-473075" y="0"/>
            <a:ext cx="4546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503237" y="4316412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8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9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0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0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1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2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2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3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4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4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5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5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6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6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7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7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8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8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9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9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0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0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1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7" name="Google Shape;817;p41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2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3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3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4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4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5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5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6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6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7:notes"/>
          <p:cNvSpPr txBox="1"/>
          <p:nvPr>
            <p:ph idx="1" type="body"/>
          </p:nvPr>
        </p:nvSpPr>
        <p:spPr>
          <a:xfrm>
            <a:off x="503237" y="4316412"/>
            <a:ext cx="5856287" cy="405923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7:notes"/>
          <p:cNvSpPr/>
          <p:nvPr>
            <p:ph idx="2" type="sldImg"/>
          </p:nvPr>
        </p:nvSpPr>
        <p:spPr>
          <a:xfrm>
            <a:off x="0" y="0"/>
            <a:ext cx="360045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0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1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1"/>
          <p:cNvSpPr txBox="1"/>
          <p:nvPr>
            <p:ph idx="1" type="body"/>
          </p:nvPr>
        </p:nvSpPr>
        <p:spPr>
          <a:xfrm>
            <a:off x="685800" y="2090737"/>
            <a:ext cx="7769225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ctrTitle"/>
          </p:nvPr>
        </p:nvSpPr>
        <p:spPr>
          <a:xfrm>
            <a:off x="1143000" y="1184275"/>
            <a:ext cx="6858000" cy="2520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subTitle"/>
          </p:nvPr>
        </p:nvSpPr>
        <p:spPr>
          <a:xfrm>
            <a:off x="1143000" y="3802063"/>
            <a:ext cx="6858000" cy="174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3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" type="body"/>
          </p:nvPr>
        </p:nvSpPr>
        <p:spPr>
          <a:xfrm>
            <a:off x="685800" y="2090738"/>
            <a:ext cx="3808413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2" type="body"/>
          </p:nvPr>
        </p:nvSpPr>
        <p:spPr>
          <a:xfrm>
            <a:off x="4646613" y="2090738"/>
            <a:ext cx="3808412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/>
          <p:nvPr>
            <p:ph type="title"/>
          </p:nvPr>
        </p:nvSpPr>
        <p:spPr>
          <a:xfrm>
            <a:off x="685800" y="620713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" type="body"/>
          </p:nvPr>
        </p:nvSpPr>
        <p:spPr>
          <a:xfrm>
            <a:off x="685800" y="2090738"/>
            <a:ext cx="3808413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4"/>
          <p:cNvSpPr/>
          <p:nvPr>
            <p:ph idx="2" type="clipArt"/>
          </p:nvPr>
        </p:nvSpPr>
        <p:spPr>
          <a:xfrm>
            <a:off x="4646613" y="2090738"/>
            <a:ext cx="3808412" cy="4340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5"/>
          <p:cNvSpPr txBox="1"/>
          <p:nvPr>
            <p:ph type="title"/>
          </p:nvPr>
        </p:nvSpPr>
        <p:spPr>
          <a:xfrm>
            <a:off x="685800" y="620713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6"/>
          <p:cNvSpPr txBox="1"/>
          <p:nvPr>
            <p:ph type="title"/>
          </p:nvPr>
        </p:nvSpPr>
        <p:spPr>
          <a:xfrm rot="5400000">
            <a:off x="4579144" y="2555082"/>
            <a:ext cx="5810250" cy="1941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6"/>
          <p:cNvSpPr txBox="1"/>
          <p:nvPr>
            <p:ph idx="1" type="body"/>
          </p:nvPr>
        </p:nvSpPr>
        <p:spPr>
          <a:xfrm rot="5400000">
            <a:off x="618331" y="688182"/>
            <a:ext cx="5810250" cy="567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7"/>
          <p:cNvSpPr txBox="1"/>
          <p:nvPr>
            <p:ph idx="1" type="body"/>
          </p:nvPr>
        </p:nvSpPr>
        <p:spPr>
          <a:xfrm rot="5400000">
            <a:off x="2400300" y="376237"/>
            <a:ext cx="4340225" cy="776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8"/>
          <p:cNvSpPr txBox="1"/>
          <p:nvPr>
            <p:ph type="title"/>
          </p:nvPr>
        </p:nvSpPr>
        <p:spPr>
          <a:xfrm>
            <a:off x="630238" y="482600"/>
            <a:ext cx="2949575" cy="1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8"/>
          <p:cNvSpPr/>
          <p:nvPr>
            <p:ph idx="2" type="pic"/>
          </p:nvPr>
        </p:nvSpPr>
        <p:spPr>
          <a:xfrm>
            <a:off x="3887788" y="1042988"/>
            <a:ext cx="462915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58"/>
          <p:cNvSpPr txBox="1"/>
          <p:nvPr>
            <p:ph idx="1" type="body"/>
          </p:nvPr>
        </p:nvSpPr>
        <p:spPr>
          <a:xfrm>
            <a:off x="630238" y="2171700"/>
            <a:ext cx="2949575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9"/>
          <p:cNvSpPr txBox="1"/>
          <p:nvPr>
            <p:ph type="title"/>
          </p:nvPr>
        </p:nvSpPr>
        <p:spPr>
          <a:xfrm>
            <a:off x="630238" y="482600"/>
            <a:ext cx="2949575" cy="1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1" type="body"/>
          </p:nvPr>
        </p:nvSpPr>
        <p:spPr>
          <a:xfrm>
            <a:off x="3887788" y="1042988"/>
            <a:ext cx="462915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1" name="Google Shape;41;p59"/>
          <p:cNvSpPr txBox="1"/>
          <p:nvPr>
            <p:ph idx="2" type="body"/>
          </p:nvPr>
        </p:nvSpPr>
        <p:spPr>
          <a:xfrm>
            <a:off x="630238" y="2171700"/>
            <a:ext cx="2949575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0"/>
          <p:cNvSpPr txBox="1"/>
          <p:nvPr>
            <p:ph type="title"/>
          </p:nvPr>
        </p:nvSpPr>
        <p:spPr>
          <a:xfrm>
            <a:off x="630238" y="385763"/>
            <a:ext cx="7886700" cy="1398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0"/>
          <p:cNvSpPr txBox="1"/>
          <p:nvPr>
            <p:ph idx="1" type="body"/>
          </p:nvPr>
        </p:nvSpPr>
        <p:spPr>
          <a:xfrm>
            <a:off x="630238" y="1774825"/>
            <a:ext cx="3868737" cy="869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0"/>
          <p:cNvSpPr txBox="1"/>
          <p:nvPr>
            <p:ph idx="2" type="body"/>
          </p:nvPr>
        </p:nvSpPr>
        <p:spPr>
          <a:xfrm>
            <a:off x="630238" y="2644775"/>
            <a:ext cx="3868737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0"/>
          <p:cNvSpPr txBox="1"/>
          <p:nvPr>
            <p:ph idx="3" type="body"/>
          </p:nvPr>
        </p:nvSpPr>
        <p:spPr>
          <a:xfrm>
            <a:off x="4629150" y="1774825"/>
            <a:ext cx="3887788" cy="869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0"/>
          <p:cNvSpPr txBox="1"/>
          <p:nvPr>
            <p:ph idx="4" type="body"/>
          </p:nvPr>
        </p:nvSpPr>
        <p:spPr>
          <a:xfrm>
            <a:off x="4629150" y="2644775"/>
            <a:ext cx="3887788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1"/>
          <p:cNvSpPr txBox="1"/>
          <p:nvPr>
            <p:ph type="title"/>
          </p:nvPr>
        </p:nvSpPr>
        <p:spPr>
          <a:xfrm>
            <a:off x="623888" y="1804988"/>
            <a:ext cx="7886700" cy="30114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1"/>
          <p:cNvSpPr txBox="1"/>
          <p:nvPr>
            <p:ph idx="1" type="body"/>
          </p:nvPr>
        </p:nvSpPr>
        <p:spPr>
          <a:xfrm>
            <a:off x="623888" y="4845050"/>
            <a:ext cx="7886700" cy="1582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8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" type="body"/>
          </p:nvPr>
        </p:nvSpPr>
        <p:spPr>
          <a:xfrm>
            <a:off x="685800" y="2090737"/>
            <a:ext cx="7769225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9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97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jpg"/><Relationship Id="rId4" Type="http://schemas.openxmlformats.org/officeDocument/2006/relationships/image" Target="../media/image5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jpg"/><Relationship Id="rId4" Type="http://schemas.openxmlformats.org/officeDocument/2006/relationships/image" Target="../media/image4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png"/><Relationship Id="rId4" Type="http://schemas.openxmlformats.org/officeDocument/2006/relationships/image" Target="../media/image64.png"/><Relationship Id="rId5" Type="http://schemas.openxmlformats.org/officeDocument/2006/relationships/image" Target="../media/image5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/>
        </p:nvSpPr>
        <p:spPr>
          <a:xfrm>
            <a:off x="665162" y="5524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 1: 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Campo eléctrico y Potencial sobre el eje de una carga lineal finita.</a:t>
            </a:r>
            <a:endParaRPr/>
          </a:p>
        </p:txBody>
      </p:sp>
      <p:grpSp>
        <p:nvGrpSpPr>
          <p:cNvPr id="56" name="Google Shape;56;p1"/>
          <p:cNvGrpSpPr/>
          <p:nvPr/>
        </p:nvGrpSpPr>
        <p:grpSpPr>
          <a:xfrm>
            <a:off x="322802" y="1865856"/>
            <a:ext cx="5504505" cy="2494890"/>
            <a:chOff x="558800" y="1587500"/>
            <a:chExt cx="8026400" cy="4064000"/>
          </a:xfrm>
        </p:grpSpPr>
        <p:pic>
          <p:nvPicPr>
            <p:cNvPr descr="E:\Art\CH21-25\F23-02.JPG" id="57" name="Google Shape;57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800" y="1587500"/>
              <a:ext cx="8026400" cy="4064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" name="Google Shape;58;p1"/>
            <p:cNvCxnSpPr/>
            <p:nvPr/>
          </p:nvCxnSpPr>
          <p:spPr>
            <a:xfrm>
              <a:off x="1771650" y="4229100"/>
              <a:ext cx="17716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9" name="Google Shape;59;p1"/>
            <p:cNvSpPr txBox="1"/>
            <p:nvPr/>
          </p:nvSpPr>
          <p:spPr>
            <a:xfrm>
              <a:off x="2247900" y="4152900"/>
              <a:ext cx="838200" cy="7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cxnSp>
          <p:nvCxnSpPr>
            <p:cNvPr id="60" name="Google Shape;60;p1"/>
            <p:cNvCxnSpPr/>
            <p:nvPr/>
          </p:nvCxnSpPr>
          <p:spPr>
            <a:xfrm>
              <a:off x="4038600" y="4305300"/>
              <a:ext cx="285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1" name="Google Shape;61;p1"/>
            <p:cNvSpPr txBox="1"/>
            <p:nvPr/>
          </p:nvSpPr>
          <p:spPr>
            <a:xfrm>
              <a:off x="4551363" y="4248150"/>
              <a:ext cx="1849500" cy="7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b="0" i="0" lang="en-US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-x</a:t>
              </a:r>
              <a:endParaRPr/>
            </a:p>
          </p:txBody>
        </p:sp>
      </p:grpSp>
      <p:pic>
        <p:nvPicPr>
          <p:cNvPr descr="http://acer.forestales.upm.es/basicas/udfisica/asignaturas/fisica/electro/potencial_files/potencialec.gif"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4037" y="1133475"/>
            <a:ext cx="1533525" cy="10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/>
        </p:nvSpPr>
        <p:spPr>
          <a:xfrm>
            <a:off x="-349597" y="5156786"/>
            <a:ext cx="4896544" cy="8847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7151616" y="1133475"/>
            <a:ext cx="2232248" cy="6988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7177423" y="1865838"/>
            <a:ext cx="2232248" cy="90095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6037802" y="5059726"/>
            <a:ext cx="3379522" cy="69390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7798226" y="5985204"/>
            <a:ext cx="1619098" cy="7013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68" name="Google Shape;68;p1"/>
          <p:cNvSpPr txBox="1"/>
          <p:nvPr/>
        </p:nvSpPr>
        <p:spPr>
          <a:xfrm>
            <a:off x="-126839" y="5990751"/>
            <a:ext cx="4451027" cy="8847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665162" y="5524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 2: 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Campo eléctrico (Potencial) fuera del eje de una carga lineal finita.</a:t>
            </a:r>
            <a:endParaRPr/>
          </a:p>
        </p:txBody>
      </p:sp>
      <p:pic>
        <p:nvPicPr>
          <p:cNvPr descr="E:\ART\CH21-25\F23-03.JP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0625"/>
            <a:ext cx="5334000" cy="50244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3143250" y="4552950"/>
            <a:ext cx="704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179387" y="198437"/>
            <a:ext cx="80200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 3: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Campo eléctrico </a:t>
            </a:r>
            <a:r>
              <a:rPr b="1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Potencial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creado por una distribución uniforme de carga λ en forma de anillo de radio a, en un punto de su eje.</a:t>
            </a:r>
            <a:endParaRPr/>
          </a:p>
        </p:txBody>
      </p:sp>
      <p:pic>
        <p:nvPicPr>
          <p:cNvPr descr="E:\ART\CH21-25\F23-06.JPG" id="81" name="Google Shape;81;p3"/>
          <p:cNvPicPr preferRelativeResize="0"/>
          <p:nvPr/>
        </p:nvPicPr>
        <p:blipFill rotWithShape="1">
          <a:blip r:embed="rId3">
            <a:alphaModFix/>
          </a:blip>
          <a:srcRect b="4969" l="6545" r="1947" t="4310"/>
          <a:stretch/>
        </p:blipFill>
        <p:spPr>
          <a:xfrm>
            <a:off x="-231775" y="1839912"/>
            <a:ext cx="7345362" cy="345598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3441204" y="1603276"/>
            <a:ext cx="5472608" cy="113370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5004048" y="2686220"/>
            <a:ext cx="4053780" cy="8847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6503409" y="3975704"/>
            <a:ext cx="2397964" cy="7598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0" y="5288880"/>
            <a:ext cx="3328219" cy="105112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682625" y="503237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 4: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Campo eléctrico creado por una distribución uniforme de carga  en forma de disco de radio R, en un punto de su eje.</a:t>
            </a:r>
            <a:endParaRPr/>
          </a:p>
        </p:txBody>
      </p:sp>
      <p:grpSp>
        <p:nvGrpSpPr>
          <p:cNvPr id="91" name="Google Shape;91;p4"/>
          <p:cNvGrpSpPr/>
          <p:nvPr/>
        </p:nvGrpSpPr>
        <p:grpSpPr>
          <a:xfrm>
            <a:off x="-252412" y="1500187"/>
            <a:ext cx="8029575" cy="4238625"/>
            <a:chOff x="1000125" y="2045494"/>
            <a:chExt cx="8029575" cy="4240212"/>
          </a:xfrm>
        </p:grpSpPr>
        <p:pic>
          <p:nvPicPr>
            <p:cNvPr descr="E:\ART\CH21-25\F23-07.JPG" id="92" name="Google Shape;92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0125" y="2045494"/>
              <a:ext cx="7143750" cy="424021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3" name="Google Shape;93;p4"/>
            <p:cNvCxnSpPr/>
            <p:nvPr/>
          </p:nvCxnSpPr>
          <p:spPr>
            <a:xfrm>
              <a:off x="3219450" y="3219450"/>
              <a:ext cx="4851400" cy="1104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4" name="Google Shape;94;p4"/>
            <p:cNvSpPr txBox="1"/>
            <p:nvPr/>
          </p:nvSpPr>
          <p:spPr>
            <a:xfrm>
              <a:off x="5562600" y="3429000"/>
              <a:ext cx="8382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 flipH="1">
              <a:off x="6235700" y="3917950"/>
              <a:ext cx="88900" cy="19685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4"/>
            <p:cNvSpPr txBox="1"/>
            <p:nvPr/>
          </p:nvSpPr>
          <p:spPr>
            <a:xfrm>
              <a:off x="5956300" y="3771900"/>
              <a:ext cx="3556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ϕ</a:t>
              </a:r>
              <a:endParaRPr/>
            </a:p>
          </p:txBody>
        </p:sp>
        <p:sp>
          <p:nvSpPr>
            <p:cNvPr descr="50%" id="97" name="Google Shape;97;p4"/>
            <p:cNvSpPr txBox="1"/>
            <p:nvPr/>
          </p:nvSpPr>
          <p:spPr>
            <a:xfrm>
              <a:off x="3146425" y="3200400"/>
              <a:ext cx="112713" cy="1714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4"/>
            <p:cNvSpPr txBox="1"/>
            <p:nvPr/>
          </p:nvSpPr>
          <p:spPr>
            <a:xfrm>
              <a:off x="2984500" y="2863850"/>
              <a:ext cx="6413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dq</a:t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7080250" y="4083050"/>
              <a:ext cx="63500" cy="5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4"/>
            <p:cNvSpPr txBox="1"/>
            <p:nvPr/>
          </p:nvSpPr>
          <p:spPr>
            <a:xfrm>
              <a:off x="6959600" y="3790950"/>
              <a:ext cx="3429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cxnSp>
          <p:nvCxnSpPr>
            <p:cNvPr id="101" name="Google Shape;101;p4"/>
            <p:cNvCxnSpPr/>
            <p:nvPr/>
          </p:nvCxnSpPr>
          <p:spPr>
            <a:xfrm>
              <a:off x="7131050" y="4114800"/>
              <a:ext cx="628650" cy="0"/>
            </a:xfrm>
            <a:prstGeom prst="straightConnector1">
              <a:avLst/>
            </a:prstGeom>
            <a:noFill/>
            <a:ln cap="flat" cmpd="sng" w="28575">
              <a:solidFill>
                <a:srgbClr val="CC66F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02" name="Google Shape;102;p4"/>
            <p:cNvCxnSpPr/>
            <p:nvPr/>
          </p:nvCxnSpPr>
          <p:spPr>
            <a:xfrm>
              <a:off x="7124700" y="4121150"/>
              <a:ext cx="0" cy="419100"/>
            </a:xfrm>
            <a:prstGeom prst="straightConnector1">
              <a:avLst/>
            </a:prstGeom>
            <a:noFill/>
            <a:ln cap="flat" cmpd="sng" w="28575">
              <a:solidFill>
                <a:srgbClr val="CC66F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03" name="Google Shape;103;p4"/>
            <p:cNvSpPr txBox="1"/>
            <p:nvPr/>
          </p:nvSpPr>
          <p:spPr>
            <a:xfrm>
              <a:off x="7346950" y="3759200"/>
              <a:ext cx="5461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</a:t>
              </a:r>
              <a:r>
                <a:rPr b="0" baseline="-2500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04" name="Google Shape;104;p4"/>
            <p:cNvSpPr txBox="1"/>
            <p:nvPr/>
          </p:nvSpPr>
          <p:spPr>
            <a:xfrm>
              <a:off x="6635750" y="4184650"/>
              <a:ext cx="5461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</a:t>
              </a:r>
              <a:r>
                <a:rPr b="0" baseline="-2500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cxnSp>
          <p:nvCxnSpPr>
            <p:cNvPr id="105" name="Google Shape;105;p4"/>
            <p:cNvCxnSpPr/>
            <p:nvPr/>
          </p:nvCxnSpPr>
          <p:spPr>
            <a:xfrm>
              <a:off x="7912100" y="4114800"/>
              <a:ext cx="104775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descr="Pergamino" id="106" name="Google Shape;106;p4"/>
            <p:cNvSpPr txBox="1"/>
            <p:nvPr/>
          </p:nvSpPr>
          <p:spPr>
            <a:xfrm>
              <a:off x="7464425" y="4178300"/>
              <a:ext cx="406400" cy="2667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4"/>
            <p:cNvSpPr txBox="1"/>
            <p:nvPr/>
          </p:nvSpPr>
          <p:spPr>
            <a:xfrm>
              <a:off x="8712200" y="3816350"/>
              <a:ext cx="3175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cxnSp>
          <p:nvCxnSpPr>
            <p:cNvPr id="108" name="Google Shape;108;p4"/>
            <p:cNvCxnSpPr/>
            <p:nvPr/>
          </p:nvCxnSpPr>
          <p:spPr>
            <a:xfrm>
              <a:off x="3606800" y="4235450"/>
              <a:ext cx="3492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09" name="Google Shape;109;p4"/>
            <p:cNvSpPr txBox="1"/>
            <p:nvPr/>
          </p:nvSpPr>
          <p:spPr>
            <a:xfrm>
              <a:off x="5080000" y="4165600"/>
              <a:ext cx="4191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cxnSp>
          <p:nvCxnSpPr>
            <p:cNvPr id="110" name="Google Shape;110;p4"/>
            <p:cNvCxnSpPr/>
            <p:nvPr/>
          </p:nvCxnSpPr>
          <p:spPr>
            <a:xfrm>
              <a:off x="7569200" y="4210050"/>
              <a:ext cx="482600" cy="101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250825" y="1920875"/>
            <a:ext cx="77724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457200" y="3259137"/>
            <a:ext cx="82296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Fuerzas conservativas. Energía potencial. </a:t>
            </a:r>
            <a:endParaRPr b="1" i="1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Potencial Eléctrico. Definición y ejemplos.</a:t>
            </a:r>
            <a:endParaRPr b="1" i="1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Distribuciones continuas de carga.</a:t>
            </a:r>
            <a:endParaRPr/>
          </a:p>
          <a:p>
            <a:pPr indent="-3397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Diferencia de potencial.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85800" y="396875"/>
            <a:ext cx="7772400" cy="12065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Potencial Eléctrico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358775" y="1027112"/>
            <a:ext cx="8785225" cy="814387"/>
          </a:xfrm>
          <a:prstGeom prst="rect">
            <a:avLst/>
          </a:prstGeom>
          <a:solidFill>
            <a:srgbClr val="C2FF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6"/>
          <p:cNvSpPr txBox="1"/>
          <p:nvPr>
            <p:ph idx="1" type="subTitle"/>
          </p:nvPr>
        </p:nvSpPr>
        <p:spPr>
          <a:xfrm>
            <a:off x="323850" y="450850"/>
            <a:ext cx="8424862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POTENCIAL ELECTRICO</a:t>
            </a:r>
            <a:endParaRPr/>
          </a:p>
          <a:p>
            <a:pPr indent="0" lvl="0" marL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0" sz="24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52400" lvl="0" marL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fuerza eléctrica es una fuerza conservativa, es decir, se le puede asociar una energía potencial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3028950" y="3259137"/>
            <a:ext cx="5616575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 levantar un cuerpo, en contra del campo gravitacional, se debe realizar un trabajo, este trabajo se acumula como </a:t>
            </a:r>
            <a:r>
              <a:rPr b="0" i="0" lang="en-US" sz="24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Energía potencial gravitacional</a:t>
            </a:r>
            <a:endParaRPr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2381250"/>
            <a:ext cx="2052637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457200" y="1182687"/>
            <a:ext cx="8229600" cy="5145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 mismo ocurre en el caso del resorte al comprimirlo y del eléctrico, al mover una carga en contra de un campo eléctrico  </a:t>
            </a:r>
            <a:endParaRPr/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775" y="4438650"/>
            <a:ext cx="4014787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2137" y="2600325"/>
            <a:ext cx="2879725" cy="137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-612576" y="164639"/>
            <a:ext cx="4572000" cy="50642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-405284" y="630804"/>
            <a:ext cx="4879180" cy="50642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-240022" y="1016769"/>
            <a:ext cx="3826892" cy="93371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395536" y="1753847"/>
            <a:ext cx="4879180" cy="9771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179512" y="2620114"/>
            <a:ext cx="4879180" cy="9771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-299724" y="3639105"/>
            <a:ext cx="7196473" cy="9771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-430982" y="4615333"/>
            <a:ext cx="4879180" cy="9142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-405284" y="5437646"/>
            <a:ext cx="4879180" cy="9142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-240022" y="6256918"/>
            <a:ext cx="4879180" cy="7961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323850" y="450850"/>
            <a:ext cx="8362950" cy="63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ENERGIA POTENCIAL ELECTRICA (U)</a:t>
            </a:r>
            <a:endParaRPr/>
          </a:p>
          <a:p>
            <a:pPr indent="-13970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Energía que posee una carga en virtud de posición en un campo eléctrico</a:t>
            </a:r>
            <a:endParaRPr/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3970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Es igual al trabajo realizado por un agente externo contra las fuerzas eléctricas para llevar una carga +q desde el infinito hasta esa distancia</a:t>
            </a:r>
            <a:endParaRPr/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0795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Como toda forma de energía, la energía potencial eléctrica se mide en Joule</a:t>
            </a:r>
            <a:endParaRPr/>
          </a:p>
          <a:p>
            <a:pPr indent="-23177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4525" y="3667125"/>
            <a:ext cx="208597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12" y="3043237"/>
            <a:ext cx="443865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10"/>
          <p:cNvGraphicFramePr/>
          <p:nvPr/>
        </p:nvGraphicFramePr>
        <p:xfrm>
          <a:off x="179387" y="595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{C942A076-3AF6-475F-96DD-521DAEBB3B82}</a:tableStyleId>
              </a:tblPr>
              <a:tblGrid>
                <a:gridCol w="4357675"/>
                <a:gridCol w="43561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Verdan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CARGAS DE IGUAL SIGNO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Verdan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CARGAS DE SIGNO OPUESTO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  <a:tr h="25606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Verdana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 requiere trabajo motor para acercar la carga de prueba 🡪 la energía potencial eléctrica es </a:t>
                      </a:r>
                      <a:r>
                        <a:rPr b="0" i="0" lang="en-US" sz="1800" u="sng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positiva</a:t>
                      </a:r>
                      <a:endParaRPr b="0" i="0" sz="1800" u="sng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Verdana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 requiere trabajo resistivo para a acercar la carga de prueba 🡪 la energía potencial eléctrica es </a:t>
                      </a:r>
                      <a:r>
                        <a:rPr b="0" i="0" lang="en-US" sz="1800" u="sng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negativa</a:t>
                      </a:r>
                      <a:endParaRPr b="0" i="0" sz="1800" u="sng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sng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650" marB="456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504950"/>
            <a:ext cx="30765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8262" y="1497012"/>
            <a:ext cx="30099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457200" y="379412"/>
            <a:ext cx="8229600" cy="593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POTENCIAL ELECTRICO (V)</a:t>
            </a:r>
            <a:endParaRPr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771525"/>
            <a:ext cx="8324850" cy="43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950" y="5170487"/>
            <a:ext cx="72104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6312" y="5791200"/>
            <a:ext cx="21717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179387" y="450850"/>
            <a:ext cx="8640762" cy="586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POTENCIAL ELECTRICO (V)</a:t>
            </a:r>
            <a:endParaRPr/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1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 el potencial en un punto sea de 12 V significa que existiran12 J de energía por cada Coulomb de carga que se ubique en dicho punto</a:t>
            </a:r>
            <a:endParaRPr/>
          </a:p>
          <a:p>
            <a:pPr indent="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1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1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 potencial eléctrico es una </a:t>
            </a:r>
            <a:r>
              <a:rPr b="0" i="1" lang="en-US" sz="18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magnitud escala</a:t>
            </a:r>
            <a:r>
              <a:rPr b="0" i="1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endParaRPr b="0" i="1" sz="18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1" i="1" sz="1800" u="none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062" y="1531937"/>
            <a:ext cx="6838950" cy="8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1062" y="2951162"/>
            <a:ext cx="73056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idx="1" type="body"/>
          </p:nvPr>
        </p:nvSpPr>
        <p:spPr>
          <a:xfrm>
            <a:off x="457200" y="379412"/>
            <a:ext cx="82296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9725" lvl="0" marL="339725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Es posible determinar el valor Potencial eléctrico para cualquier posición dentro de un campo eléctrico</a:t>
            </a:r>
            <a:endParaRPr/>
          </a:p>
          <a:p>
            <a:pPr indent="-2254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4787900" y="1179512"/>
            <a:ext cx="41783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 potencial eléctrico a una distancia “r” de una carga generadora se puede obtener de la siguiente forma: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2492375"/>
            <a:ext cx="14097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125" y="3794125"/>
            <a:ext cx="18478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 txBox="1"/>
          <p:nvPr/>
        </p:nvSpPr>
        <p:spPr>
          <a:xfrm>
            <a:off x="673100" y="5132387"/>
            <a:ext cx="82296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Por lo tanto, obtenemos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4" name="Google Shape;18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4025" y="5191125"/>
            <a:ext cx="16192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/>
          <p:nvPr/>
        </p:nvSpPr>
        <p:spPr>
          <a:xfrm>
            <a:off x="6697662" y="3495675"/>
            <a:ext cx="360362" cy="234950"/>
          </a:xfrm>
          <a:prstGeom prst="downArrow">
            <a:avLst>
              <a:gd fmla="val 108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3"/>
          <p:cNvSpPr/>
          <p:nvPr/>
        </p:nvSpPr>
        <p:spPr>
          <a:xfrm flipH="1" rot="-5400000">
            <a:off x="6306343" y="4987131"/>
            <a:ext cx="511175" cy="630237"/>
          </a:xfrm>
          <a:custGeom>
            <a:rect b="b" l="l" r="r" t="t"/>
            <a:pathLst>
              <a:path extrusionOk="0" h="630237" w="511175">
                <a:moveTo>
                  <a:pt x="0" y="502443"/>
                </a:moveTo>
                <a:lnTo>
                  <a:pt x="319484" y="502443"/>
                </a:lnTo>
                <a:lnTo>
                  <a:pt x="319484" y="127794"/>
                </a:lnTo>
                <a:lnTo>
                  <a:pt x="255588" y="127794"/>
                </a:lnTo>
                <a:lnTo>
                  <a:pt x="383381" y="0"/>
                </a:lnTo>
                <a:lnTo>
                  <a:pt x="511175" y="127794"/>
                </a:lnTo>
                <a:lnTo>
                  <a:pt x="447278" y="127794"/>
                </a:lnTo>
                <a:lnTo>
                  <a:pt x="447278" y="630237"/>
                </a:lnTo>
                <a:lnTo>
                  <a:pt x="0" y="630237"/>
                </a:lnTo>
                <a:lnTo>
                  <a:pt x="0" y="502443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150" y="1179512"/>
            <a:ext cx="48768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1325" y="5203825"/>
            <a:ext cx="161925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457200" y="306387"/>
            <a:ext cx="8229600" cy="4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ANALIZANDO</a:t>
            </a: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 confirma que el potencial eléctrico es independiente de la carga de prueba</a:t>
            </a:r>
            <a:endParaRPr/>
          </a:p>
          <a:p>
            <a:pPr indent="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 importancia del potencial eléctrico, es que permite asignarle un valor a cualquier punto de un campo eléctrico</a:t>
            </a:r>
            <a:endParaRPr/>
          </a:p>
          <a:p>
            <a:pPr indent="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 puede hablar de potenciales eléctricos en distintos lugares de un campo eléctrico, haya o no haya cargas que ocupen esos lugares 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4" name="Google Shape;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2137" y="523875"/>
            <a:ext cx="1619250" cy="84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14"/>
          <p:cNvGraphicFramePr/>
          <p:nvPr/>
        </p:nvGraphicFramePr>
        <p:xfrm>
          <a:off x="636587" y="4843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{C942A076-3AF6-475F-96DD-521DAEBB3B82}</a:tableStyleId>
              </a:tblPr>
              <a:tblGrid>
                <a:gridCol w="2743200"/>
                <a:gridCol w="2743200"/>
                <a:gridCol w="2743200"/>
              </a:tblGrid>
              <a:tr h="70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 la carga Q  es positiva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 potencial es positivo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Alto Potencial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 la carga Q es negativa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 potencial es negativo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Bajo potencial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457200" y="450850"/>
            <a:ext cx="8229600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POTENCIAL RESULTANTE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 determina el potencial generado por cada carga: V</a:t>
            </a:r>
            <a:r>
              <a:rPr b="0" baseline="-2500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V</a:t>
            </a:r>
            <a:r>
              <a:rPr b="0" baseline="-2500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y V</a:t>
            </a:r>
            <a:r>
              <a:rPr b="0" baseline="-2500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  <a:p>
            <a:pPr indent="-11430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Luego, se suman </a:t>
            </a:r>
            <a:r>
              <a:rPr b="0" i="0" lang="en-US" sz="18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algebraicamente</a:t>
            </a: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todos los potenciales</a:t>
            </a: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955675"/>
            <a:ext cx="5375275" cy="3929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Potencial eléctrico generado por una distribución continua de carga</a:t>
            </a:r>
            <a:endParaRPr/>
          </a:p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685800" y="2090737"/>
            <a:ext cx="3808412" cy="3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9725" lvl="0" marL="339725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•"/>
            </a:pPr>
            <a:r>
              <a:rPr b="0" i="0" lang="en-US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la distribución de carga es continua y no una colección de puntos, la suma debe reemplazarse por una integral</a:t>
            </a:r>
            <a:endParaRPr/>
          </a:p>
          <a:p>
            <a:pPr indent="-200025" lvl="0" marL="339725" marR="0" rtl="0" algn="l">
              <a:lnSpc>
                <a:spcPct val="7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339725" marR="0" rtl="0" algn="l">
              <a:lnSpc>
                <a:spcPct val="7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39725" marR="0" rtl="0" algn="l">
              <a:lnSpc>
                <a:spcPct val="7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•"/>
            </a:pPr>
            <a:r>
              <a:rPr b="0" i="0" lang="en-US" sz="2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Siendo dq un elemento diferencial de la distribución de carga, r su distancia al punto en el cual se calcula V y dV el potencial que dq  produce en ese punto</a:t>
            </a:r>
            <a:endParaRPr/>
          </a:p>
          <a:p>
            <a:pPr indent="-2000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ampo eléctrico producido por un elemento dS de una distribución superficial continua de carga." id="208" name="Google Shape;2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062" y="2759075"/>
            <a:ext cx="2811462" cy="1649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=\int dV =\frac{1}{4\pi{\epsilon}_0}\int \frac {dq}{r}" id="209" name="Google Shape;2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637" y="3514725"/>
            <a:ext cx="21050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457200" y="450850"/>
            <a:ext cx="8229600" cy="586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FLUJO DE CARGAS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En el caso de las cargas eléctricas</a:t>
            </a:r>
            <a:endParaRPr/>
          </a:p>
        </p:txBody>
      </p:sp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1201737"/>
            <a:ext cx="80486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3981450"/>
            <a:ext cx="8713787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idx="1" type="body"/>
          </p:nvPr>
        </p:nvSpPr>
        <p:spPr>
          <a:xfrm>
            <a:off x="457200" y="450850"/>
            <a:ext cx="8229600" cy="6408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9725" lvl="0" marL="339725" marR="0" rtl="0" algn="just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Para mantener la</a:t>
            </a:r>
            <a:r>
              <a:rPr b="1" i="0" lang="en-US" sz="1800" u="non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i="0" lang="en-US" sz="1800" u="sng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diferencia de potencial </a:t>
            </a: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constante, entre los extremos de un conductor se recurre a dispositivos como pilas, baterías, generadores</a:t>
            </a:r>
            <a:endParaRPr/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 esta forma, se mantiene un flujo de cargas (corriente eléctrica) constante</a:t>
            </a:r>
            <a:endParaRPr/>
          </a:p>
          <a:p>
            <a:pPr indent="-3397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just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 diferencia de potencial entrega la energía necesaria para desplazar a los electrones dentro de un circuito</a:t>
            </a:r>
            <a:endParaRPr/>
          </a:p>
          <a:p>
            <a:pPr indent="-339725" lvl="0" marL="339725" marR="0" rtl="0" algn="l">
              <a:lnSpc>
                <a:spcPct val="8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54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671637"/>
            <a:ext cx="48196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466975"/>
            <a:ext cx="22764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0" y="595312"/>
            <a:ext cx="4356100" cy="57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9725" lvl="0" marL="339725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 agua fluye  en el tubo debido a la diferencia de presión en los extremos</a:t>
            </a:r>
            <a:endParaRPr/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 misión de la bomba es mantener esta diferencia de presiones</a:t>
            </a:r>
            <a:endParaRPr/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 carga eléctrica fluye en un conductor cuando los extremos de este están conectados a puntos a diferente presión eléctrica (voltaje)</a:t>
            </a:r>
            <a:endParaRPr/>
          </a:p>
          <a:p>
            <a:pPr indent="-23177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 misión de la pila es mantener la diferencia de potencial</a:t>
            </a:r>
            <a:endParaRPr/>
          </a:p>
          <a:p>
            <a:pPr indent="-33972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97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177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0912" y="523875"/>
            <a:ext cx="4291012" cy="2817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5987" y="4267200"/>
            <a:ext cx="4275137" cy="21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idx="1" type="body"/>
          </p:nvPr>
        </p:nvSpPr>
        <p:spPr>
          <a:xfrm>
            <a:off x="395287" y="379412"/>
            <a:ext cx="8507412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Una esfera de 10 cm de radio posee una carga positiva de 6 μC, se conecta con otra esfera de 5 cm de radio, mediante un conductor. Determina la carga de cada esfera luego del equilibrio</a:t>
            </a:r>
            <a:endParaRPr/>
          </a:p>
          <a:p>
            <a:pPr indent="-2254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311275"/>
            <a:ext cx="49149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256270" y="4042805"/>
            <a:ext cx="2179891" cy="40434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5371" l="-2791" r="-223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238" name="Google Shape;2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9725" y="1274762"/>
            <a:ext cx="2346325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5436096" y="3669304"/>
            <a:ext cx="3319435" cy="7778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240" name="Google Shape;240;p20"/>
          <p:cNvCxnSpPr/>
          <p:nvPr/>
        </p:nvCxnSpPr>
        <p:spPr>
          <a:xfrm flipH="1" rot="10800000">
            <a:off x="8172450" y="5922962"/>
            <a:ext cx="582612" cy="504825"/>
          </a:xfrm>
          <a:prstGeom prst="straightConnector1">
            <a:avLst/>
          </a:prstGeom>
          <a:solidFill>
            <a:srgbClr val="00B8FF"/>
          </a:solidFill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1" name="Google Shape;241;p20"/>
          <p:cNvCxnSpPr/>
          <p:nvPr/>
        </p:nvCxnSpPr>
        <p:spPr>
          <a:xfrm flipH="1" rot="10800000">
            <a:off x="8324850" y="6075362"/>
            <a:ext cx="582612" cy="504825"/>
          </a:xfrm>
          <a:prstGeom prst="straightConnector1">
            <a:avLst/>
          </a:prstGeom>
          <a:solidFill>
            <a:srgbClr val="00B8FF"/>
          </a:solidFill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2" name="Google Shape;242;p20"/>
          <p:cNvCxnSpPr/>
          <p:nvPr/>
        </p:nvCxnSpPr>
        <p:spPr>
          <a:xfrm flipH="1" rot="10800000">
            <a:off x="8477250" y="6227762"/>
            <a:ext cx="582612" cy="504825"/>
          </a:xfrm>
          <a:prstGeom prst="straightConnector1">
            <a:avLst/>
          </a:prstGeom>
          <a:solidFill>
            <a:srgbClr val="00B8FF"/>
          </a:solidFill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idx="1" type="body"/>
          </p:nvPr>
        </p:nvSpPr>
        <p:spPr>
          <a:xfrm>
            <a:off x="457200" y="379412"/>
            <a:ext cx="8229600" cy="593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 define la diferencia de potencial eléctrico (ddp): 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 ubicar una carga en un campo eléctrico, la fuerza eléctrica realizara trabajo sobre ella, transfiriéndole energía</a:t>
            </a:r>
            <a:endParaRPr/>
          </a:p>
          <a:p>
            <a:pPr indent="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14300" lvl="0" marL="0" marR="0" rtl="0" algn="just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 diferencia de potencial es una medida de cuanta energía puede adquirir una carga en cierta situación</a:t>
            </a:r>
            <a:endParaRPr/>
          </a:p>
          <a:p>
            <a:pPr indent="-2254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12" y="2682875"/>
            <a:ext cx="5040312" cy="43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>
            <p:ph type="title"/>
          </p:nvPr>
        </p:nvSpPr>
        <p:spPr>
          <a:xfrm>
            <a:off x="250825" y="1920875"/>
            <a:ext cx="77724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57200" y="3259137"/>
            <a:ext cx="82296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Leyes fundamentales teoría electromagnética.</a:t>
            </a:r>
            <a:endParaRPr b="1" i="1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Flujo de campo eléctrico. Definición y ejemplos.</a:t>
            </a:r>
            <a:endParaRPr b="1" i="1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Utilidad. Ejemplos. Ejercicios.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85800" y="396875"/>
            <a:ext cx="7772400" cy="12065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Ley de Gauss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395287" y="933450"/>
            <a:ext cx="7704137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98"/>
              <a:buFont typeface="Arial"/>
              <a:buChar char="•"/>
            </a:pPr>
            <a:r>
              <a:rPr b="1" i="0" lang="en-US" sz="26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Flujo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73050" lvl="1" marL="7302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fluido que atraviesan una superficie dada durante un intervalo de tiempo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23"/>
          <p:cNvCxnSpPr/>
          <p:nvPr/>
        </p:nvCxnSpPr>
        <p:spPr>
          <a:xfrm>
            <a:off x="4716462" y="40528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62" name="Google Shape;262;p23"/>
          <p:cNvCxnSpPr/>
          <p:nvPr/>
        </p:nvCxnSpPr>
        <p:spPr>
          <a:xfrm>
            <a:off x="1116012" y="304482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3" name="Google Shape;263;p23"/>
          <p:cNvCxnSpPr/>
          <p:nvPr/>
        </p:nvCxnSpPr>
        <p:spPr>
          <a:xfrm>
            <a:off x="1116012" y="3475037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4" name="Google Shape;264;p23"/>
          <p:cNvCxnSpPr/>
          <p:nvPr/>
        </p:nvCxnSpPr>
        <p:spPr>
          <a:xfrm>
            <a:off x="1116012" y="391001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5" name="Google Shape;265;p23"/>
          <p:cNvCxnSpPr/>
          <p:nvPr/>
        </p:nvCxnSpPr>
        <p:spPr>
          <a:xfrm>
            <a:off x="1116012" y="434181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6" name="Google Shape;266;p23"/>
          <p:cNvCxnSpPr/>
          <p:nvPr/>
        </p:nvCxnSpPr>
        <p:spPr>
          <a:xfrm>
            <a:off x="1116012" y="477361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7" name="Google Shape;267;p23"/>
          <p:cNvCxnSpPr/>
          <p:nvPr/>
        </p:nvCxnSpPr>
        <p:spPr>
          <a:xfrm>
            <a:off x="1116012" y="520382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8" name="Google Shape;268;p23"/>
          <p:cNvCxnSpPr/>
          <p:nvPr/>
        </p:nvCxnSpPr>
        <p:spPr>
          <a:xfrm>
            <a:off x="5724525" y="30448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69" name="Google Shape;269;p23"/>
          <p:cNvCxnSpPr/>
          <p:nvPr/>
        </p:nvCxnSpPr>
        <p:spPr>
          <a:xfrm>
            <a:off x="5724525" y="34766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0" name="Google Shape;270;p23"/>
          <p:cNvCxnSpPr/>
          <p:nvPr/>
        </p:nvCxnSpPr>
        <p:spPr>
          <a:xfrm>
            <a:off x="5651500" y="39100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1" name="Google Shape;271;p23"/>
          <p:cNvCxnSpPr/>
          <p:nvPr/>
        </p:nvCxnSpPr>
        <p:spPr>
          <a:xfrm>
            <a:off x="5651500" y="43418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2" name="Google Shape;272;p23"/>
          <p:cNvCxnSpPr/>
          <p:nvPr/>
        </p:nvCxnSpPr>
        <p:spPr>
          <a:xfrm>
            <a:off x="5651500" y="47736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3" name="Google Shape;273;p23"/>
          <p:cNvCxnSpPr/>
          <p:nvPr/>
        </p:nvCxnSpPr>
        <p:spPr>
          <a:xfrm>
            <a:off x="5651500" y="52054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4" name="Google Shape;274;p23"/>
          <p:cNvCxnSpPr/>
          <p:nvPr/>
        </p:nvCxnSpPr>
        <p:spPr>
          <a:xfrm>
            <a:off x="1908175" y="39100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5" name="Google Shape;275;p23"/>
          <p:cNvCxnSpPr/>
          <p:nvPr/>
        </p:nvCxnSpPr>
        <p:spPr>
          <a:xfrm>
            <a:off x="1908175" y="34766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6" name="Google Shape;276;p23"/>
          <p:cNvCxnSpPr/>
          <p:nvPr/>
        </p:nvCxnSpPr>
        <p:spPr>
          <a:xfrm>
            <a:off x="1908175" y="30448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7" name="Google Shape;277;p23"/>
          <p:cNvCxnSpPr/>
          <p:nvPr/>
        </p:nvCxnSpPr>
        <p:spPr>
          <a:xfrm>
            <a:off x="1908175" y="43418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8" name="Google Shape;278;p23"/>
          <p:cNvCxnSpPr/>
          <p:nvPr/>
        </p:nvCxnSpPr>
        <p:spPr>
          <a:xfrm>
            <a:off x="1908175" y="47736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9" name="Google Shape;279;p23"/>
          <p:cNvCxnSpPr/>
          <p:nvPr/>
        </p:nvCxnSpPr>
        <p:spPr>
          <a:xfrm>
            <a:off x="1908175" y="52054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80" name="Google Shape;280;p23"/>
          <p:cNvSpPr txBox="1"/>
          <p:nvPr/>
        </p:nvSpPr>
        <p:spPr>
          <a:xfrm>
            <a:off x="4356100" y="3981450"/>
            <a:ext cx="7207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281" name="Google Shape;281;p23"/>
          <p:cNvCxnSpPr/>
          <p:nvPr/>
        </p:nvCxnSpPr>
        <p:spPr>
          <a:xfrm flipH="1" rot="10800000">
            <a:off x="3708400" y="3765550"/>
            <a:ext cx="936625" cy="503237"/>
          </a:xfrm>
          <a:prstGeom prst="straightConnector1">
            <a:avLst/>
          </a:prstGeom>
          <a:noFill/>
          <a:ln cap="flat" cmpd="sng" w="38100">
            <a:solidFill>
              <a:srgbClr val="0066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82" name="Google Shape;282;p23"/>
          <p:cNvSpPr/>
          <p:nvPr/>
        </p:nvSpPr>
        <p:spPr>
          <a:xfrm rot="-1380000">
            <a:off x="2863850" y="3787775"/>
            <a:ext cx="1800225" cy="1008062"/>
          </a:xfrm>
          <a:prstGeom prst="parallelogram">
            <a:avLst>
              <a:gd fmla="val 3024" name="adj"/>
            </a:avLst>
          </a:prstGeom>
          <a:solidFill>
            <a:srgbClr val="CD698D">
              <a:alpha val="13725"/>
            </a:srgbClr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4213225" y="3405187"/>
            <a:ext cx="7207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284" name="Google Shape;284;p23"/>
          <p:cNvCxnSpPr/>
          <p:nvPr/>
        </p:nvCxnSpPr>
        <p:spPr>
          <a:xfrm>
            <a:off x="4645025" y="34051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5" name="Google Shape;285;p23"/>
          <p:cNvCxnSpPr/>
          <p:nvPr/>
        </p:nvCxnSpPr>
        <p:spPr>
          <a:xfrm>
            <a:off x="3708400" y="4268787"/>
            <a:ext cx="720725" cy="1587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86" name="Google Shape;286;p23"/>
          <p:cNvSpPr txBox="1"/>
          <p:nvPr/>
        </p:nvSpPr>
        <p:spPr>
          <a:xfrm>
            <a:off x="2413000" y="2395537"/>
            <a:ext cx="3024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v  A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3563937" y="2611437"/>
            <a:ext cx="71437" cy="73025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8" name="Google Shape;288;p23"/>
          <p:cNvCxnSpPr/>
          <p:nvPr/>
        </p:nvCxnSpPr>
        <p:spPr>
          <a:xfrm>
            <a:off x="3779837" y="239553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9" name="Google Shape;289;p23"/>
          <p:cNvCxnSpPr/>
          <p:nvPr/>
        </p:nvCxnSpPr>
        <p:spPr>
          <a:xfrm>
            <a:off x="3348037" y="246856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0" name="Google Shape;290;p23"/>
          <p:cNvCxnSpPr/>
          <p:nvPr/>
        </p:nvCxnSpPr>
        <p:spPr>
          <a:xfrm flipH="1" rot="10800000">
            <a:off x="8172450" y="5922962"/>
            <a:ext cx="582612" cy="504825"/>
          </a:xfrm>
          <a:prstGeom prst="straightConnector1">
            <a:avLst/>
          </a:prstGeom>
          <a:solidFill>
            <a:srgbClr val="00B8FF"/>
          </a:solidFill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1" name="Google Shape;291;p23"/>
          <p:cNvCxnSpPr/>
          <p:nvPr/>
        </p:nvCxnSpPr>
        <p:spPr>
          <a:xfrm flipH="1" rot="10800000">
            <a:off x="8324850" y="6075362"/>
            <a:ext cx="582612" cy="504825"/>
          </a:xfrm>
          <a:prstGeom prst="straightConnector1">
            <a:avLst/>
          </a:prstGeom>
          <a:solidFill>
            <a:srgbClr val="00B8FF"/>
          </a:solidFill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2" name="Google Shape;292;p23"/>
          <p:cNvCxnSpPr/>
          <p:nvPr/>
        </p:nvCxnSpPr>
        <p:spPr>
          <a:xfrm flipH="1" rot="10800000">
            <a:off x="8477250" y="6227762"/>
            <a:ext cx="582612" cy="504825"/>
          </a:xfrm>
          <a:prstGeom prst="straightConnector1">
            <a:avLst/>
          </a:prstGeom>
          <a:solidFill>
            <a:srgbClr val="00B8FF"/>
          </a:solidFill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/>
        </p:nvSpPr>
        <p:spPr>
          <a:xfrm>
            <a:off x="719137" y="1220787"/>
            <a:ext cx="7704137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98"/>
              <a:buFont typeface="Arial"/>
              <a:buChar char="•"/>
            </a:pPr>
            <a:r>
              <a:rPr b="1" i="0" lang="en-US" sz="26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Flujo de un Campo Eléctrico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302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fluido que atraviesan una superficie dada durante un intervalo de tiempo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24"/>
          <p:cNvCxnSpPr/>
          <p:nvPr/>
        </p:nvCxnSpPr>
        <p:spPr>
          <a:xfrm>
            <a:off x="1439862" y="333216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99" name="Google Shape;299;p24"/>
          <p:cNvCxnSpPr/>
          <p:nvPr/>
        </p:nvCxnSpPr>
        <p:spPr>
          <a:xfrm>
            <a:off x="1439862" y="376237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0" name="Google Shape;300;p24"/>
          <p:cNvCxnSpPr/>
          <p:nvPr/>
        </p:nvCxnSpPr>
        <p:spPr>
          <a:xfrm>
            <a:off x="1439862" y="41973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1" name="Google Shape;301;p24"/>
          <p:cNvCxnSpPr/>
          <p:nvPr/>
        </p:nvCxnSpPr>
        <p:spPr>
          <a:xfrm>
            <a:off x="1439862" y="46291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2" name="Google Shape;302;p24"/>
          <p:cNvCxnSpPr/>
          <p:nvPr/>
        </p:nvCxnSpPr>
        <p:spPr>
          <a:xfrm>
            <a:off x="1439862" y="50609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3" name="Google Shape;303;p24"/>
          <p:cNvCxnSpPr/>
          <p:nvPr/>
        </p:nvCxnSpPr>
        <p:spPr>
          <a:xfrm>
            <a:off x="1439862" y="549116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4" name="Google Shape;304;p24"/>
          <p:cNvCxnSpPr/>
          <p:nvPr/>
        </p:nvCxnSpPr>
        <p:spPr>
          <a:xfrm>
            <a:off x="6048375" y="33321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5" name="Google Shape;305;p24"/>
          <p:cNvCxnSpPr/>
          <p:nvPr/>
        </p:nvCxnSpPr>
        <p:spPr>
          <a:xfrm>
            <a:off x="6048375" y="37639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6" name="Google Shape;306;p24"/>
          <p:cNvCxnSpPr/>
          <p:nvPr/>
        </p:nvCxnSpPr>
        <p:spPr>
          <a:xfrm>
            <a:off x="5975350" y="41973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7" name="Google Shape;307;p24"/>
          <p:cNvCxnSpPr/>
          <p:nvPr/>
        </p:nvCxnSpPr>
        <p:spPr>
          <a:xfrm>
            <a:off x="5975350" y="46291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8" name="Google Shape;308;p24"/>
          <p:cNvCxnSpPr/>
          <p:nvPr/>
        </p:nvCxnSpPr>
        <p:spPr>
          <a:xfrm>
            <a:off x="5975350" y="50609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9" name="Google Shape;309;p24"/>
          <p:cNvCxnSpPr/>
          <p:nvPr/>
        </p:nvCxnSpPr>
        <p:spPr>
          <a:xfrm>
            <a:off x="5975350" y="54927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10" name="Google Shape;310;p24"/>
          <p:cNvCxnSpPr/>
          <p:nvPr/>
        </p:nvCxnSpPr>
        <p:spPr>
          <a:xfrm>
            <a:off x="2232025" y="41973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11" name="Google Shape;311;p24"/>
          <p:cNvCxnSpPr/>
          <p:nvPr/>
        </p:nvCxnSpPr>
        <p:spPr>
          <a:xfrm>
            <a:off x="2232025" y="37639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12" name="Google Shape;312;p24"/>
          <p:cNvCxnSpPr/>
          <p:nvPr/>
        </p:nvCxnSpPr>
        <p:spPr>
          <a:xfrm>
            <a:off x="2232025" y="33321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13" name="Google Shape;313;p24"/>
          <p:cNvCxnSpPr/>
          <p:nvPr/>
        </p:nvCxnSpPr>
        <p:spPr>
          <a:xfrm>
            <a:off x="2232025" y="46291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14" name="Google Shape;314;p24"/>
          <p:cNvCxnSpPr/>
          <p:nvPr/>
        </p:nvCxnSpPr>
        <p:spPr>
          <a:xfrm>
            <a:off x="2232025" y="50609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15" name="Google Shape;315;p24"/>
          <p:cNvCxnSpPr/>
          <p:nvPr/>
        </p:nvCxnSpPr>
        <p:spPr>
          <a:xfrm>
            <a:off x="2232025" y="54927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16" name="Google Shape;316;p24"/>
          <p:cNvSpPr txBox="1"/>
          <p:nvPr/>
        </p:nvSpPr>
        <p:spPr>
          <a:xfrm>
            <a:off x="2736850" y="2682875"/>
            <a:ext cx="3024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E  dA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3960812" y="2898775"/>
            <a:ext cx="71437" cy="73025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8" name="Google Shape;318;p24"/>
          <p:cNvCxnSpPr/>
          <p:nvPr/>
        </p:nvCxnSpPr>
        <p:spPr>
          <a:xfrm>
            <a:off x="4248150" y="268287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9" name="Google Shape;319;p24"/>
          <p:cNvCxnSpPr/>
          <p:nvPr/>
        </p:nvCxnSpPr>
        <p:spPr>
          <a:xfrm>
            <a:off x="3671887" y="268287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0" name="Google Shape;320;p24"/>
          <p:cNvSpPr/>
          <p:nvPr/>
        </p:nvSpPr>
        <p:spPr>
          <a:xfrm>
            <a:off x="3671887" y="3332162"/>
            <a:ext cx="1895475" cy="2219325"/>
          </a:xfrm>
          <a:custGeom>
            <a:rect b="b" l="l" r="r" t="t"/>
            <a:pathLst>
              <a:path extrusionOk="0" h="1398" w="1194">
                <a:moveTo>
                  <a:pt x="53" y="317"/>
                </a:moveTo>
                <a:cubicBezTo>
                  <a:pt x="68" y="219"/>
                  <a:pt x="122" y="135"/>
                  <a:pt x="235" y="90"/>
                </a:cubicBezTo>
                <a:cubicBezTo>
                  <a:pt x="348" y="45"/>
                  <a:pt x="621" y="0"/>
                  <a:pt x="734" y="45"/>
                </a:cubicBezTo>
                <a:cubicBezTo>
                  <a:pt x="847" y="90"/>
                  <a:pt x="840" y="249"/>
                  <a:pt x="915" y="362"/>
                </a:cubicBezTo>
                <a:cubicBezTo>
                  <a:pt x="990" y="475"/>
                  <a:pt x="1194" y="604"/>
                  <a:pt x="1187" y="725"/>
                </a:cubicBezTo>
                <a:cubicBezTo>
                  <a:pt x="1180" y="846"/>
                  <a:pt x="991" y="982"/>
                  <a:pt x="870" y="1088"/>
                </a:cubicBezTo>
                <a:cubicBezTo>
                  <a:pt x="749" y="1194"/>
                  <a:pt x="598" y="1398"/>
                  <a:pt x="462" y="1360"/>
                </a:cubicBezTo>
                <a:cubicBezTo>
                  <a:pt x="326" y="1322"/>
                  <a:pt x="106" y="974"/>
                  <a:pt x="53" y="861"/>
                </a:cubicBezTo>
                <a:cubicBezTo>
                  <a:pt x="0" y="748"/>
                  <a:pt x="144" y="771"/>
                  <a:pt x="144" y="680"/>
                </a:cubicBezTo>
                <a:cubicBezTo>
                  <a:pt x="144" y="589"/>
                  <a:pt x="38" y="415"/>
                  <a:pt x="53" y="317"/>
                </a:cubicBezTo>
                <a:close/>
              </a:path>
            </a:pathLst>
          </a:custGeom>
          <a:gradFill>
            <a:gsLst>
              <a:gs pos="0">
                <a:srgbClr val="3333CC">
                  <a:alpha val="50980"/>
                </a:srgbClr>
              </a:gs>
              <a:gs pos="100000">
                <a:srgbClr val="18185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1" name="Google Shape;321;p24"/>
          <p:cNvCxnSpPr/>
          <p:nvPr/>
        </p:nvCxnSpPr>
        <p:spPr>
          <a:xfrm>
            <a:off x="5688012" y="40528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2" name="Google Shape;322;p24"/>
          <p:cNvSpPr txBox="1"/>
          <p:nvPr/>
        </p:nvSpPr>
        <p:spPr>
          <a:xfrm>
            <a:off x="5327650" y="3981450"/>
            <a:ext cx="7207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323" name="Google Shape;323;p24"/>
          <p:cNvCxnSpPr/>
          <p:nvPr/>
        </p:nvCxnSpPr>
        <p:spPr>
          <a:xfrm flipH="1" rot="10800000">
            <a:off x="4679950" y="3765550"/>
            <a:ext cx="936625" cy="503237"/>
          </a:xfrm>
          <a:prstGeom prst="straightConnector1">
            <a:avLst/>
          </a:prstGeom>
          <a:noFill/>
          <a:ln cap="flat" cmpd="sng" w="38100">
            <a:solidFill>
              <a:srgbClr val="0066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4" name="Google Shape;324;p24"/>
          <p:cNvSpPr txBox="1"/>
          <p:nvPr/>
        </p:nvSpPr>
        <p:spPr>
          <a:xfrm>
            <a:off x="5184775" y="3405187"/>
            <a:ext cx="7207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325" name="Google Shape;325;p24"/>
          <p:cNvCxnSpPr/>
          <p:nvPr/>
        </p:nvCxnSpPr>
        <p:spPr>
          <a:xfrm>
            <a:off x="5616575" y="34051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6" name="Google Shape;326;p24"/>
          <p:cNvCxnSpPr/>
          <p:nvPr/>
        </p:nvCxnSpPr>
        <p:spPr>
          <a:xfrm>
            <a:off x="4679950" y="4268787"/>
            <a:ext cx="720725" cy="1587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/>
        </p:nvSpPr>
        <p:spPr>
          <a:xfrm>
            <a:off x="539750" y="738187"/>
            <a:ext cx="7561262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98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Flujo de un campo eléctrico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  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el vector con magnitud 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igual a la medida del área de la superficie y con dirección 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perpendicular a la misma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3060700" y="2633662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= A n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grpSp>
        <p:nvGrpSpPr>
          <p:cNvPr id="333" name="Google Shape;333;p25"/>
          <p:cNvGrpSpPr/>
          <p:nvPr/>
        </p:nvGrpSpPr>
        <p:grpSpPr>
          <a:xfrm>
            <a:off x="4356100" y="2705100"/>
            <a:ext cx="73025" cy="71437"/>
            <a:chOff x="1020" y="3929"/>
            <a:chExt cx="91" cy="91"/>
          </a:xfrm>
        </p:grpSpPr>
        <p:cxnSp>
          <p:nvCxnSpPr>
            <p:cNvPr id="334" name="Google Shape;334;p25"/>
            <p:cNvCxnSpPr/>
            <p:nvPr/>
          </p:nvCxnSpPr>
          <p:spPr>
            <a:xfrm flipH="1" rot="10800000">
              <a:off x="1020" y="3929"/>
              <a:ext cx="46" cy="91"/>
            </a:xfrm>
            <a:prstGeom prst="straightConnector1">
              <a:avLst/>
            </a:prstGeom>
            <a:noFill/>
            <a:ln cap="flat" cmpd="sng" w="12700">
              <a:solidFill>
                <a:srgbClr val="5F5F5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5" name="Google Shape;335;p25"/>
            <p:cNvCxnSpPr/>
            <p:nvPr/>
          </p:nvCxnSpPr>
          <p:spPr>
            <a:xfrm>
              <a:off x="1066" y="3929"/>
              <a:ext cx="45" cy="91"/>
            </a:xfrm>
            <a:prstGeom prst="straightConnector1">
              <a:avLst/>
            </a:prstGeom>
            <a:noFill/>
            <a:ln cap="flat" cmpd="sng" w="12700">
              <a:solidFill>
                <a:srgbClr val="5F5F5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cxnSp>
        <p:nvCxnSpPr>
          <p:cNvPr id="336" name="Google Shape;336;p25"/>
          <p:cNvCxnSpPr/>
          <p:nvPr/>
        </p:nvCxnSpPr>
        <p:spPr>
          <a:xfrm>
            <a:off x="3492500" y="263366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337" name="Google Shape;337;p25"/>
          <p:cNvGrpSpPr/>
          <p:nvPr/>
        </p:nvGrpSpPr>
        <p:grpSpPr>
          <a:xfrm>
            <a:off x="6373812" y="1625600"/>
            <a:ext cx="71437" cy="71437"/>
            <a:chOff x="1020" y="3929"/>
            <a:chExt cx="91" cy="91"/>
          </a:xfrm>
        </p:grpSpPr>
        <p:cxnSp>
          <p:nvCxnSpPr>
            <p:cNvPr id="338" name="Google Shape;338;p25"/>
            <p:cNvCxnSpPr/>
            <p:nvPr/>
          </p:nvCxnSpPr>
          <p:spPr>
            <a:xfrm flipH="1" rot="10800000">
              <a:off x="1020" y="3929"/>
              <a:ext cx="46" cy="91"/>
            </a:xfrm>
            <a:prstGeom prst="straightConnector1">
              <a:avLst/>
            </a:prstGeom>
            <a:noFill/>
            <a:ln cap="flat" cmpd="sng" w="12700">
              <a:solidFill>
                <a:srgbClr val="5F5F5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9" name="Google Shape;339;p25"/>
            <p:cNvCxnSpPr/>
            <p:nvPr/>
          </p:nvCxnSpPr>
          <p:spPr>
            <a:xfrm>
              <a:off x="1066" y="3929"/>
              <a:ext cx="45" cy="91"/>
            </a:xfrm>
            <a:prstGeom prst="straightConnector1">
              <a:avLst/>
            </a:prstGeom>
            <a:noFill/>
            <a:ln cap="flat" cmpd="sng" w="12700">
              <a:solidFill>
                <a:srgbClr val="5F5F5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cxnSp>
        <p:nvCxnSpPr>
          <p:cNvPr id="340" name="Google Shape;340;p25"/>
          <p:cNvCxnSpPr/>
          <p:nvPr/>
        </p:nvCxnSpPr>
        <p:spPr>
          <a:xfrm>
            <a:off x="1404937" y="126523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1" name="Google Shape;341;p25"/>
          <p:cNvSpPr txBox="1"/>
          <p:nvPr/>
        </p:nvSpPr>
        <p:spPr>
          <a:xfrm>
            <a:off x="539750" y="3425825"/>
            <a:ext cx="7704137" cy="74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y  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vector de campo Eléctrico, el flujo </a:t>
            </a:r>
            <a:r>
              <a:rPr b="0" i="0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estará dado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5"/>
          <p:cNvCxnSpPr/>
          <p:nvPr/>
        </p:nvCxnSpPr>
        <p:spPr>
          <a:xfrm>
            <a:off x="1260475" y="34258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3" name="Google Shape;343;p25"/>
          <p:cNvSpPr txBox="1"/>
          <p:nvPr/>
        </p:nvSpPr>
        <p:spPr>
          <a:xfrm>
            <a:off x="2989262" y="4721225"/>
            <a:ext cx="25193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E  A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344" name="Google Shape;344;p25"/>
          <p:cNvCxnSpPr/>
          <p:nvPr/>
        </p:nvCxnSpPr>
        <p:spPr>
          <a:xfrm>
            <a:off x="4284662" y="47212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5" name="Google Shape;345;p25"/>
          <p:cNvCxnSpPr/>
          <p:nvPr/>
        </p:nvCxnSpPr>
        <p:spPr>
          <a:xfrm>
            <a:off x="3924300" y="47212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6" name="Google Shape;346;p25"/>
          <p:cNvSpPr/>
          <p:nvPr/>
        </p:nvSpPr>
        <p:spPr>
          <a:xfrm>
            <a:off x="4213225" y="4937125"/>
            <a:ext cx="71437" cy="73025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6"/>
          <p:cNvGrpSpPr/>
          <p:nvPr/>
        </p:nvGrpSpPr>
        <p:grpSpPr>
          <a:xfrm>
            <a:off x="476250" y="908050"/>
            <a:ext cx="4333875" cy="3895725"/>
            <a:chOff x="0" y="377"/>
            <a:chExt cx="2730" cy="2454"/>
          </a:xfrm>
        </p:grpSpPr>
        <p:cxnSp>
          <p:nvCxnSpPr>
            <p:cNvPr id="352" name="Google Shape;352;p26"/>
            <p:cNvCxnSpPr/>
            <p:nvPr/>
          </p:nvCxnSpPr>
          <p:spPr>
            <a:xfrm>
              <a:off x="0" y="1503"/>
              <a:ext cx="2730" cy="0"/>
            </a:xfrm>
            <a:prstGeom prst="straightConnector1">
              <a:avLst/>
            </a:prstGeom>
            <a:noFill/>
            <a:ln cap="flat" cmpd="sng" w="28575">
              <a:solidFill>
                <a:srgbClr val="006699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353" name="Google Shape;353;p26"/>
            <p:cNvGrpSpPr/>
            <p:nvPr/>
          </p:nvGrpSpPr>
          <p:grpSpPr>
            <a:xfrm>
              <a:off x="200" y="377"/>
              <a:ext cx="2260" cy="2454"/>
              <a:chOff x="200" y="377"/>
              <a:chExt cx="2260" cy="2454"/>
            </a:xfrm>
          </p:grpSpPr>
          <p:sp>
            <p:nvSpPr>
              <p:cNvPr id="354" name="Google Shape;354;p26"/>
              <p:cNvSpPr/>
              <p:nvPr/>
            </p:nvSpPr>
            <p:spPr>
              <a:xfrm>
                <a:off x="989" y="1303"/>
                <a:ext cx="463" cy="401"/>
              </a:xfrm>
              <a:prstGeom prst="ellipse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5" name="Google Shape;355;p26"/>
              <p:cNvSpPr/>
              <p:nvPr/>
            </p:nvSpPr>
            <p:spPr>
              <a:xfrm>
                <a:off x="702" y="969"/>
                <a:ext cx="1038" cy="986"/>
              </a:xfrm>
              <a:custGeom>
                <a:rect b="b" l="l" r="r" t="t"/>
                <a:pathLst>
                  <a:path extrusionOk="0" h="986" w="1038">
                    <a:moveTo>
                      <a:pt x="337" y="34"/>
                    </a:moveTo>
                    <a:cubicBezTo>
                      <a:pt x="312" y="72"/>
                      <a:pt x="294" y="115"/>
                      <a:pt x="262" y="147"/>
                    </a:cubicBezTo>
                    <a:cubicBezTo>
                      <a:pt x="231" y="178"/>
                      <a:pt x="196" y="208"/>
                      <a:pt x="174" y="247"/>
                    </a:cubicBezTo>
                    <a:cubicBezTo>
                      <a:pt x="123" y="336"/>
                      <a:pt x="105" y="439"/>
                      <a:pt x="49" y="522"/>
                    </a:cubicBezTo>
                    <a:cubicBezTo>
                      <a:pt x="57" y="717"/>
                      <a:pt x="0" y="879"/>
                      <a:pt x="162" y="986"/>
                    </a:cubicBezTo>
                    <a:cubicBezTo>
                      <a:pt x="225" y="982"/>
                      <a:pt x="288" y="980"/>
                      <a:pt x="350" y="973"/>
                    </a:cubicBezTo>
                    <a:cubicBezTo>
                      <a:pt x="380" y="970"/>
                      <a:pt x="407" y="949"/>
                      <a:pt x="437" y="948"/>
                    </a:cubicBezTo>
                    <a:cubicBezTo>
                      <a:pt x="612" y="940"/>
                      <a:pt x="788" y="939"/>
                      <a:pt x="963" y="935"/>
                    </a:cubicBezTo>
                    <a:cubicBezTo>
                      <a:pt x="1007" y="906"/>
                      <a:pt x="1022" y="885"/>
                      <a:pt x="1038" y="835"/>
                    </a:cubicBezTo>
                    <a:cubicBezTo>
                      <a:pt x="1034" y="618"/>
                      <a:pt x="1037" y="401"/>
                      <a:pt x="1026" y="184"/>
                    </a:cubicBezTo>
                    <a:cubicBezTo>
                      <a:pt x="1024" y="142"/>
                      <a:pt x="955" y="57"/>
                      <a:pt x="913" y="46"/>
                    </a:cubicBezTo>
                    <a:cubicBezTo>
                      <a:pt x="881" y="37"/>
                      <a:pt x="846" y="38"/>
                      <a:pt x="813" y="34"/>
                    </a:cubicBezTo>
                    <a:cubicBezTo>
                      <a:pt x="727" y="5"/>
                      <a:pt x="638" y="0"/>
                      <a:pt x="550" y="21"/>
                    </a:cubicBezTo>
                    <a:cubicBezTo>
                      <a:pt x="487" y="1"/>
                      <a:pt x="525" y="5"/>
                      <a:pt x="437" y="34"/>
                    </a:cubicBezTo>
                    <a:cubicBezTo>
                      <a:pt x="405" y="45"/>
                      <a:pt x="370" y="34"/>
                      <a:pt x="337" y="34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6" name="Google Shape;356;p26"/>
              <p:cNvSpPr/>
              <p:nvPr/>
            </p:nvSpPr>
            <p:spPr>
              <a:xfrm>
                <a:off x="338" y="687"/>
                <a:ext cx="1960" cy="1742"/>
              </a:xfrm>
              <a:custGeom>
                <a:rect b="b" l="l" r="r" t="t"/>
                <a:pathLst>
                  <a:path extrusionOk="0" h="1742" w="1960">
                    <a:moveTo>
                      <a:pt x="739" y="39"/>
                    </a:moveTo>
                    <a:cubicBezTo>
                      <a:pt x="830" y="24"/>
                      <a:pt x="923" y="17"/>
                      <a:pt x="1014" y="2"/>
                    </a:cubicBezTo>
                    <a:cubicBezTo>
                      <a:pt x="1374" y="10"/>
                      <a:pt x="1411" y="0"/>
                      <a:pt x="1653" y="39"/>
                    </a:cubicBezTo>
                    <a:cubicBezTo>
                      <a:pt x="1692" y="59"/>
                      <a:pt x="1748" y="84"/>
                      <a:pt x="1778" y="114"/>
                    </a:cubicBezTo>
                    <a:cubicBezTo>
                      <a:pt x="1808" y="144"/>
                      <a:pt x="1853" y="215"/>
                      <a:pt x="1853" y="215"/>
                    </a:cubicBezTo>
                    <a:cubicBezTo>
                      <a:pt x="1857" y="232"/>
                      <a:pt x="1859" y="249"/>
                      <a:pt x="1866" y="265"/>
                    </a:cubicBezTo>
                    <a:cubicBezTo>
                      <a:pt x="1880" y="299"/>
                      <a:pt x="1916" y="365"/>
                      <a:pt x="1916" y="365"/>
                    </a:cubicBezTo>
                    <a:cubicBezTo>
                      <a:pt x="1949" y="498"/>
                      <a:pt x="1937" y="431"/>
                      <a:pt x="1953" y="565"/>
                    </a:cubicBezTo>
                    <a:cubicBezTo>
                      <a:pt x="1949" y="657"/>
                      <a:pt x="1960" y="751"/>
                      <a:pt x="1941" y="841"/>
                    </a:cubicBezTo>
                    <a:cubicBezTo>
                      <a:pt x="1934" y="873"/>
                      <a:pt x="1898" y="890"/>
                      <a:pt x="1878" y="916"/>
                    </a:cubicBezTo>
                    <a:cubicBezTo>
                      <a:pt x="1856" y="944"/>
                      <a:pt x="1837" y="974"/>
                      <a:pt x="1816" y="1003"/>
                    </a:cubicBezTo>
                    <a:cubicBezTo>
                      <a:pt x="1758" y="1083"/>
                      <a:pt x="1711" y="1172"/>
                      <a:pt x="1678" y="1266"/>
                    </a:cubicBezTo>
                    <a:cubicBezTo>
                      <a:pt x="1674" y="1309"/>
                      <a:pt x="1671" y="1420"/>
                      <a:pt x="1640" y="1467"/>
                    </a:cubicBezTo>
                    <a:cubicBezTo>
                      <a:pt x="1621" y="1496"/>
                      <a:pt x="1500" y="1549"/>
                      <a:pt x="1490" y="1554"/>
                    </a:cubicBezTo>
                    <a:cubicBezTo>
                      <a:pt x="1438" y="1580"/>
                      <a:pt x="1389" y="1611"/>
                      <a:pt x="1340" y="1642"/>
                    </a:cubicBezTo>
                    <a:cubicBezTo>
                      <a:pt x="1314" y="1658"/>
                      <a:pt x="1274" y="1700"/>
                      <a:pt x="1240" y="1705"/>
                    </a:cubicBezTo>
                    <a:cubicBezTo>
                      <a:pt x="1174" y="1715"/>
                      <a:pt x="1106" y="1713"/>
                      <a:pt x="1039" y="1717"/>
                    </a:cubicBezTo>
                    <a:cubicBezTo>
                      <a:pt x="989" y="1724"/>
                      <a:pt x="940" y="1742"/>
                      <a:pt x="889" y="1742"/>
                    </a:cubicBezTo>
                    <a:cubicBezTo>
                      <a:pt x="805" y="1742"/>
                      <a:pt x="729" y="1716"/>
                      <a:pt x="651" y="1692"/>
                    </a:cubicBezTo>
                    <a:cubicBezTo>
                      <a:pt x="588" y="1673"/>
                      <a:pt x="515" y="1661"/>
                      <a:pt x="463" y="1617"/>
                    </a:cubicBezTo>
                    <a:cubicBezTo>
                      <a:pt x="386" y="1553"/>
                      <a:pt x="345" y="1454"/>
                      <a:pt x="301" y="1367"/>
                    </a:cubicBezTo>
                    <a:cubicBezTo>
                      <a:pt x="289" y="1344"/>
                      <a:pt x="229" y="1305"/>
                      <a:pt x="213" y="1291"/>
                    </a:cubicBezTo>
                    <a:cubicBezTo>
                      <a:pt x="134" y="1222"/>
                      <a:pt x="186" y="1267"/>
                      <a:pt x="138" y="1191"/>
                    </a:cubicBezTo>
                    <a:cubicBezTo>
                      <a:pt x="127" y="1173"/>
                      <a:pt x="111" y="1159"/>
                      <a:pt x="100" y="1141"/>
                    </a:cubicBezTo>
                    <a:cubicBezTo>
                      <a:pt x="81" y="1109"/>
                      <a:pt x="50" y="1041"/>
                      <a:pt x="50" y="1041"/>
                    </a:cubicBezTo>
                    <a:cubicBezTo>
                      <a:pt x="37" y="988"/>
                      <a:pt x="14" y="944"/>
                      <a:pt x="0" y="891"/>
                    </a:cubicBezTo>
                    <a:cubicBezTo>
                      <a:pt x="4" y="845"/>
                      <a:pt x="1" y="798"/>
                      <a:pt x="13" y="753"/>
                    </a:cubicBezTo>
                    <a:cubicBezTo>
                      <a:pt x="20" y="726"/>
                      <a:pt x="85" y="670"/>
                      <a:pt x="100" y="653"/>
                    </a:cubicBezTo>
                    <a:cubicBezTo>
                      <a:pt x="161" y="584"/>
                      <a:pt x="222" y="518"/>
                      <a:pt x="288" y="452"/>
                    </a:cubicBezTo>
                    <a:cubicBezTo>
                      <a:pt x="323" y="417"/>
                      <a:pt x="353" y="375"/>
                      <a:pt x="388" y="340"/>
                    </a:cubicBezTo>
                    <a:cubicBezTo>
                      <a:pt x="412" y="316"/>
                      <a:pt x="416" y="277"/>
                      <a:pt x="438" y="252"/>
                    </a:cubicBezTo>
                    <a:cubicBezTo>
                      <a:pt x="495" y="188"/>
                      <a:pt x="554" y="136"/>
                      <a:pt x="614" y="77"/>
                    </a:cubicBezTo>
                    <a:cubicBezTo>
                      <a:pt x="618" y="64"/>
                      <a:pt x="614" y="46"/>
                      <a:pt x="626" y="39"/>
                    </a:cubicBezTo>
                    <a:cubicBezTo>
                      <a:pt x="659" y="20"/>
                      <a:pt x="702" y="26"/>
                      <a:pt x="739" y="14"/>
                    </a:cubicBezTo>
                    <a:cubicBezTo>
                      <a:pt x="786" y="46"/>
                      <a:pt x="791" y="39"/>
                      <a:pt x="739" y="39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57" name="Google Shape;357;p26"/>
              <p:cNvCxnSpPr/>
              <p:nvPr/>
            </p:nvCxnSpPr>
            <p:spPr>
              <a:xfrm>
                <a:off x="1215" y="377"/>
                <a:ext cx="0" cy="245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6699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358" name="Google Shape;358;p26"/>
              <p:cNvCxnSpPr/>
              <p:nvPr/>
            </p:nvCxnSpPr>
            <p:spPr>
              <a:xfrm flipH="1">
                <a:off x="597" y="401"/>
                <a:ext cx="1244" cy="215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6699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359" name="Google Shape;359;p26"/>
              <p:cNvCxnSpPr/>
              <p:nvPr/>
            </p:nvCxnSpPr>
            <p:spPr>
              <a:xfrm>
                <a:off x="200" y="476"/>
                <a:ext cx="2128" cy="212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6699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360" name="Google Shape;360;p26"/>
              <p:cNvSpPr/>
              <p:nvPr/>
            </p:nvSpPr>
            <p:spPr>
              <a:xfrm>
                <a:off x="1146" y="1446"/>
                <a:ext cx="129" cy="138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1" name="Google Shape;361;p26"/>
              <p:cNvSpPr txBox="1"/>
              <p:nvPr/>
            </p:nvSpPr>
            <p:spPr>
              <a:xfrm>
                <a:off x="1275" y="1404"/>
                <a:ext cx="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/>
              </a:p>
            </p:txBody>
          </p:sp>
          <p:sp>
            <p:nvSpPr>
              <p:cNvPr id="362" name="Google Shape;362;p26"/>
              <p:cNvSpPr txBox="1"/>
              <p:nvPr/>
            </p:nvSpPr>
            <p:spPr>
              <a:xfrm>
                <a:off x="1338" y="1176"/>
                <a:ext cx="31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="0" baseline="-2500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363" name="Google Shape;363;p26"/>
              <p:cNvSpPr txBox="1"/>
              <p:nvPr/>
            </p:nvSpPr>
            <p:spPr>
              <a:xfrm>
                <a:off x="1686" y="1116"/>
                <a:ext cx="31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="0" baseline="-2500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  <p:sp>
            <p:nvSpPr>
              <p:cNvPr id="364" name="Google Shape;364;p26"/>
              <p:cNvSpPr txBox="1"/>
              <p:nvPr/>
            </p:nvSpPr>
            <p:spPr>
              <a:xfrm>
                <a:off x="2142" y="1032"/>
                <a:ext cx="31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="0" baseline="-2500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sp>
        <p:nvSpPr>
          <p:cNvPr id="365" name="Google Shape;365;p26"/>
          <p:cNvSpPr txBox="1"/>
          <p:nvPr/>
        </p:nvSpPr>
        <p:spPr>
          <a:xfrm>
            <a:off x="4910137" y="2476500"/>
            <a:ext cx="3716337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El flujo a través de la superficie esférica es</a:t>
            </a:r>
            <a:endParaRPr/>
          </a:p>
        </p:txBody>
      </p:sp>
      <p:pic>
        <p:nvPicPr>
          <p:cNvPr id="366" name="Google Shape;3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050" y="3362325"/>
            <a:ext cx="2522537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6"/>
          <p:cNvSpPr txBox="1"/>
          <p:nvPr/>
        </p:nvSpPr>
        <p:spPr>
          <a:xfrm>
            <a:off x="695325" y="4862512"/>
            <a:ext cx="74739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Como el número de líneas que atraviesan las tres superficies es el mismo, se cumple que</a:t>
            </a:r>
            <a:endParaRPr/>
          </a:p>
        </p:txBody>
      </p:sp>
      <p:pic>
        <p:nvPicPr>
          <p:cNvPr id="368" name="Google Shape;3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1412" y="5553075"/>
            <a:ext cx="2290762" cy="48736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 txBox="1"/>
          <p:nvPr/>
        </p:nvSpPr>
        <p:spPr>
          <a:xfrm>
            <a:off x="317500" y="5935662"/>
            <a:ext cx="60039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Por lo tanto el flujo es independiente de la forma de la superficie.</a:t>
            </a:r>
            <a:endParaRPr/>
          </a:p>
        </p:txBody>
      </p:sp>
      <p:grpSp>
        <p:nvGrpSpPr>
          <p:cNvPr id="370" name="Google Shape;370;p26"/>
          <p:cNvGrpSpPr/>
          <p:nvPr/>
        </p:nvGrpSpPr>
        <p:grpSpPr>
          <a:xfrm>
            <a:off x="3359150" y="568325"/>
            <a:ext cx="5426075" cy="1212850"/>
            <a:chOff x="2116" y="238"/>
            <a:chExt cx="3418" cy="764"/>
          </a:xfrm>
        </p:grpSpPr>
        <p:sp>
          <p:nvSpPr>
            <p:cNvPr id="371" name="Google Shape;371;p26"/>
            <p:cNvSpPr txBox="1"/>
            <p:nvPr/>
          </p:nvSpPr>
          <p:spPr>
            <a:xfrm>
              <a:off x="2604" y="246"/>
              <a:ext cx="2930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33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9933"/>
                  </a:solidFill>
                  <a:latin typeface="Arial"/>
                  <a:ea typeface="Arial"/>
                  <a:cs typeface="Arial"/>
                  <a:sym typeface="Arial"/>
                </a:rPr>
                <a:t>Consideremos varias superficies centradas en una esférica que contiene una carga q.</a:t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2216" y="238"/>
              <a:ext cx="42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9900"/>
                </a:buClr>
                <a:buSzPts val="2400"/>
                <a:buFont typeface="Times New Roman"/>
                <a:buNone/>
              </a:pPr>
              <a:r>
                <a:rPr b="1" i="0" lang="en-US" sz="2400" u="none">
                  <a:solidFill>
                    <a:srgbClr val="66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116" y="238"/>
              <a:ext cx="401" cy="300"/>
            </a:xfrm>
            <a:prstGeom prst="ellipse">
              <a:avLst/>
            </a:prstGeom>
            <a:noFill/>
            <a:ln cap="flat" cmpd="sng" w="9525">
              <a:solidFill>
                <a:srgbClr val="66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/>
          <p:nvPr/>
        </p:nvSpPr>
        <p:spPr>
          <a:xfrm>
            <a:off x="676275" y="547687"/>
            <a:ext cx="4868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400"/>
              <a:buFont typeface="Noto Sans Symbols"/>
              <a:buChar char="✔"/>
            </a:pPr>
            <a:r>
              <a:rPr b="1" i="0" lang="en-US" sz="2400" u="none">
                <a:solidFill>
                  <a:srgbClr val="CC6600"/>
                </a:solidFill>
                <a:latin typeface="Arial Narrow"/>
                <a:ea typeface="Arial Narrow"/>
                <a:cs typeface="Arial Narrow"/>
                <a:sym typeface="Arial Narrow"/>
              </a:rPr>
              <a:t>Generalización de los resultados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536575" y="1303337"/>
            <a:ext cx="7970837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Para distribuciones de carga, ya sean discretas o continuas, podemos aplicar el principio de superposición.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457200" y="2397125"/>
            <a:ext cx="2027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9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r>
              <a:rPr b="0" i="0" lang="en-US" sz="2400" u="none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grpSp>
        <p:nvGrpSpPr>
          <p:cNvPr id="381" name="Google Shape;381;p27"/>
          <p:cNvGrpSpPr/>
          <p:nvPr/>
        </p:nvGrpSpPr>
        <p:grpSpPr>
          <a:xfrm>
            <a:off x="438150" y="2709862"/>
            <a:ext cx="2762250" cy="2470150"/>
            <a:chOff x="276" y="1587"/>
            <a:chExt cx="1740" cy="1556"/>
          </a:xfrm>
        </p:grpSpPr>
        <p:sp>
          <p:nvSpPr>
            <p:cNvPr id="382" name="Google Shape;382;p27"/>
            <p:cNvSpPr txBox="1"/>
            <p:nvPr/>
          </p:nvSpPr>
          <p:spPr>
            <a:xfrm>
              <a:off x="1404" y="1587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S’</a:t>
              </a:r>
              <a:endParaRPr/>
            </a:p>
          </p:txBody>
        </p:sp>
        <p:grpSp>
          <p:nvGrpSpPr>
            <p:cNvPr id="383" name="Google Shape;383;p27"/>
            <p:cNvGrpSpPr/>
            <p:nvPr/>
          </p:nvGrpSpPr>
          <p:grpSpPr>
            <a:xfrm>
              <a:off x="276" y="1746"/>
              <a:ext cx="1740" cy="1397"/>
              <a:chOff x="276" y="1746"/>
              <a:chExt cx="1740" cy="1397"/>
            </a:xfrm>
          </p:grpSpPr>
          <p:sp>
            <p:nvSpPr>
              <p:cNvPr id="384" name="Google Shape;384;p27"/>
              <p:cNvSpPr/>
              <p:nvPr/>
            </p:nvSpPr>
            <p:spPr>
              <a:xfrm>
                <a:off x="463" y="1966"/>
                <a:ext cx="577" cy="598"/>
              </a:xfrm>
              <a:custGeom>
                <a:rect b="b" l="l" r="r" t="t"/>
                <a:pathLst>
                  <a:path extrusionOk="0" h="798" w="727">
                    <a:moveTo>
                      <a:pt x="113" y="0"/>
                    </a:moveTo>
                    <a:cubicBezTo>
                      <a:pt x="67" y="14"/>
                      <a:pt x="64" y="7"/>
                      <a:pt x="38" y="63"/>
                    </a:cubicBezTo>
                    <a:cubicBezTo>
                      <a:pt x="22" y="99"/>
                      <a:pt x="0" y="175"/>
                      <a:pt x="0" y="175"/>
                    </a:cubicBezTo>
                    <a:cubicBezTo>
                      <a:pt x="4" y="250"/>
                      <a:pt x="3" y="326"/>
                      <a:pt x="13" y="401"/>
                    </a:cubicBezTo>
                    <a:cubicBezTo>
                      <a:pt x="16" y="425"/>
                      <a:pt x="84" y="522"/>
                      <a:pt x="88" y="526"/>
                    </a:cubicBezTo>
                    <a:cubicBezTo>
                      <a:pt x="168" y="626"/>
                      <a:pt x="315" y="697"/>
                      <a:pt x="439" y="726"/>
                    </a:cubicBezTo>
                    <a:cubicBezTo>
                      <a:pt x="512" y="763"/>
                      <a:pt x="562" y="798"/>
                      <a:pt x="664" y="739"/>
                    </a:cubicBezTo>
                    <a:cubicBezTo>
                      <a:pt x="705" y="715"/>
                      <a:pt x="727" y="613"/>
                      <a:pt x="727" y="613"/>
                    </a:cubicBezTo>
                    <a:cubicBezTo>
                      <a:pt x="723" y="571"/>
                      <a:pt x="724" y="529"/>
                      <a:pt x="714" y="488"/>
                    </a:cubicBezTo>
                    <a:cubicBezTo>
                      <a:pt x="708" y="463"/>
                      <a:pt x="664" y="429"/>
                      <a:pt x="651" y="413"/>
                    </a:cubicBezTo>
                    <a:cubicBezTo>
                      <a:pt x="605" y="359"/>
                      <a:pt x="559" y="304"/>
                      <a:pt x="514" y="250"/>
                    </a:cubicBezTo>
                    <a:cubicBezTo>
                      <a:pt x="482" y="212"/>
                      <a:pt x="451" y="182"/>
                      <a:pt x="414" y="150"/>
                    </a:cubicBezTo>
                    <a:cubicBezTo>
                      <a:pt x="392" y="131"/>
                      <a:pt x="351" y="88"/>
                      <a:pt x="351" y="88"/>
                    </a:cubicBezTo>
                    <a:cubicBezTo>
                      <a:pt x="336" y="43"/>
                      <a:pt x="312" y="32"/>
                      <a:pt x="263" y="25"/>
                    </a:cubicBezTo>
                    <a:cubicBezTo>
                      <a:pt x="109" y="5"/>
                      <a:pt x="113" y="63"/>
                      <a:pt x="113" y="0"/>
                    </a:cubicBezTo>
                    <a:close/>
                  </a:path>
                </a:pathLst>
              </a:custGeom>
              <a:solidFill>
                <a:srgbClr val="99CCFF">
                  <a:alpha val="49803"/>
                </a:srgbClr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1390" y="1746"/>
                <a:ext cx="528" cy="560"/>
              </a:xfrm>
              <a:custGeom>
                <a:rect b="b" l="l" r="r" t="t"/>
                <a:pathLst>
                  <a:path extrusionOk="0" h="661" w="716">
                    <a:moveTo>
                      <a:pt x="0" y="195"/>
                    </a:moveTo>
                    <a:cubicBezTo>
                      <a:pt x="119" y="233"/>
                      <a:pt x="62" y="310"/>
                      <a:pt x="100" y="395"/>
                    </a:cubicBezTo>
                    <a:cubicBezTo>
                      <a:pt x="108" y="413"/>
                      <a:pt x="222" y="506"/>
                      <a:pt x="225" y="508"/>
                    </a:cubicBezTo>
                    <a:cubicBezTo>
                      <a:pt x="257" y="528"/>
                      <a:pt x="292" y="541"/>
                      <a:pt x="326" y="558"/>
                    </a:cubicBezTo>
                    <a:cubicBezTo>
                      <a:pt x="353" y="571"/>
                      <a:pt x="372" y="598"/>
                      <a:pt x="401" y="608"/>
                    </a:cubicBezTo>
                    <a:cubicBezTo>
                      <a:pt x="494" y="639"/>
                      <a:pt x="452" y="621"/>
                      <a:pt x="526" y="658"/>
                    </a:cubicBezTo>
                    <a:cubicBezTo>
                      <a:pt x="584" y="654"/>
                      <a:pt x="644" y="661"/>
                      <a:pt x="701" y="646"/>
                    </a:cubicBezTo>
                    <a:cubicBezTo>
                      <a:pt x="714" y="643"/>
                      <a:pt x="714" y="621"/>
                      <a:pt x="714" y="608"/>
                    </a:cubicBezTo>
                    <a:cubicBezTo>
                      <a:pt x="714" y="454"/>
                      <a:pt x="716" y="299"/>
                      <a:pt x="701" y="145"/>
                    </a:cubicBezTo>
                    <a:cubicBezTo>
                      <a:pt x="698" y="111"/>
                      <a:pt x="600" y="67"/>
                      <a:pt x="576" y="57"/>
                    </a:cubicBezTo>
                    <a:cubicBezTo>
                      <a:pt x="434" y="0"/>
                      <a:pt x="399" y="28"/>
                      <a:pt x="188" y="19"/>
                    </a:cubicBezTo>
                    <a:cubicBezTo>
                      <a:pt x="102" y="48"/>
                      <a:pt x="131" y="25"/>
                      <a:pt x="88" y="70"/>
                    </a:cubicBezTo>
                    <a:cubicBezTo>
                      <a:pt x="79" y="95"/>
                      <a:pt x="79" y="124"/>
                      <a:pt x="63" y="145"/>
                    </a:cubicBezTo>
                    <a:cubicBezTo>
                      <a:pt x="46" y="166"/>
                      <a:pt x="19" y="176"/>
                      <a:pt x="0" y="195"/>
                    </a:cubicBezTo>
                    <a:close/>
                  </a:path>
                </a:pathLst>
              </a:custGeom>
              <a:solidFill>
                <a:srgbClr val="99CCFF">
                  <a:alpha val="49803"/>
                </a:srgbClr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1292" y="2667"/>
                <a:ext cx="529" cy="476"/>
              </a:xfrm>
              <a:custGeom>
                <a:rect b="b" l="l" r="r" t="t"/>
                <a:pathLst>
                  <a:path extrusionOk="0" h="677" w="655">
                    <a:moveTo>
                      <a:pt x="136" y="26"/>
                    </a:moveTo>
                    <a:cubicBezTo>
                      <a:pt x="82" y="43"/>
                      <a:pt x="76" y="73"/>
                      <a:pt x="35" y="113"/>
                    </a:cubicBezTo>
                    <a:cubicBezTo>
                      <a:pt x="0" y="223"/>
                      <a:pt x="10" y="343"/>
                      <a:pt x="48" y="451"/>
                    </a:cubicBezTo>
                    <a:cubicBezTo>
                      <a:pt x="52" y="476"/>
                      <a:pt x="53" y="502"/>
                      <a:pt x="61" y="526"/>
                    </a:cubicBezTo>
                    <a:cubicBezTo>
                      <a:pt x="86" y="600"/>
                      <a:pt x="188" y="652"/>
                      <a:pt x="261" y="677"/>
                    </a:cubicBezTo>
                    <a:cubicBezTo>
                      <a:pt x="393" y="665"/>
                      <a:pt x="522" y="642"/>
                      <a:pt x="649" y="602"/>
                    </a:cubicBezTo>
                    <a:cubicBezTo>
                      <a:pt x="645" y="514"/>
                      <a:pt x="655" y="425"/>
                      <a:pt x="637" y="339"/>
                    </a:cubicBezTo>
                    <a:cubicBezTo>
                      <a:pt x="629" y="304"/>
                      <a:pt x="594" y="281"/>
                      <a:pt x="574" y="251"/>
                    </a:cubicBezTo>
                    <a:cubicBezTo>
                      <a:pt x="538" y="197"/>
                      <a:pt x="521" y="148"/>
                      <a:pt x="474" y="101"/>
                    </a:cubicBezTo>
                    <a:cubicBezTo>
                      <a:pt x="442" y="5"/>
                      <a:pt x="475" y="36"/>
                      <a:pt x="399" y="13"/>
                    </a:cubicBezTo>
                    <a:cubicBezTo>
                      <a:pt x="386" y="9"/>
                      <a:pt x="374" y="4"/>
                      <a:pt x="361" y="0"/>
                    </a:cubicBezTo>
                    <a:cubicBezTo>
                      <a:pt x="303" y="4"/>
                      <a:pt x="244" y="6"/>
                      <a:pt x="186" y="13"/>
                    </a:cubicBezTo>
                    <a:cubicBezTo>
                      <a:pt x="69" y="27"/>
                      <a:pt x="184" y="26"/>
                      <a:pt x="136" y="26"/>
                    </a:cubicBezTo>
                    <a:close/>
                  </a:path>
                </a:pathLst>
              </a:custGeom>
              <a:solidFill>
                <a:srgbClr val="99CCFF">
                  <a:alpha val="49803"/>
                </a:srgbClr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769" y="2335"/>
                <a:ext cx="51" cy="50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1573" y="1839"/>
                <a:ext cx="51" cy="50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1689" y="2109"/>
                <a:ext cx="51" cy="50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0" name="Google Shape;390;p27"/>
              <p:cNvSpPr txBox="1"/>
              <p:nvPr/>
            </p:nvSpPr>
            <p:spPr>
              <a:xfrm>
                <a:off x="776" y="2272"/>
                <a:ext cx="33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r>
                  <a:rPr b="0" baseline="-2500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391" name="Google Shape;391;p27"/>
              <p:cNvSpPr txBox="1"/>
              <p:nvPr/>
            </p:nvSpPr>
            <p:spPr>
              <a:xfrm>
                <a:off x="1600" y="1748"/>
                <a:ext cx="33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r>
                  <a:rPr b="0" baseline="-2500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  <p:sp>
            <p:nvSpPr>
              <p:cNvPr id="392" name="Google Shape;392;p27"/>
              <p:cNvSpPr txBox="1"/>
              <p:nvPr/>
            </p:nvSpPr>
            <p:spPr>
              <a:xfrm>
                <a:off x="1680" y="2015"/>
                <a:ext cx="33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r>
                  <a:rPr b="0" baseline="-25000" i="0" lang="en-US" sz="2400" u="none">
                    <a:solidFill>
                      <a:srgbClr val="FF505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  <p:sp>
            <p:nvSpPr>
              <p:cNvPr id="393" name="Google Shape;393;p27"/>
              <p:cNvSpPr txBox="1"/>
              <p:nvPr/>
            </p:nvSpPr>
            <p:spPr>
              <a:xfrm>
                <a:off x="276" y="1871"/>
                <a:ext cx="33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/>
              </a:p>
            </p:txBody>
          </p:sp>
          <p:sp>
            <p:nvSpPr>
              <p:cNvPr id="394" name="Google Shape;394;p27"/>
              <p:cNvSpPr txBox="1"/>
              <p:nvPr/>
            </p:nvSpPr>
            <p:spPr>
              <a:xfrm>
                <a:off x="1344" y="2471"/>
                <a:ext cx="33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S’’</a:t>
                </a:r>
                <a:endParaRPr/>
              </a:p>
            </p:txBody>
          </p:sp>
        </p:grpSp>
      </p:grpSp>
      <p:pic>
        <p:nvPicPr>
          <p:cNvPr id="395" name="Google Shape;3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037" y="2678112"/>
            <a:ext cx="1471612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3617912"/>
            <a:ext cx="2390775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4400" y="4625975"/>
            <a:ext cx="1492250" cy="44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7925" y="5537200"/>
            <a:ext cx="2798762" cy="101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"/>
          <p:cNvSpPr txBox="1"/>
          <p:nvPr/>
        </p:nvSpPr>
        <p:spPr>
          <a:xfrm>
            <a:off x="2106612" y="528637"/>
            <a:ext cx="4930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400"/>
              <a:buFont typeface="Noto Sans Symbols"/>
              <a:buChar char="⮚"/>
            </a:pPr>
            <a:r>
              <a:rPr b="1" i="0" lang="en-US" sz="2400" u="none">
                <a:solidFill>
                  <a:srgbClr val="CC6600"/>
                </a:solidFill>
                <a:latin typeface="Arial Narrow"/>
                <a:ea typeface="Arial Narrow"/>
                <a:cs typeface="Arial Narrow"/>
                <a:sym typeface="Arial Narrow"/>
              </a:rPr>
              <a:t>Enunciado del Teorema de Gauss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357187" y="1263650"/>
            <a:ext cx="84280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 flujo eléctrico neto a través de cualquier superficie gaussiana cerrada es igual a la carga neta que se encuentre dentro de ella, dividida por la permitividad del vacío.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1292225" y="2674937"/>
            <a:ext cx="58435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Esta ley sólo puede aplicarse a problemas con gran simetría.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1084262" y="3617912"/>
            <a:ext cx="6975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400"/>
              <a:buFont typeface="Noto Sans Symbols"/>
              <a:buChar char="▪"/>
            </a:pPr>
            <a:r>
              <a:rPr b="1" i="0" lang="en-US" sz="2400" u="none">
                <a:solidFill>
                  <a:srgbClr val="CC6600"/>
                </a:solidFill>
                <a:latin typeface="Arial Narrow"/>
                <a:ea typeface="Arial Narrow"/>
                <a:cs typeface="Arial Narrow"/>
                <a:sym typeface="Arial Narrow"/>
              </a:rPr>
              <a:t>Procedimiento para aplicar el teorema de Gauss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358775" y="4443412"/>
            <a:ext cx="2781300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9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Dada una distribución de carga, buscar una superficie gaussiana que cumpla estas condiciones</a:t>
            </a:r>
            <a:endParaRPr/>
          </a:p>
        </p:txBody>
      </p:sp>
      <p:pic>
        <p:nvPicPr>
          <p:cNvPr id="408" name="Google Shape;4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9512" y="4529137"/>
            <a:ext cx="296862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8"/>
          <p:cNvSpPr txBox="1"/>
          <p:nvPr/>
        </p:nvSpPr>
        <p:spPr>
          <a:xfrm>
            <a:off x="3886200" y="4564062"/>
            <a:ext cx="1371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33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paralelo a </a:t>
            </a:r>
            <a:endParaRPr/>
          </a:p>
        </p:txBody>
      </p:sp>
      <p:pic>
        <p:nvPicPr>
          <p:cNvPr id="410" name="Google Shape;4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0650" y="4533900"/>
            <a:ext cx="379412" cy="36036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8"/>
          <p:cNvSpPr txBox="1"/>
          <p:nvPr/>
        </p:nvSpPr>
        <p:spPr>
          <a:xfrm>
            <a:off x="5945187" y="4781550"/>
            <a:ext cx="31988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en todos los puntos de la superficie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3162" y="5316537"/>
            <a:ext cx="296862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8"/>
          <p:cNvSpPr txBox="1"/>
          <p:nvPr/>
        </p:nvSpPr>
        <p:spPr>
          <a:xfrm>
            <a:off x="4075112" y="5338762"/>
            <a:ext cx="1390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33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constante</a:t>
            </a:r>
            <a:endParaRPr/>
          </a:p>
        </p:txBody>
      </p:sp>
      <p:sp>
        <p:nvSpPr>
          <p:cNvPr id="414" name="Google Shape;414;p28"/>
          <p:cNvSpPr/>
          <p:nvPr/>
        </p:nvSpPr>
        <p:spPr>
          <a:xfrm>
            <a:off x="3279775" y="4344987"/>
            <a:ext cx="238125" cy="1590675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rgbClr val="66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5784850" y="4206875"/>
            <a:ext cx="417512" cy="39687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8"/>
          <p:cNvSpPr/>
          <p:nvPr/>
        </p:nvSpPr>
        <p:spPr>
          <a:xfrm flipH="1" rot="6480000">
            <a:off x="5150643" y="4950618"/>
            <a:ext cx="1101725" cy="105886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636587" y="547687"/>
            <a:ext cx="79105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66CC"/>
                </a:solidFill>
                <a:latin typeface="Arial"/>
                <a:ea typeface="Arial"/>
                <a:cs typeface="Arial"/>
                <a:sym typeface="Arial"/>
              </a:rPr>
              <a:t>El flujo eléctrico a través de una superficie cerrada viene dado por</a:t>
            </a:r>
            <a:endParaRPr/>
          </a:p>
        </p:txBody>
      </p:sp>
      <p:pic>
        <p:nvPicPr>
          <p:cNvPr id="422" name="Google Shape;4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4375" y="1281112"/>
            <a:ext cx="2271712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9"/>
          <p:cNvSpPr txBox="1"/>
          <p:nvPr/>
        </p:nvSpPr>
        <p:spPr>
          <a:xfrm>
            <a:off x="735012" y="2616200"/>
            <a:ext cx="77533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66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9966"/>
                </a:solidFill>
                <a:latin typeface="Arial"/>
                <a:ea typeface="Arial"/>
                <a:cs typeface="Arial"/>
                <a:sym typeface="Arial"/>
              </a:rPr>
              <a:t>Si la superficie cerrada gaussiana cumple las dos condiciones anteriores</a:t>
            </a:r>
            <a:endParaRPr/>
          </a:p>
        </p:txBody>
      </p:sp>
      <p:pic>
        <p:nvPicPr>
          <p:cNvPr id="424" name="Google Shape;42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3575" y="3484562"/>
            <a:ext cx="3675062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9"/>
          <p:cNvSpPr txBox="1"/>
          <p:nvPr/>
        </p:nvSpPr>
        <p:spPr>
          <a:xfrm>
            <a:off x="396875" y="5040312"/>
            <a:ext cx="198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Por lo tanto</a:t>
            </a:r>
            <a:endParaRPr/>
          </a:p>
        </p:txBody>
      </p:sp>
      <p:pic>
        <p:nvPicPr>
          <p:cNvPr id="426" name="Google Shape;42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6837" y="4872037"/>
            <a:ext cx="1524000" cy="104298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9"/>
          <p:cNvSpPr/>
          <p:nvPr/>
        </p:nvSpPr>
        <p:spPr>
          <a:xfrm>
            <a:off x="4430712" y="4483100"/>
            <a:ext cx="239712" cy="178911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4870450" y="4603750"/>
            <a:ext cx="385603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es el área de la superficie gaussiana</a:t>
            </a:r>
            <a:endParaRPr/>
          </a:p>
        </p:txBody>
      </p:sp>
      <p:sp>
        <p:nvSpPr>
          <p:cNvPr id="429" name="Google Shape;429;p29"/>
          <p:cNvSpPr txBox="1"/>
          <p:nvPr/>
        </p:nvSpPr>
        <p:spPr>
          <a:xfrm>
            <a:off x="4889500" y="5419725"/>
            <a:ext cx="35782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baseline="-25000" i="0" lang="en-US" sz="20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20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es la carga encerrada en dicha superficie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"/>
          <p:cNvSpPr txBox="1"/>
          <p:nvPr/>
        </p:nvSpPr>
        <p:spPr>
          <a:xfrm>
            <a:off x="360362" y="803275"/>
            <a:ext cx="770413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Evaluar el flujo eléctrico para la superficie cerrada indicada en la figura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30"/>
          <p:cNvGrpSpPr/>
          <p:nvPr/>
        </p:nvGrpSpPr>
        <p:grpSpPr>
          <a:xfrm>
            <a:off x="3060700" y="5491162"/>
            <a:ext cx="2519362" cy="576262"/>
            <a:chOff x="3060875" y="5491708"/>
            <a:chExt cx="2519362" cy="576262"/>
          </a:xfrm>
        </p:grpSpPr>
        <p:sp>
          <p:nvSpPr>
            <p:cNvPr id="436" name="Google Shape;436;p30"/>
            <p:cNvSpPr txBox="1"/>
            <p:nvPr/>
          </p:nvSpPr>
          <p:spPr>
            <a:xfrm>
              <a:off x="3060875" y="5491708"/>
              <a:ext cx="2519362" cy="5762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1" marL="520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= E  A </a:t>
              </a:r>
              <a:r>
                <a:rPr b="0" i="0" lang="en-US" sz="2300" u="none" cap="none" strike="noStrike">
                  <a:solidFill>
                    <a:srgbClr val="7F7F7F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	</a:t>
              </a:r>
              <a:endParaRPr/>
            </a:p>
          </p:txBody>
        </p:sp>
        <p:cxnSp>
          <p:nvCxnSpPr>
            <p:cNvPr id="437" name="Google Shape;437;p30"/>
            <p:cNvCxnSpPr/>
            <p:nvPr/>
          </p:nvCxnSpPr>
          <p:spPr>
            <a:xfrm>
              <a:off x="4356275" y="5491708"/>
              <a:ext cx="215900" cy="0"/>
            </a:xfrm>
            <a:prstGeom prst="straightConnector1">
              <a:avLst/>
            </a:prstGeom>
            <a:noFill/>
            <a:ln cap="flat" cmpd="sng" w="9525">
              <a:solidFill>
                <a:srgbClr val="5F5F5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38" name="Google Shape;438;p30"/>
            <p:cNvCxnSpPr/>
            <p:nvPr/>
          </p:nvCxnSpPr>
          <p:spPr>
            <a:xfrm>
              <a:off x="4068937" y="5491708"/>
              <a:ext cx="215900" cy="0"/>
            </a:xfrm>
            <a:prstGeom prst="straightConnector1">
              <a:avLst/>
            </a:prstGeom>
            <a:noFill/>
            <a:ln cap="flat" cmpd="sng" w="9525">
              <a:solidFill>
                <a:srgbClr val="5F5F5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39" name="Google Shape;439;p30"/>
            <p:cNvSpPr/>
            <p:nvPr/>
          </p:nvSpPr>
          <p:spPr>
            <a:xfrm>
              <a:off x="4284837" y="5707608"/>
              <a:ext cx="71438" cy="73025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440" name="Google Shape;440;p30"/>
          <p:cNvCxnSpPr/>
          <p:nvPr/>
        </p:nvCxnSpPr>
        <p:spPr>
          <a:xfrm>
            <a:off x="1187450" y="246856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1" name="Google Shape;441;p30"/>
          <p:cNvCxnSpPr/>
          <p:nvPr/>
        </p:nvCxnSpPr>
        <p:spPr>
          <a:xfrm>
            <a:off x="1187450" y="289877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2" name="Google Shape;442;p30"/>
          <p:cNvCxnSpPr/>
          <p:nvPr/>
        </p:nvCxnSpPr>
        <p:spPr>
          <a:xfrm>
            <a:off x="1187450" y="33337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3" name="Google Shape;443;p30"/>
          <p:cNvCxnSpPr/>
          <p:nvPr/>
        </p:nvCxnSpPr>
        <p:spPr>
          <a:xfrm>
            <a:off x="1187450" y="37655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4" name="Google Shape;444;p30"/>
          <p:cNvCxnSpPr/>
          <p:nvPr/>
        </p:nvCxnSpPr>
        <p:spPr>
          <a:xfrm>
            <a:off x="1187450" y="41973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5" name="Google Shape;445;p30"/>
          <p:cNvCxnSpPr/>
          <p:nvPr/>
        </p:nvCxnSpPr>
        <p:spPr>
          <a:xfrm>
            <a:off x="1187450" y="462756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6" name="Google Shape;446;p30"/>
          <p:cNvCxnSpPr/>
          <p:nvPr/>
        </p:nvCxnSpPr>
        <p:spPr>
          <a:xfrm>
            <a:off x="5795962" y="24685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7" name="Google Shape;447;p30"/>
          <p:cNvCxnSpPr/>
          <p:nvPr/>
        </p:nvCxnSpPr>
        <p:spPr>
          <a:xfrm>
            <a:off x="5795962" y="29003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8" name="Google Shape;448;p30"/>
          <p:cNvCxnSpPr/>
          <p:nvPr/>
        </p:nvCxnSpPr>
        <p:spPr>
          <a:xfrm>
            <a:off x="5722937" y="33337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9" name="Google Shape;449;p30"/>
          <p:cNvCxnSpPr/>
          <p:nvPr/>
        </p:nvCxnSpPr>
        <p:spPr>
          <a:xfrm>
            <a:off x="5722937" y="37655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0" name="Google Shape;450;p30"/>
          <p:cNvCxnSpPr/>
          <p:nvPr/>
        </p:nvCxnSpPr>
        <p:spPr>
          <a:xfrm>
            <a:off x="5722937" y="41973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1" name="Google Shape;451;p30"/>
          <p:cNvCxnSpPr/>
          <p:nvPr/>
        </p:nvCxnSpPr>
        <p:spPr>
          <a:xfrm>
            <a:off x="5722937" y="46291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2" name="Google Shape;452;p30"/>
          <p:cNvCxnSpPr/>
          <p:nvPr/>
        </p:nvCxnSpPr>
        <p:spPr>
          <a:xfrm>
            <a:off x="1979612" y="33337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3" name="Google Shape;453;p30"/>
          <p:cNvCxnSpPr/>
          <p:nvPr/>
        </p:nvCxnSpPr>
        <p:spPr>
          <a:xfrm>
            <a:off x="1979612" y="29003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4" name="Google Shape;454;p30"/>
          <p:cNvCxnSpPr/>
          <p:nvPr/>
        </p:nvCxnSpPr>
        <p:spPr>
          <a:xfrm>
            <a:off x="1979612" y="24685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5" name="Google Shape;455;p30"/>
          <p:cNvCxnSpPr/>
          <p:nvPr/>
        </p:nvCxnSpPr>
        <p:spPr>
          <a:xfrm>
            <a:off x="1979612" y="37655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6" name="Google Shape;456;p30"/>
          <p:cNvCxnSpPr/>
          <p:nvPr/>
        </p:nvCxnSpPr>
        <p:spPr>
          <a:xfrm>
            <a:off x="1979612" y="41973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7" name="Google Shape;457;p30"/>
          <p:cNvCxnSpPr/>
          <p:nvPr/>
        </p:nvCxnSpPr>
        <p:spPr>
          <a:xfrm>
            <a:off x="1979612" y="46291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8" name="Google Shape;458;p30"/>
          <p:cNvCxnSpPr/>
          <p:nvPr/>
        </p:nvCxnSpPr>
        <p:spPr>
          <a:xfrm>
            <a:off x="5219700" y="4052887"/>
            <a:ext cx="935037" cy="1587"/>
          </a:xfrm>
          <a:prstGeom prst="straightConnector1">
            <a:avLst/>
          </a:prstGeom>
          <a:noFill/>
          <a:ln cap="flat" cmpd="sng" w="38100">
            <a:solidFill>
              <a:srgbClr val="33CCCC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9" name="Google Shape;459;p30"/>
          <p:cNvCxnSpPr/>
          <p:nvPr/>
        </p:nvCxnSpPr>
        <p:spPr>
          <a:xfrm>
            <a:off x="4067175" y="290036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0" name="Google Shape;460;p30"/>
          <p:cNvSpPr txBox="1"/>
          <p:nvPr/>
        </p:nvSpPr>
        <p:spPr>
          <a:xfrm>
            <a:off x="5003800" y="4197350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461" name="Google Shape;461;p30"/>
          <p:cNvCxnSpPr/>
          <p:nvPr/>
        </p:nvCxnSpPr>
        <p:spPr>
          <a:xfrm>
            <a:off x="5364162" y="419576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462" name="Google Shape;4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340000">
            <a:off x="2798762" y="2759075"/>
            <a:ext cx="936625" cy="1325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3" name="Google Shape;463;p30"/>
          <p:cNvCxnSpPr/>
          <p:nvPr/>
        </p:nvCxnSpPr>
        <p:spPr>
          <a:xfrm flipH="1" rot="10800000">
            <a:off x="3348037" y="3044825"/>
            <a:ext cx="647700" cy="142875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64" name="Google Shape;464;p30"/>
          <p:cNvSpPr txBox="1"/>
          <p:nvPr/>
        </p:nvSpPr>
        <p:spPr>
          <a:xfrm>
            <a:off x="3635375" y="2828925"/>
            <a:ext cx="12969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465" name="Google Shape;465;p30"/>
          <p:cNvCxnSpPr/>
          <p:nvPr/>
        </p:nvCxnSpPr>
        <p:spPr>
          <a:xfrm>
            <a:off x="3851275" y="380841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66" name="Google Shape;466;p30"/>
          <p:cNvCxnSpPr/>
          <p:nvPr/>
        </p:nvCxnSpPr>
        <p:spPr>
          <a:xfrm>
            <a:off x="3556000" y="3548062"/>
            <a:ext cx="152400" cy="260350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67" name="Google Shape;467;p30"/>
          <p:cNvSpPr txBox="1"/>
          <p:nvPr/>
        </p:nvSpPr>
        <p:spPr>
          <a:xfrm>
            <a:off x="3492500" y="3763962"/>
            <a:ext cx="1295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468" name="Google Shape;468;p30"/>
          <p:cNvCxnSpPr/>
          <p:nvPr/>
        </p:nvCxnSpPr>
        <p:spPr>
          <a:xfrm rot="-5400000">
            <a:off x="3492500" y="2684462"/>
            <a:ext cx="287337" cy="144462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69" name="Google Shape;469;p30"/>
          <p:cNvCxnSpPr/>
          <p:nvPr/>
        </p:nvCxnSpPr>
        <p:spPr>
          <a:xfrm rot="10800000">
            <a:off x="2484437" y="3260725"/>
            <a:ext cx="358775" cy="1587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70" name="Google Shape;470;p30"/>
          <p:cNvCxnSpPr/>
          <p:nvPr/>
        </p:nvCxnSpPr>
        <p:spPr>
          <a:xfrm rot="5400000">
            <a:off x="2663825" y="3871912"/>
            <a:ext cx="431800" cy="215900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71" name="Google Shape;471;p30"/>
          <p:cNvCxnSpPr/>
          <p:nvPr/>
        </p:nvCxnSpPr>
        <p:spPr>
          <a:xfrm rot="-5400000">
            <a:off x="3455987" y="2936875"/>
            <a:ext cx="144462" cy="71437"/>
          </a:xfrm>
          <a:prstGeom prst="straightConnector1">
            <a:avLst/>
          </a:prstGeom>
          <a:noFill/>
          <a:ln cap="flat" cmpd="sng" w="38100">
            <a:solidFill>
              <a:srgbClr val="FF6600">
                <a:alpha val="42745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72" name="Google Shape;472;p30"/>
          <p:cNvCxnSpPr/>
          <p:nvPr/>
        </p:nvCxnSpPr>
        <p:spPr>
          <a:xfrm>
            <a:off x="2843212" y="3260725"/>
            <a:ext cx="431800" cy="0"/>
          </a:xfrm>
          <a:prstGeom prst="straightConnector1">
            <a:avLst/>
          </a:prstGeom>
          <a:noFill/>
          <a:ln cap="flat" cmpd="sng" w="38100">
            <a:solidFill>
              <a:srgbClr val="FF6600">
                <a:alpha val="42745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73" name="Google Shape;473;p30"/>
          <p:cNvCxnSpPr/>
          <p:nvPr/>
        </p:nvCxnSpPr>
        <p:spPr>
          <a:xfrm rot="10800000">
            <a:off x="3492500" y="3405187"/>
            <a:ext cx="134937" cy="314325"/>
          </a:xfrm>
          <a:prstGeom prst="straightConnector1">
            <a:avLst/>
          </a:prstGeom>
          <a:noFill/>
          <a:ln cap="flat" cmpd="sng" w="38100">
            <a:solidFill>
              <a:srgbClr val="FF6600">
                <a:alpha val="42745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1"/>
          <p:cNvSpPr txBox="1"/>
          <p:nvPr/>
        </p:nvSpPr>
        <p:spPr>
          <a:xfrm>
            <a:off x="395287" y="955675"/>
            <a:ext cx="7704137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Flujo de un campo eléctrico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través de una superficie cerrada es igual a la carga neta contenida en la región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31"/>
          <p:cNvCxnSpPr/>
          <p:nvPr/>
        </p:nvCxnSpPr>
        <p:spPr>
          <a:xfrm>
            <a:off x="1116012" y="326072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0" name="Google Shape;480;p31"/>
          <p:cNvCxnSpPr/>
          <p:nvPr/>
        </p:nvCxnSpPr>
        <p:spPr>
          <a:xfrm>
            <a:off x="1116012" y="3690937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1" name="Google Shape;481;p31"/>
          <p:cNvCxnSpPr/>
          <p:nvPr/>
        </p:nvCxnSpPr>
        <p:spPr>
          <a:xfrm>
            <a:off x="1116012" y="412591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2" name="Google Shape;482;p31"/>
          <p:cNvCxnSpPr/>
          <p:nvPr/>
        </p:nvCxnSpPr>
        <p:spPr>
          <a:xfrm>
            <a:off x="1116012" y="455771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3" name="Google Shape;483;p31"/>
          <p:cNvCxnSpPr/>
          <p:nvPr/>
        </p:nvCxnSpPr>
        <p:spPr>
          <a:xfrm>
            <a:off x="1116012" y="498951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4" name="Google Shape;484;p31"/>
          <p:cNvCxnSpPr/>
          <p:nvPr/>
        </p:nvCxnSpPr>
        <p:spPr>
          <a:xfrm>
            <a:off x="1116012" y="541972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5" name="Google Shape;485;p31"/>
          <p:cNvCxnSpPr/>
          <p:nvPr/>
        </p:nvCxnSpPr>
        <p:spPr>
          <a:xfrm>
            <a:off x="5724525" y="32607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6" name="Google Shape;486;p31"/>
          <p:cNvCxnSpPr/>
          <p:nvPr/>
        </p:nvCxnSpPr>
        <p:spPr>
          <a:xfrm>
            <a:off x="5724525" y="36925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7" name="Google Shape;487;p31"/>
          <p:cNvCxnSpPr/>
          <p:nvPr/>
        </p:nvCxnSpPr>
        <p:spPr>
          <a:xfrm>
            <a:off x="5651500" y="41259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8" name="Google Shape;488;p31"/>
          <p:cNvCxnSpPr/>
          <p:nvPr/>
        </p:nvCxnSpPr>
        <p:spPr>
          <a:xfrm>
            <a:off x="5651500" y="45577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9" name="Google Shape;489;p31"/>
          <p:cNvCxnSpPr/>
          <p:nvPr/>
        </p:nvCxnSpPr>
        <p:spPr>
          <a:xfrm>
            <a:off x="5651500" y="49895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0" name="Google Shape;490;p31"/>
          <p:cNvCxnSpPr/>
          <p:nvPr/>
        </p:nvCxnSpPr>
        <p:spPr>
          <a:xfrm>
            <a:off x="5651500" y="54213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1" name="Google Shape;491;p31"/>
          <p:cNvCxnSpPr/>
          <p:nvPr/>
        </p:nvCxnSpPr>
        <p:spPr>
          <a:xfrm>
            <a:off x="1908175" y="41259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2" name="Google Shape;492;p31"/>
          <p:cNvCxnSpPr/>
          <p:nvPr/>
        </p:nvCxnSpPr>
        <p:spPr>
          <a:xfrm>
            <a:off x="1908175" y="36925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3" name="Google Shape;493;p31"/>
          <p:cNvCxnSpPr/>
          <p:nvPr/>
        </p:nvCxnSpPr>
        <p:spPr>
          <a:xfrm>
            <a:off x="1908175" y="3260725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4" name="Google Shape;494;p31"/>
          <p:cNvCxnSpPr/>
          <p:nvPr/>
        </p:nvCxnSpPr>
        <p:spPr>
          <a:xfrm>
            <a:off x="1908175" y="45577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5" name="Google Shape;495;p31"/>
          <p:cNvCxnSpPr/>
          <p:nvPr/>
        </p:nvCxnSpPr>
        <p:spPr>
          <a:xfrm>
            <a:off x="1908175" y="498951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6" name="Google Shape;496;p31"/>
          <p:cNvCxnSpPr/>
          <p:nvPr/>
        </p:nvCxnSpPr>
        <p:spPr>
          <a:xfrm>
            <a:off x="1908175" y="5443537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97" name="Google Shape;497;p31"/>
          <p:cNvSpPr txBox="1"/>
          <p:nvPr/>
        </p:nvSpPr>
        <p:spPr>
          <a:xfrm>
            <a:off x="4356100" y="3478212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498" name="Google Shape;498;p31"/>
          <p:cNvCxnSpPr/>
          <p:nvPr/>
        </p:nvCxnSpPr>
        <p:spPr>
          <a:xfrm>
            <a:off x="4716462" y="34766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99" name="Google Shape;499;p31"/>
          <p:cNvSpPr/>
          <p:nvPr/>
        </p:nvSpPr>
        <p:spPr>
          <a:xfrm>
            <a:off x="1979761" y="3044675"/>
            <a:ext cx="2866294" cy="2545004"/>
          </a:xfrm>
          <a:custGeom>
            <a:rect b="b" l="l" r="r" t="t"/>
            <a:pathLst>
              <a:path extrusionOk="0" h="3491345" w="3209636">
                <a:moveTo>
                  <a:pt x="1230745" y="175490"/>
                </a:moveTo>
                <a:cubicBezTo>
                  <a:pt x="1073727" y="198581"/>
                  <a:pt x="743527" y="69272"/>
                  <a:pt x="565727" y="147781"/>
                </a:cubicBezTo>
                <a:cubicBezTo>
                  <a:pt x="387927" y="226290"/>
                  <a:pt x="240145" y="443345"/>
                  <a:pt x="163945" y="646545"/>
                </a:cubicBezTo>
                <a:cubicBezTo>
                  <a:pt x="87745" y="849745"/>
                  <a:pt x="0" y="1189181"/>
                  <a:pt x="108527" y="1366981"/>
                </a:cubicBezTo>
                <a:cubicBezTo>
                  <a:pt x="217054" y="1544781"/>
                  <a:pt x="625764" y="1604818"/>
                  <a:pt x="815109" y="1713345"/>
                </a:cubicBezTo>
                <a:cubicBezTo>
                  <a:pt x="1004454" y="1821872"/>
                  <a:pt x="1170708" y="1831109"/>
                  <a:pt x="1244599" y="2018145"/>
                </a:cubicBezTo>
                <a:cubicBezTo>
                  <a:pt x="1318490" y="2205181"/>
                  <a:pt x="1108363" y="2593109"/>
                  <a:pt x="1258454" y="2835563"/>
                </a:cubicBezTo>
                <a:cubicBezTo>
                  <a:pt x="1408545" y="3078017"/>
                  <a:pt x="1861127" y="3454399"/>
                  <a:pt x="2145145" y="3472872"/>
                </a:cubicBezTo>
                <a:cubicBezTo>
                  <a:pt x="2429163" y="3491345"/>
                  <a:pt x="2789381" y="3181926"/>
                  <a:pt x="2962563" y="2946399"/>
                </a:cubicBezTo>
                <a:cubicBezTo>
                  <a:pt x="3135745" y="2710872"/>
                  <a:pt x="3209636" y="2292926"/>
                  <a:pt x="3184236" y="2059708"/>
                </a:cubicBezTo>
                <a:cubicBezTo>
                  <a:pt x="3158836" y="1826490"/>
                  <a:pt x="2872508" y="1729508"/>
                  <a:pt x="2810163" y="1547090"/>
                </a:cubicBezTo>
                <a:cubicBezTo>
                  <a:pt x="2747818" y="1364672"/>
                  <a:pt x="2863272" y="1147617"/>
                  <a:pt x="2810163" y="965199"/>
                </a:cubicBezTo>
                <a:cubicBezTo>
                  <a:pt x="2757054" y="782781"/>
                  <a:pt x="2634673" y="556490"/>
                  <a:pt x="2491509" y="452581"/>
                </a:cubicBezTo>
                <a:cubicBezTo>
                  <a:pt x="2348345" y="348672"/>
                  <a:pt x="2071254" y="397163"/>
                  <a:pt x="1951181" y="341745"/>
                </a:cubicBezTo>
                <a:cubicBezTo>
                  <a:pt x="1831108" y="286327"/>
                  <a:pt x="1844963" y="175490"/>
                  <a:pt x="1771072" y="120072"/>
                </a:cubicBezTo>
                <a:cubicBezTo>
                  <a:pt x="1697181" y="64654"/>
                  <a:pt x="1600200" y="0"/>
                  <a:pt x="1507836" y="9236"/>
                </a:cubicBezTo>
                <a:cubicBezTo>
                  <a:pt x="1415472" y="18472"/>
                  <a:pt x="1387763" y="152399"/>
                  <a:pt x="1230745" y="175490"/>
                </a:cubicBezTo>
                <a:close/>
              </a:path>
            </a:pathLst>
          </a:custGeom>
          <a:gradFill>
            <a:gsLst>
              <a:gs pos="0">
                <a:srgbClr val="B7F5DA"/>
              </a:gs>
              <a:gs pos="50000">
                <a:srgbClr val="B7F5DA"/>
              </a:gs>
              <a:gs pos="75000">
                <a:srgbClr val="87F3C6"/>
              </a:gs>
              <a:gs pos="100000">
                <a:srgbClr val="DCF9E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1"/>
          <p:cNvSpPr/>
          <p:nvPr/>
        </p:nvSpPr>
        <p:spPr>
          <a:xfrm flipH="1" rot="-2040000">
            <a:off x="3727450" y="3829050"/>
            <a:ext cx="358775" cy="431800"/>
          </a:xfrm>
          <a:prstGeom prst="flowChartOnlineStorage">
            <a:avLst/>
          </a:pr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1"/>
          <p:cNvSpPr txBox="1"/>
          <p:nvPr/>
        </p:nvSpPr>
        <p:spPr>
          <a:xfrm>
            <a:off x="3348037" y="3406775"/>
            <a:ext cx="1296987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dA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502" name="Google Shape;502;p31"/>
          <p:cNvCxnSpPr/>
          <p:nvPr/>
        </p:nvCxnSpPr>
        <p:spPr>
          <a:xfrm>
            <a:off x="3924300" y="34051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03" name="Google Shape;503;p31"/>
          <p:cNvCxnSpPr/>
          <p:nvPr/>
        </p:nvCxnSpPr>
        <p:spPr>
          <a:xfrm flipH="1" rot="10800000">
            <a:off x="3995737" y="3621087"/>
            <a:ext cx="360362" cy="360362"/>
          </a:xfrm>
          <a:prstGeom prst="straightConnector1">
            <a:avLst/>
          </a:prstGeom>
          <a:noFill/>
          <a:ln cap="flat" cmpd="sng" w="38100">
            <a:solidFill>
              <a:srgbClr val="0066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04" name="Google Shape;504;p31"/>
          <p:cNvCxnSpPr/>
          <p:nvPr/>
        </p:nvCxnSpPr>
        <p:spPr>
          <a:xfrm>
            <a:off x="4068762" y="3981450"/>
            <a:ext cx="935037" cy="1587"/>
          </a:xfrm>
          <a:prstGeom prst="straightConnector1">
            <a:avLst/>
          </a:prstGeom>
          <a:noFill/>
          <a:ln cap="flat" cmpd="sng" w="38100">
            <a:solidFill>
              <a:srgbClr val="33CCCC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05" name="Google Shape;505;p31"/>
          <p:cNvSpPr txBox="1"/>
          <p:nvPr/>
        </p:nvSpPr>
        <p:spPr>
          <a:xfrm>
            <a:off x="4716462" y="2274887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 = 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E  dA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506" name="Google Shape;506;p31"/>
          <p:cNvCxnSpPr/>
          <p:nvPr/>
        </p:nvCxnSpPr>
        <p:spPr>
          <a:xfrm>
            <a:off x="6877050" y="22748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07" name="Google Shape;507;p31"/>
          <p:cNvCxnSpPr/>
          <p:nvPr/>
        </p:nvCxnSpPr>
        <p:spPr>
          <a:xfrm>
            <a:off x="6300787" y="2274887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08" name="Google Shape;508;p31"/>
          <p:cNvSpPr/>
          <p:nvPr/>
        </p:nvSpPr>
        <p:spPr>
          <a:xfrm>
            <a:off x="6516687" y="2490787"/>
            <a:ext cx="71437" cy="73025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6011862" y="2198687"/>
            <a:ext cx="144462" cy="652462"/>
          </a:xfrm>
          <a:custGeom>
            <a:rect b="b" l="l" r="r" t="t"/>
            <a:pathLst>
              <a:path extrusionOk="0" h="574" w="181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cap="flat" cmpd="sng" w="28575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1"/>
          <p:cNvSpPr txBox="1"/>
          <p:nvPr/>
        </p:nvSpPr>
        <p:spPr>
          <a:xfrm>
            <a:off x="1116012" y="2271712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Φ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E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Q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511" name="Google Shape;511;p31"/>
          <p:cNvSpPr/>
          <p:nvPr/>
        </p:nvSpPr>
        <p:spPr>
          <a:xfrm>
            <a:off x="6013450" y="2414587"/>
            <a:ext cx="215900" cy="215900"/>
          </a:xfrm>
          <a:prstGeom prst="ellipse">
            <a:avLst/>
          </a:prstGeom>
          <a:noFill/>
          <a:ln cap="flat" cmpd="sng" w="9525">
            <a:solidFill>
              <a:srgbClr val="3333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2" name="Google Shape;5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340000">
            <a:off x="5842000" y="3694112"/>
            <a:ext cx="936625" cy="132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2"/>
          <p:cNvSpPr txBox="1"/>
          <p:nvPr/>
        </p:nvSpPr>
        <p:spPr>
          <a:xfrm>
            <a:off x="-107950" y="1025525"/>
            <a:ext cx="8426450" cy="153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60"/>
              <a:buFont typeface="Arial"/>
              <a:buChar char="•"/>
            </a:pPr>
            <a:r>
              <a:rPr b="1" i="0" lang="en-US" sz="20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Ejercicio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Determine el flujo neto que atraviesa el cubo de la figura si el campo eléctrico está dado por a) 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[(( 2 N/C ) + ( -4 N/C m) x)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 (-5 N/C)   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  b) ¿Cuánta carga tiene el cubo?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8" name="Google Shape;518;p32"/>
          <p:cNvGrpSpPr/>
          <p:nvPr/>
        </p:nvGrpSpPr>
        <p:grpSpPr>
          <a:xfrm>
            <a:off x="4914900" y="2033587"/>
            <a:ext cx="7148512" cy="4127500"/>
            <a:chOff x="1384300" y="2299438"/>
            <a:chExt cx="7148488" cy="4126762"/>
          </a:xfrm>
        </p:grpSpPr>
        <p:sp>
          <p:nvSpPr>
            <p:cNvPr id="519" name="Google Shape;519;p32"/>
            <p:cNvSpPr txBox="1"/>
            <p:nvPr/>
          </p:nvSpPr>
          <p:spPr>
            <a:xfrm>
              <a:off x="1384300" y="6029325"/>
              <a:ext cx="1008063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mic Sans M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endParaRPr/>
            </a:p>
          </p:txBody>
        </p:sp>
        <p:grpSp>
          <p:nvGrpSpPr>
            <p:cNvPr id="520" name="Google Shape;520;p32"/>
            <p:cNvGrpSpPr/>
            <p:nvPr/>
          </p:nvGrpSpPr>
          <p:grpSpPr>
            <a:xfrm>
              <a:off x="1763688" y="2299438"/>
              <a:ext cx="6769100" cy="3887787"/>
              <a:chOff x="1743075" y="2322513"/>
              <a:chExt cx="6769100" cy="3887787"/>
            </a:xfrm>
          </p:grpSpPr>
          <p:sp>
            <p:nvSpPr>
              <p:cNvPr id="521" name="Google Shape;521;p32"/>
              <p:cNvSpPr txBox="1"/>
              <p:nvPr/>
            </p:nvSpPr>
            <p:spPr>
              <a:xfrm>
                <a:off x="5358731" y="2681288"/>
                <a:ext cx="2519363" cy="576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2400"/>
                  <a:buFont typeface="Noto Sans Symbols"/>
                  <a:buNone/>
                </a:pP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= E  A </a:t>
                </a:r>
                <a:r>
                  <a:rPr b="0" i="0" lang="en-US" sz="23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  <p:cxnSp>
            <p:nvCxnSpPr>
              <p:cNvPr id="522" name="Google Shape;522;p32"/>
              <p:cNvCxnSpPr/>
              <p:nvPr/>
            </p:nvCxnSpPr>
            <p:spPr>
              <a:xfrm>
                <a:off x="6711950" y="2681288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523" name="Google Shape;523;p32"/>
              <p:cNvCxnSpPr/>
              <p:nvPr/>
            </p:nvCxnSpPr>
            <p:spPr>
              <a:xfrm>
                <a:off x="6280150" y="2681288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524" name="Google Shape;524;p32"/>
              <p:cNvCxnSpPr/>
              <p:nvPr/>
            </p:nvCxnSpPr>
            <p:spPr>
              <a:xfrm>
                <a:off x="3543300" y="4194175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25" name="Google Shape;525;p32"/>
              <p:cNvSpPr txBox="1"/>
              <p:nvPr/>
            </p:nvSpPr>
            <p:spPr>
              <a:xfrm>
                <a:off x="3111519" y="4193840"/>
                <a:ext cx="936622" cy="647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04040"/>
                  </a:buClr>
                  <a:buSzPts val="2400"/>
                  <a:buFont typeface="Comic Sans MS"/>
                  <a:buNone/>
                </a:pPr>
                <a:r>
                  <a:rPr b="0" i="0" lang="en-US" sz="2400" u="none" cap="none" strike="noStrike">
                    <a:solidFill>
                      <a:srgbClr val="40404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r>
                  <a:rPr b="0" baseline="-25000" i="0" lang="en-US" sz="2400" u="none" cap="none" strike="noStrike">
                    <a:solidFill>
                      <a:srgbClr val="404040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1</a:t>
                </a:r>
                <a:r>
                  <a:rPr b="0" baseline="-25000" i="0" lang="en-US" sz="2400" u="none" cap="none" strike="noStrike">
                    <a:solidFill>
                      <a:srgbClr val="40404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  </a:t>
                </a:r>
                <a:r>
                  <a:rPr b="0" i="0" lang="en-US" sz="2300" u="none" cap="none" strike="noStrike">
                    <a:solidFill>
                      <a:srgbClr val="40404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  <p:cxnSp>
            <p:nvCxnSpPr>
              <p:cNvPr id="526" name="Google Shape;526;p32"/>
              <p:cNvCxnSpPr/>
              <p:nvPr/>
            </p:nvCxnSpPr>
            <p:spPr>
              <a:xfrm>
                <a:off x="4048125" y="3833813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27" name="Google Shape;527;p32"/>
              <p:cNvSpPr txBox="1"/>
              <p:nvPr/>
            </p:nvSpPr>
            <p:spPr>
              <a:xfrm>
                <a:off x="3614738" y="3762375"/>
                <a:ext cx="865187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2400"/>
                  <a:buFont typeface="Comic Sans MS"/>
                  <a:buNone/>
                </a:pP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3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  </a:t>
                </a:r>
                <a:r>
                  <a:rPr b="0" i="0" lang="en-US" sz="23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  <p:cxnSp>
            <p:nvCxnSpPr>
              <p:cNvPr id="528" name="Google Shape;528;p32"/>
              <p:cNvCxnSpPr/>
              <p:nvPr/>
            </p:nvCxnSpPr>
            <p:spPr>
              <a:xfrm>
                <a:off x="2752725" y="3906838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29" name="Google Shape;529;p32"/>
              <p:cNvSpPr txBox="1"/>
              <p:nvPr/>
            </p:nvSpPr>
            <p:spPr>
              <a:xfrm>
                <a:off x="2320925" y="3906838"/>
                <a:ext cx="12954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2400"/>
                  <a:buFont typeface="Comic Sans MS"/>
                  <a:buNone/>
                </a:pP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4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  </a:t>
                </a:r>
                <a:r>
                  <a:rPr b="0" i="0" lang="en-US" sz="23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  <p:sp>
            <p:nvSpPr>
              <p:cNvPr id="530" name="Google Shape;530;p32"/>
              <p:cNvSpPr/>
              <p:nvPr/>
            </p:nvSpPr>
            <p:spPr>
              <a:xfrm>
                <a:off x="6569082" y="2825660"/>
                <a:ext cx="71437" cy="73012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31" name="Google Shape;531;p32"/>
              <p:cNvCxnSpPr/>
              <p:nvPr/>
            </p:nvCxnSpPr>
            <p:spPr>
              <a:xfrm>
                <a:off x="2392363" y="4699000"/>
                <a:ext cx="5040312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532" name="Google Shape;532;p32"/>
              <p:cNvCxnSpPr/>
              <p:nvPr/>
            </p:nvCxnSpPr>
            <p:spPr>
              <a:xfrm rot="10800000">
                <a:off x="3255963" y="2465388"/>
                <a:ext cx="0" cy="360203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533" name="Google Shape;533;p32"/>
              <p:cNvCxnSpPr/>
              <p:nvPr/>
            </p:nvCxnSpPr>
            <p:spPr>
              <a:xfrm flipH="1">
                <a:off x="1743075" y="4338638"/>
                <a:ext cx="1873250" cy="187166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34" name="Google Shape;534;p32"/>
              <p:cNvSpPr/>
              <p:nvPr/>
            </p:nvSpPr>
            <p:spPr>
              <a:xfrm>
                <a:off x="2664495" y="3114675"/>
                <a:ext cx="2376488" cy="2159000"/>
              </a:xfrm>
              <a:prstGeom prst="cube">
                <a:avLst>
                  <a:gd fmla="val 25000" name="adj"/>
                </a:avLst>
              </a:prstGeom>
              <a:solidFill>
                <a:srgbClr val="CD698D">
                  <a:alpha val="20784"/>
                </a:srgbClr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35" name="Google Shape;535;p32"/>
              <p:cNvCxnSpPr/>
              <p:nvPr/>
            </p:nvCxnSpPr>
            <p:spPr>
              <a:xfrm flipH="1" rot="10800000">
                <a:off x="4840288" y="4699000"/>
                <a:ext cx="647700" cy="72072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36" name="Google Shape;536;p32"/>
              <p:cNvSpPr txBox="1"/>
              <p:nvPr/>
            </p:nvSpPr>
            <p:spPr>
              <a:xfrm>
                <a:off x="7504113" y="4483100"/>
                <a:ext cx="1008062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omic Sans MS"/>
                  <a:buNone/>
                </a:pPr>
                <a:r>
                  <a:rPr b="0" i="0" lang="en-US" sz="200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Y</a:t>
                </a:r>
                <a:endParaRPr/>
              </a:p>
            </p:txBody>
          </p:sp>
          <p:sp>
            <p:nvSpPr>
              <p:cNvPr id="537" name="Google Shape;537;p32"/>
              <p:cNvSpPr txBox="1"/>
              <p:nvPr/>
            </p:nvSpPr>
            <p:spPr>
              <a:xfrm>
                <a:off x="2895600" y="2322513"/>
                <a:ext cx="10080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omic Sans MS"/>
                  <a:buNone/>
                </a:pPr>
                <a:r>
                  <a:rPr b="0" i="0" lang="en-US" sz="200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Z</a:t>
                </a:r>
                <a:endParaRPr/>
              </a:p>
            </p:txBody>
          </p:sp>
          <p:sp>
            <p:nvSpPr>
              <p:cNvPr id="538" name="Google Shape;538;p32"/>
              <p:cNvSpPr txBox="1"/>
              <p:nvPr/>
            </p:nvSpPr>
            <p:spPr>
              <a:xfrm>
                <a:off x="5199063" y="4949825"/>
                <a:ext cx="1008062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omic Sans MS"/>
                  <a:buNone/>
                </a:pPr>
                <a:r>
                  <a:rPr b="0" i="0" lang="en-US" sz="200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1.4 m</a:t>
                </a: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4767263" y="4049713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40" name="Google Shape;540;p32"/>
              <p:cNvSpPr txBox="1"/>
              <p:nvPr/>
            </p:nvSpPr>
            <p:spPr>
              <a:xfrm>
                <a:off x="4335463" y="3978275"/>
                <a:ext cx="865187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2400"/>
                  <a:buFont typeface="Comic Sans MS"/>
                  <a:buNone/>
                </a:pP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2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  </a:t>
                </a:r>
                <a:r>
                  <a:rPr b="0" i="0" lang="en-US" sz="23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  <p:cxnSp>
            <p:nvCxnSpPr>
              <p:cNvPr id="541" name="Google Shape;541;p32"/>
              <p:cNvCxnSpPr/>
              <p:nvPr/>
            </p:nvCxnSpPr>
            <p:spPr>
              <a:xfrm>
                <a:off x="3687763" y="3186113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42" name="Google Shape;542;p32"/>
              <p:cNvSpPr txBox="1"/>
              <p:nvPr/>
            </p:nvSpPr>
            <p:spPr>
              <a:xfrm>
                <a:off x="3255963" y="3114675"/>
                <a:ext cx="865187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2400"/>
                  <a:buFont typeface="Comic Sans MS"/>
                  <a:buNone/>
                </a:pP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6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  </a:t>
                </a:r>
                <a:r>
                  <a:rPr b="0" i="0" lang="en-US" sz="23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  <p:cxnSp>
            <p:nvCxnSpPr>
              <p:cNvPr id="543" name="Google Shape;543;p32"/>
              <p:cNvCxnSpPr/>
              <p:nvPr/>
            </p:nvCxnSpPr>
            <p:spPr>
              <a:xfrm>
                <a:off x="3759200" y="4841875"/>
                <a:ext cx="215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F5F5F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44" name="Google Shape;544;p32"/>
              <p:cNvSpPr txBox="1"/>
              <p:nvPr/>
            </p:nvSpPr>
            <p:spPr>
              <a:xfrm>
                <a:off x="3327400" y="4770438"/>
                <a:ext cx="865188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228600" lvl="1" marL="5207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2400"/>
                  <a:buFont typeface="Comic Sans MS"/>
                  <a:buNone/>
                </a:pPr>
                <a:r>
                  <a:rPr b="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5</a:t>
                </a:r>
                <a:r>
                  <a:rPr b="0" baseline="-25000" i="0" lang="en-US" sz="24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  </a:t>
                </a:r>
                <a:r>
                  <a:rPr b="0" i="0" lang="en-US" sz="2300" u="none" cap="none" strike="noStrike">
                    <a:solidFill>
                      <a:srgbClr val="7F7F7F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	</a:t>
                </a:r>
                <a:endParaRPr/>
              </a:p>
            </p:txBody>
          </p:sp>
        </p:grpSp>
      </p:grpSp>
      <p:cxnSp>
        <p:nvCxnSpPr>
          <p:cNvPr id="545" name="Google Shape;545;p32"/>
          <p:cNvCxnSpPr/>
          <p:nvPr/>
        </p:nvCxnSpPr>
        <p:spPr>
          <a:xfrm>
            <a:off x="3327400" y="1746250"/>
            <a:ext cx="21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546" name="Google Shape;546;p32"/>
          <p:cNvGrpSpPr/>
          <p:nvPr/>
        </p:nvGrpSpPr>
        <p:grpSpPr>
          <a:xfrm>
            <a:off x="374650" y="2033587"/>
            <a:ext cx="74612" cy="71437"/>
            <a:chOff x="1020" y="3929"/>
            <a:chExt cx="91" cy="91"/>
          </a:xfrm>
        </p:grpSpPr>
        <p:cxnSp>
          <p:nvCxnSpPr>
            <p:cNvPr id="547" name="Google Shape;547;p32"/>
            <p:cNvCxnSpPr/>
            <p:nvPr/>
          </p:nvCxnSpPr>
          <p:spPr>
            <a:xfrm flipH="1" rot="10800000">
              <a:off x="1020" y="3929"/>
              <a:ext cx="46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48" name="Google Shape;548;p32"/>
            <p:cNvCxnSpPr/>
            <p:nvPr/>
          </p:nvCxnSpPr>
          <p:spPr>
            <a:xfrm>
              <a:off x="1066" y="3929"/>
              <a:ext cx="45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549" name="Google Shape;549;p32"/>
          <p:cNvGrpSpPr/>
          <p:nvPr/>
        </p:nvGrpSpPr>
        <p:grpSpPr>
          <a:xfrm>
            <a:off x="6708775" y="1746250"/>
            <a:ext cx="74612" cy="71437"/>
            <a:chOff x="1020" y="3929"/>
            <a:chExt cx="91" cy="91"/>
          </a:xfrm>
        </p:grpSpPr>
        <p:cxnSp>
          <p:nvCxnSpPr>
            <p:cNvPr id="550" name="Google Shape;550;p32"/>
            <p:cNvCxnSpPr/>
            <p:nvPr/>
          </p:nvCxnSpPr>
          <p:spPr>
            <a:xfrm flipH="1" rot="10800000">
              <a:off x="1020" y="3929"/>
              <a:ext cx="46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1" name="Google Shape;551;p32"/>
            <p:cNvCxnSpPr/>
            <p:nvPr/>
          </p:nvCxnSpPr>
          <p:spPr>
            <a:xfrm>
              <a:off x="1066" y="3929"/>
              <a:ext cx="45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52" name="Google Shape;552;p32"/>
          <p:cNvSpPr txBox="1"/>
          <p:nvPr/>
        </p:nvSpPr>
        <p:spPr>
          <a:xfrm>
            <a:off x="83362" y="2320925"/>
            <a:ext cx="6098785" cy="8608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3" name="Google Shape;553;p32"/>
          <p:cNvSpPr txBox="1"/>
          <p:nvPr/>
        </p:nvSpPr>
        <p:spPr>
          <a:xfrm>
            <a:off x="-69479" y="3226398"/>
            <a:ext cx="5798767" cy="8608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4" name="Google Shape;554;p32"/>
          <p:cNvSpPr txBox="1"/>
          <p:nvPr/>
        </p:nvSpPr>
        <p:spPr>
          <a:xfrm>
            <a:off x="83362" y="4219832"/>
            <a:ext cx="330968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065" l="-1655" r="-36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5" name="Google Shape;555;p32"/>
          <p:cNvSpPr txBox="1"/>
          <p:nvPr/>
        </p:nvSpPr>
        <p:spPr>
          <a:xfrm>
            <a:off x="83931" y="4740677"/>
            <a:ext cx="2978957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666" l="-1843" r="-32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6" name="Google Shape;556;p32"/>
          <p:cNvSpPr txBox="1"/>
          <p:nvPr/>
        </p:nvSpPr>
        <p:spPr>
          <a:xfrm>
            <a:off x="-69479" y="5409168"/>
            <a:ext cx="4947445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065" l="-984" r="-172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3"/>
          <p:cNvSpPr txBox="1"/>
          <p:nvPr/>
        </p:nvSpPr>
        <p:spPr>
          <a:xfrm>
            <a:off x="827087" y="366712"/>
            <a:ext cx="7239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3800"/>
              <a:buFont typeface="Trebuchet MS"/>
              <a:buNone/>
            </a:pPr>
            <a:r>
              <a:rPr b="1" i="0" lang="en-US" sz="3800" u="none">
                <a:solidFill>
                  <a:srgbClr val="990033"/>
                </a:solidFill>
                <a:latin typeface="Trebuchet MS"/>
                <a:ea typeface="Trebuchet MS"/>
                <a:cs typeface="Trebuchet MS"/>
                <a:sym typeface="Trebuchet MS"/>
              </a:rPr>
              <a:t>LEY DE GAUSS</a:t>
            </a:r>
            <a:endParaRPr/>
          </a:p>
        </p:txBody>
      </p:sp>
      <p:sp>
        <p:nvSpPr>
          <p:cNvPr id="562" name="Google Shape;562;p33"/>
          <p:cNvSpPr txBox="1"/>
          <p:nvPr/>
        </p:nvSpPr>
        <p:spPr>
          <a:xfrm>
            <a:off x="-107950" y="1243012"/>
            <a:ext cx="8280400" cy="223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60"/>
              <a:buFont typeface="Arial"/>
              <a:buChar char="•"/>
            </a:pPr>
            <a:r>
              <a:rPr b="1" i="0" lang="en-US" sz="20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Ejercicio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Un campo eléctrico vale E = (200 N/C)i para x&gt;0 y E = -200 N/C i para x&lt;0. Un cilindro de longitud 20 cm y radio R=5 cm tiene su centro en el origen y su eje a lo largo del eje X, de modo que en un extremo se encuentra en x = +10 cm y el otro en x = -10 cm. (a) ¿Cuál es el flujo neto del campo eléctrico que atraviesa la superficie total cerrada del cilindro? (b) ¿Cuál es la carga neta interior al cilindro?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3"/>
          <p:cNvSpPr txBox="1"/>
          <p:nvPr/>
        </p:nvSpPr>
        <p:spPr>
          <a:xfrm>
            <a:off x="2700337" y="6211887"/>
            <a:ext cx="25193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E  A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564" name="Google Shape;564;p33"/>
          <p:cNvCxnSpPr/>
          <p:nvPr/>
        </p:nvCxnSpPr>
        <p:spPr>
          <a:xfrm>
            <a:off x="3995737" y="62833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3635375" y="62833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66" name="Google Shape;566;p33"/>
          <p:cNvCxnSpPr/>
          <p:nvPr/>
        </p:nvCxnSpPr>
        <p:spPr>
          <a:xfrm>
            <a:off x="971550" y="613886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67" name="Google Shape;567;p33"/>
          <p:cNvCxnSpPr/>
          <p:nvPr/>
        </p:nvCxnSpPr>
        <p:spPr>
          <a:xfrm>
            <a:off x="971550" y="3978275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68" name="Google Shape;568;p33"/>
          <p:cNvCxnSpPr/>
          <p:nvPr/>
        </p:nvCxnSpPr>
        <p:spPr>
          <a:xfrm>
            <a:off x="971550" y="44132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69" name="Google Shape;569;p33"/>
          <p:cNvCxnSpPr/>
          <p:nvPr/>
        </p:nvCxnSpPr>
        <p:spPr>
          <a:xfrm>
            <a:off x="971550" y="48450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0" name="Google Shape;570;p33"/>
          <p:cNvCxnSpPr/>
          <p:nvPr/>
        </p:nvCxnSpPr>
        <p:spPr>
          <a:xfrm>
            <a:off x="971550" y="5276850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1" name="Google Shape;571;p33"/>
          <p:cNvCxnSpPr/>
          <p:nvPr/>
        </p:nvCxnSpPr>
        <p:spPr>
          <a:xfrm>
            <a:off x="971550" y="5707062"/>
            <a:ext cx="6264275" cy="15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2" name="Google Shape;572;p33"/>
          <p:cNvCxnSpPr/>
          <p:nvPr/>
        </p:nvCxnSpPr>
        <p:spPr>
          <a:xfrm>
            <a:off x="5580062" y="61388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3" name="Google Shape;573;p33"/>
          <p:cNvCxnSpPr/>
          <p:nvPr/>
        </p:nvCxnSpPr>
        <p:spPr>
          <a:xfrm>
            <a:off x="5580062" y="39798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4" name="Google Shape;574;p33"/>
          <p:cNvCxnSpPr/>
          <p:nvPr/>
        </p:nvCxnSpPr>
        <p:spPr>
          <a:xfrm>
            <a:off x="5507037" y="44132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5" name="Google Shape;575;p33"/>
          <p:cNvCxnSpPr/>
          <p:nvPr/>
        </p:nvCxnSpPr>
        <p:spPr>
          <a:xfrm>
            <a:off x="5507037" y="48450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6" name="Google Shape;576;p33"/>
          <p:cNvCxnSpPr/>
          <p:nvPr/>
        </p:nvCxnSpPr>
        <p:spPr>
          <a:xfrm>
            <a:off x="5507037" y="52768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7" name="Google Shape;577;p33"/>
          <p:cNvCxnSpPr/>
          <p:nvPr/>
        </p:nvCxnSpPr>
        <p:spPr>
          <a:xfrm>
            <a:off x="5507037" y="57086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8" name="Google Shape;578;p33"/>
          <p:cNvCxnSpPr/>
          <p:nvPr/>
        </p:nvCxnSpPr>
        <p:spPr>
          <a:xfrm>
            <a:off x="1763712" y="44132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579" name="Google Shape;579;p33"/>
          <p:cNvCxnSpPr/>
          <p:nvPr/>
        </p:nvCxnSpPr>
        <p:spPr>
          <a:xfrm>
            <a:off x="1763712" y="39798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580" name="Google Shape;580;p33"/>
          <p:cNvCxnSpPr/>
          <p:nvPr/>
        </p:nvCxnSpPr>
        <p:spPr>
          <a:xfrm>
            <a:off x="1763712" y="6138862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581" name="Google Shape;581;p33"/>
          <p:cNvCxnSpPr/>
          <p:nvPr/>
        </p:nvCxnSpPr>
        <p:spPr>
          <a:xfrm>
            <a:off x="1763712" y="48450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582" name="Google Shape;582;p33"/>
          <p:cNvCxnSpPr/>
          <p:nvPr/>
        </p:nvCxnSpPr>
        <p:spPr>
          <a:xfrm>
            <a:off x="1763712" y="52768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583" name="Google Shape;583;p33"/>
          <p:cNvCxnSpPr/>
          <p:nvPr/>
        </p:nvCxnSpPr>
        <p:spPr>
          <a:xfrm>
            <a:off x="1763712" y="5708650"/>
            <a:ext cx="431800" cy="0"/>
          </a:xfrm>
          <a:prstGeom prst="straightConnector1">
            <a:avLst/>
          </a:prstGeom>
          <a:noFill/>
          <a:ln cap="flat" cmpd="sng" w="25400">
            <a:solidFill>
              <a:srgbClr val="66FF3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sp>
        <p:nvSpPr>
          <p:cNvPr id="584" name="Google Shape;584;p33"/>
          <p:cNvSpPr txBox="1"/>
          <p:nvPr/>
        </p:nvSpPr>
        <p:spPr>
          <a:xfrm>
            <a:off x="4787900" y="5276850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585" name="Google Shape;585;p33"/>
          <p:cNvCxnSpPr/>
          <p:nvPr/>
        </p:nvCxnSpPr>
        <p:spPr>
          <a:xfrm>
            <a:off x="5148262" y="527526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6" name="Google Shape;586;p33"/>
          <p:cNvCxnSpPr/>
          <p:nvPr/>
        </p:nvCxnSpPr>
        <p:spPr>
          <a:xfrm>
            <a:off x="5580062" y="4770437"/>
            <a:ext cx="360362" cy="1587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87" name="Google Shape;587;p33"/>
          <p:cNvSpPr/>
          <p:nvPr/>
        </p:nvSpPr>
        <p:spPr>
          <a:xfrm rot="-5400000">
            <a:off x="3563937" y="3259137"/>
            <a:ext cx="936625" cy="2952750"/>
          </a:xfrm>
          <a:prstGeom prst="can">
            <a:avLst>
              <a:gd fmla="val 1713" name="adj"/>
            </a:avLst>
          </a:pr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8" name="Google Shape;588;p33"/>
          <p:cNvCxnSpPr/>
          <p:nvPr/>
        </p:nvCxnSpPr>
        <p:spPr>
          <a:xfrm rot="10800000">
            <a:off x="2268537" y="4699000"/>
            <a:ext cx="358775" cy="1587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89" name="Google Shape;589;p33"/>
          <p:cNvCxnSpPr/>
          <p:nvPr/>
        </p:nvCxnSpPr>
        <p:spPr>
          <a:xfrm flipH="1">
            <a:off x="3708400" y="5059362"/>
            <a:ext cx="71437" cy="360362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90" name="Google Shape;590;p33"/>
          <p:cNvCxnSpPr/>
          <p:nvPr/>
        </p:nvCxnSpPr>
        <p:spPr>
          <a:xfrm flipH="1" rot="10800000">
            <a:off x="4356100" y="4051300"/>
            <a:ext cx="215900" cy="431800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91" name="Google Shape;591;p33"/>
          <p:cNvCxnSpPr/>
          <p:nvPr/>
        </p:nvCxnSpPr>
        <p:spPr>
          <a:xfrm>
            <a:off x="3924300" y="45561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2" name="Google Shape;592;p33"/>
          <p:cNvSpPr txBox="1"/>
          <p:nvPr/>
        </p:nvSpPr>
        <p:spPr>
          <a:xfrm>
            <a:off x="3492500" y="4483100"/>
            <a:ext cx="12969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593" name="Google Shape;593;p33"/>
          <p:cNvCxnSpPr/>
          <p:nvPr/>
        </p:nvCxnSpPr>
        <p:spPr>
          <a:xfrm>
            <a:off x="6083300" y="45561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4" name="Google Shape;594;p33"/>
          <p:cNvSpPr txBox="1"/>
          <p:nvPr/>
        </p:nvSpPr>
        <p:spPr>
          <a:xfrm>
            <a:off x="5651500" y="4483100"/>
            <a:ext cx="12969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595" name="Google Shape;595;p33"/>
          <p:cNvCxnSpPr/>
          <p:nvPr/>
        </p:nvCxnSpPr>
        <p:spPr>
          <a:xfrm>
            <a:off x="2628900" y="434022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6" name="Google Shape;596;p33"/>
          <p:cNvSpPr txBox="1"/>
          <p:nvPr/>
        </p:nvSpPr>
        <p:spPr>
          <a:xfrm>
            <a:off x="2197100" y="4340225"/>
            <a:ext cx="1295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597" name="Google Shape;597;p33"/>
          <p:cNvSpPr/>
          <p:nvPr/>
        </p:nvSpPr>
        <p:spPr>
          <a:xfrm>
            <a:off x="3851275" y="6427787"/>
            <a:ext cx="71437" cy="73025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98" name="Google Shape;598;p33"/>
          <p:cNvGrpSpPr/>
          <p:nvPr/>
        </p:nvGrpSpPr>
        <p:grpSpPr>
          <a:xfrm>
            <a:off x="4568825" y="1676400"/>
            <a:ext cx="74612" cy="71437"/>
            <a:chOff x="1020" y="3929"/>
            <a:chExt cx="91" cy="91"/>
          </a:xfrm>
        </p:grpSpPr>
        <p:cxnSp>
          <p:nvCxnSpPr>
            <p:cNvPr id="599" name="Google Shape;599;p33"/>
            <p:cNvCxnSpPr/>
            <p:nvPr/>
          </p:nvCxnSpPr>
          <p:spPr>
            <a:xfrm flipH="1" rot="10800000">
              <a:off x="1020" y="3929"/>
              <a:ext cx="46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00" name="Google Shape;600;p33"/>
            <p:cNvCxnSpPr/>
            <p:nvPr/>
          </p:nvCxnSpPr>
          <p:spPr>
            <a:xfrm>
              <a:off x="1066" y="3929"/>
              <a:ext cx="45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601" name="Google Shape;601;p33"/>
          <p:cNvGrpSpPr/>
          <p:nvPr/>
        </p:nvGrpSpPr>
        <p:grpSpPr>
          <a:xfrm>
            <a:off x="7521575" y="1676400"/>
            <a:ext cx="74612" cy="71437"/>
            <a:chOff x="1020" y="3929"/>
            <a:chExt cx="91" cy="91"/>
          </a:xfrm>
        </p:grpSpPr>
        <p:cxnSp>
          <p:nvCxnSpPr>
            <p:cNvPr id="602" name="Google Shape;602;p33"/>
            <p:cNvCxnSpPr/>
            <p:nvPr/>
          </p:nvCxnSpPr>
          <p:spPr>
            <a:xfrm flipH="1" rot="10800000">
              <a:off x="1020" y="3929"/>
              <a:ext cx="46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03" name="Google Shape;603;p33"/>
            <p:cNvCxnSpPr/>
            <p:nvPr/>
          </p:nvCxnSpPr>
          <p:spPr>
            <a:xfrm>
              <a:off x="1066" y="3929"/>
              <a:ext cx="45" cy="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cxnSp>
        <p:nvCxnSpPr>
          <p:cNvPr id="604" name="Google Shape;604;p33"/>
          <p:cNvCxnSpPr/>
          <p:nvPr/>
        </p:nvCxnSpPr>
        <p:spPr>
          <a:xfrm>
            <a:off x="2987675" y="1674812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4"/>
          <p:cNvSpPr txBox="1"/>
          <p:nvPr/>
        </p:nvSpPr>
        <p:spPr>
          <a:xfrm>
            <a:off x="827087" y="366712"/>
            <a:ext cx="7239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3800"/>
              <a:buFont typeface="Trebuchet MS"/>
              <a:buNone/>
            </a:pPr>
            <a:r>
              <a:rPr b="1" i="0" lang="en-US" sz="3800" u="none">
                <a:solidFill>
                  <a:srgbClr val="990033"/>
                </a:solidFill>
                <a:latin typeface="Trebuchet MS"/>
                <a:ea typeface="Trebuchet MS"/>
                <a:cs typeface="Trebuchet MS"/>
                <a:sym typeface="Trebuchet MS"/>
              </a:rPr>
              <a:t>LEY DE GAUSS</a:t>
            </a:r>
            <a:endParaRPr/>
          </a:p>
        </p:txBody>
      </p:sp>
      <p:sp>
        <p:nvSpPr>
          <p:cNvPr id="610" name="Google Shape;610;p34"/>
          <p:cNvSpPr txBox="1"/>
          <p:nvPr/>
        </p:nvSpPr>
        <p:spPr>
          <a:xfrm>
            <a:off x="250825" y="1725612"/>
            <a:ext cx="7705725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una superficie esférica de radio </a:t>
            </a: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rodea a una carga puntual </a:t>
            </a: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</a:t>
            </a: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tiene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34"/>
          <p:cNvCxnSpPr/>
          <p:nvPr/>
        </p:nvCxnSpPr>
        <p:spPr>
          <a:xfrm flipH="1" rot="10800000">
            <a:off x="3995737" y="3475037"/>
            <a:ext cx="1871662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12" name="Google Shape;612;p34"/>
          <p:cNvCxnSpPr/>
          <p:nvPr/>
        </p:nvCxnSpPr>
        <p:spPr>
          <a:xfrm rot="10800000">
            <a:off x="3995737" y="3332162"/>
            <a:ext cx="0" cy="15128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13" name="Google Shape;613;p34"/>
          <p:cNvCxnSpPr/>
          <p:nvPr/>
        </p:nvCxnSpPr>
        <p:spPr>
          <a:xfrm flipH="1">
            <a:off x="1476375" y="4937125"/>
            <a:ext cx="2497137" cy="508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14" name="Google Shape;614;p34"/>
          <p:cNvCxnSpPr/>
          <p:nvPr/>
        </p:nvCxnSpPr>
        <p:spPr>
          <a:xfrm>
            <a:off x="3995737" y="4914900"/>
            <a:ext cx="2736850" cy="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15" name="Google Shape;615;p34"/>
          <p:cNvCxnSpPr/>
          <p:nvPr/>
        </p:nvCxnSpPr>
        <p:spPr>
          <a:xfrm>
            <a:off x="3995737" y="4987925"/>
            <a:ext cx="0" cy="17272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16" name="Google Shape;616;p34"/>
          <p:cNvCxnSpPr/>
          <p:nvPr/>
        </p:nvCxnSpPr>
        <p:spPr>
          <a:xfrm>
            <a:off x="4046537" y="4967287"/>
            <a:ext cx="1893887" cy="15319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17" name="Google Shape;617;p34"/>
          <p:cNvSpPr txBox="1"/>
          <p:nvPr/>
        </p:nvSpPr>
        <p:spPr>
          <a:xfrm>
            <a:off x="5651500" y="3621087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618" name="Google Shape;618;p34"/>
          <p:cNvCxnSpPr/>
          <p:nvPr/>
        </p:nvCxnSpPr>
        <p:spPr>
          <a:xfrm>
            <a:off x="6011862" y="3619500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19" name="Google Shape;619;p34"/>
          <p:cNvSpPr txBox="1"/>
          <p:nvPr/>
        </p:nvSpPr>
        <p:spPr>
          <a:xfrm>
            <a:off x="-36512" y="2755900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 = 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E  dA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620" name="Google Shape;620;p34"/>
          <p:cNvCxnSpPr/>
          <p:nvPr/>
        </p:nvCxnSpPr>
        <p:spPr>
          <a:xfrm>
            <a:off x="2124075" y="2755900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21" name="Google Shape;621;p34"/>
          <p:cNvCxnSpPr/>
          <p:nvPr/>
        </p:nvCxnSpPr>
        <p:spPr>
          <a:xfrm>
            <a:off x="1547812" y="2755900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22" name="Google Shape;622;p34"/>
          <p:cNvSpPr/>
          <p:nvPr/>
        </p:nvSpPr>
        <p:spPr>
          <a:xfrm>
            <a:off x="1692275" y="2971800"/>
            <a:ext cx="71437" cy="73025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34"/>
          <p:cNvSpPr/>
          <p:nvPr/>
        </p:nvSpPr>
        <p:spPr>
          <a:xfrm>
            <a:off x="1187450" y="2679700"/>
            <a:ext cx="144462" cy="652462"/>
          </a:xfrm>
          <a:custGeom>
            <a:rect b="b" l="l" r="r" t="t"/>
            <a:pathLst>
              <a:path extrusionOk="0" h="574" w="181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cap="flat" cmpd="sng" w="28575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34"/>
          <p:cNvSpPr/>
          <p:nvPr/>
        </p:nvSpPr>
        <p:spPr>
          <a:xfrm>
            <a:off x="3924300" y="4843462"/>
            <a:ext cx="142875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34"/>
          <p:cNvSpPr/>
          <p:nvPr/>
        </p:nvSpPr>
        <p:spPr>
          <a:xfrm>
            <a:off x="1189037" y="2895600"/>
            <a:ext cx="215900" cy="215900"/>
          </a:xfrm>
          <a:prstGeom prst="ellipse">
            <a:avLst/>
          </a:prstGeom>
          <a:noFill/>
          <a:ln cap="flat" cmpd="sng" w="9525">
            <a:solidFill>
              <a:srgbClr val="3333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6" name="Google Shape;626;p34"/>
          <p:cNvCxnSpPr/>
          <p:nvPr/>
        </p:nvCxnSpPr>
        <p:spPr>
          <a:xfrm rot="10800000">
            <a:off x="2124075" y="3548062"/>
            <a:ext cx="1871662" cy="13668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27" name="Google Shape;627;p34"/>
          <p:cNvCxnSpPr/>
          <p:nvPr/>
        </p:nvCxnSpPr>
        <p:spPr>
          <a:xfrm flipH="1">
            <a:off x="1835150" y="4935537"/>
            <a:ext cx="2138362" cy="149225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28" name="Google Shape;628;p34"/>
          <p:cNvCxnSpPr/>
          <p:nvPr/>
        </p:nvCxnSpPr>
        <p:spPr>
          <a:xfrm flipH="1" rot="10800000">
            <a:off x="3995737" y="3332162"/>
            <a:ext cx="863600" cy="15843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29" name="Google Shape;629;p34"/>
          <p:cNvCxnSpPr/>
          <p:nvPr/>
        </p:nvCxnSpPr>
        <p:spPr>
          <a:xfrm flipH="1" rot="10800000">
            <a:off x="3997325" y="4051300"/>
            <a:ext cx="2735262" cy="8651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0" name="Google Shape;630;p34"/>
          <p:cNvCxnSpPr/>
          <p:nvPr/>
        </p:nvCxnSpPr>
        <p:spPr>
          <a:xfrm>
            <a:off x="3995737" y="4914900"/>
            <a:ext cx="1008062" cy="18002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1" name="Google Shape;631;p34"/>
          <p:cNvCxnSpPr/>
          <p:nvPr/>
        </p:nvCxnSpPr>
        <p:spPr>
          <a:xfrm>
            <a:off x="3995737" y="4914900"/>
            <a:ext cx="2663825" cy="9366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2" name="Google Shape;632;p34"/>
          <p:cNvCxnSpPr/>
          <p:nvPr/>
        </p:nvCxnSpPr>
        <p:spPr>
          <a:xfrm rot="10800000">
            <a:off x="3276600" y="3475037"/>
            <a:ext cx="719137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3" name="Google Shape;633;p34"/>
          <p:cNvCxnSpPr/>
          <p:nvPr/>
        </p:nvCxnSpPr>
        <p:spPr>
          <a:xfrm rot="10800000">
            <a:off x="1547812" y="4267200"/>
            <a:ext cx="2447925" cy="6477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4" name="Google Shape;634;p34"/>
          <p:cNvCxnSpPr/>
          <p:nvPr/>
        </p:nvCxnSpPr>
        <p:spPr>
          <a:xfrm flipH="1">
            <a:off x="2987675" y="4914900"/>
            <a:ext cx="1008062" cy="165735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5" name="Google Shape;635;p34"/>
          <p:cNvCxnSpPr/>
          <p:nvPr/>
        </p:nvCxnSpPr>
        <p:spPr>
          <a:xfrm flipH="1">
            <a:off x="1547812" y="4914900"/>
            <a:ext cx="2447925" cy="7207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36" name="Google Shape;636;p34"/>
          <p:cNvSpPr/>
          <p:nvPr/>
        </p:nvSpPr>
        <p:spPr>
          <a:xfrm>
            <a:off x="3922712" y="4843462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3203575" y="4483100"/>
            <a:ext cx="10080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 </a:t>
            </a:r>
            <a:r>
              <a:rPr b="0" i="0" lang="en-US" sz="2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638" name="Google Shape;638;p34"/>
          <p:cNvSpPr/>
          <p:nvPr/>
        </p:nvSpPr>
        <p:spPr>
          <a:xfrm>
            <a:off x="2771775" y="3835400"/>
            <a:ext cx="2376487" cy="2232025"/>
          </a:xfrm>
          <a:prstGeom prst="ellipse">
            <a:avLst/>
          </a:prstGeom>
          <a:gradFill>
            <a:gsLst>
              <a:gs pos="0">
                <a:srgbClr val="00CC99">
                  <a:alpha val="50980"/>
                </a:srgbClr>
              </a:gs>
              <a:gs pos="100000">
                <a:srgbClr val="005E4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34"/>
          <p:cNvSpPr/>
          <p:nvPr/>
        </p:nvSpPr>
        <p:spPr>
          <a:xfrm flipH="1" rot="-2040000">
            <a:off x="4427537" y="4483100"/>
            <a:ext cx="166687" cy="277812"/>
          </a:xfrm>
          <a:prstGeom prst="flowChartOnlineStorage">
            <a:avLst/>
          </a:pr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4284662" y="4627562"/>
            <a:ext cx="1296987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641" name="Google Shape;641;p34"/>
          <p:cNvCxnSpPr/>
          <p:nvPr/>
        </p:nvCxnSpPr>
        <p:spPr>
          <a:xfrm>
            <a:off x="4787900" y="4627562"/>
            <a:ext cx="21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42" name="Google Shape;642;p34"/>
          <p:cNvCxnSpPr/>
          <p:nvPr/>
        </p:nvCxnSpPr>
        <p:spPr>
          <a:xfrm flipH="1" rot="10800000">
            <a:off x="4500562" y="3835400"/>
            <a:ext cx="1439862" cy="812800"/>
          </a:xfrm>
          <a:prstGeom prst="straightConnector1">
            <a:avLst/>
          </a:prstGeom>
          <a:noFill/>
          <a:ln cap="flat" cmpd="sng" w="38100">
            <a:solidFill>
              <a:srgbClr val="33CCCC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43" name="Google Shape;643;p34"/>
          <p:cNvCxnSpPr/>
          <p:nvPr/>
        </p:nvCxnSpPr>
        <p:spPr>
          <a:xfrm flipH="1" rot="10800000">
            <a:off x="4500562" y="4410075"/>
            <a:ext cx="433387" cy="217487"/>
          </a:xfrm>
          <a:prstGeom prst="straightConnector1">
            <a:avLst/>
          </a:prstGeom>
          <a:noFill/>
          <a:ln cap="flat" cmpd="sng" w="38100">
            <a:solidFill>
              <a:srgbClr val="0066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5"/>
          <p:cNvSpPr txBox="1"/>
          <p:nvPr/>
        </p:nvSpPr>
        <p:spPr>
          <a:xfrm>
            <a:off x="827087" y="366712"/>
            <a:ext cx="72390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3800"/>
              <a:buFont typeface="Trebuchet MS"/>
              <a:buNone/>
            </a:pPr>
            <a:r>
              <a:rPr b="1" i="0" lang="en-US" sz="3800" u="none">
                <a:solidFill>
                  <a:srgbClr val="990033"/>
                </a:solidFill>
                <a:latin typeface="Trebuchet MS"/>
                <a:ea typeface="Trebuchet MS"/>
                <a:cs typeface="Trebuchet MS"/>
                <a:sym typeface="Trebuchet MS"/>
              </a:rPr>
              <a:t>LEY DE GAUSS</a:t>
            </a:r>
            <a:endParaRPr/>
          </a:p>
        </p:txBody>
      </p:sp>
      <p:sp>
        <p:nvSpPr>
          <p:cNvPr id="649" name="Google Shape;649;p35"/>
          <p:cNvSpPr txBox="1"/>
          <p:nvPr/>
        </p:nvSpPr>
        <p:spPr>
          <a:xfrm>
            <a:off x="250825" y="1725612"/>
            <a:ext cx="7705725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dirección del campo es perpendicular a la superficie en todos los puntos de la misma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35"/>
          <p:cNvCxnSpPr/>
          <p:nvPr/>
        </p:nvCxnSpPr>
        <p:spPr>
          <a:xfrm flipH="1" rot="10800000">
            <a:off x="5364162" y="3475037"/>
            <a:ext cx="1871662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51" name="Google Shape;651;p35"/>
          <p:cNvCxnSpPr/>
          <p:nvPr/>
        </p:nvCxnSpPr>
        <p:spPr>
          <a:xfrm rot="10800000">
            <a:off x="5364162" y="3332162"/>
            <a:ext cx="0" cy="15128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52" name="Google Shape;652;p35"/>
          <p:cNvCxnSpPr/>
          <p:nvPr/>
        </p:nvCxnSpPr>
        <p:spPr>
          <a:xfrm flipH="1">
            <a:off x="2843212" y="4937125"/>
            <a:ext cx="2498725" cy="508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53" name="Google Shape;653;p35"/>
          <p:cNvCxnSpPr/>
          <p:nvPr/>
        </p:nvCxnSpPr>
        <p:spPr>
          <a:xfrm>
            <a:off x="5364162" y="4914900"/>
            <a:ext cx="2663825" cy="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54" name="Google Shape;654;p35"/>
          <p:cNvCxnSpPr/>
          <p:nvPr/>
        </p:nvCxnSpPr>
        <p:spPr>
          <a:xfrm>
            <a:off x="5364162" y="4987925"/>
            <a:ext cx="0" cy="17272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55" name="Google Shape;655;p35"/>
          <p:cNvCxnSpPr/>
          <p:nvPr/>
        </p:nvCxnSpPr>
        <p:spPr>
          <a:xfrm>
            <a:off x="5414962" y="4967287"/>
            <a:ext cx="1893887" cy="15319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56" name="Google Shape;656;p35"/>
          <p:cNvSpPr txBox="1"/>
          <p:nvPr/>
        </p:nvSpPr>
        <p:spPr>
          <a:xfrm>
            <a:off x="7019925" y="3621087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657" name="Google Shape;657;p35"/>
          <p:cNvCxnSpPr/>
          <p:nvPr/>
        </p:nvCxnSpPr>
        <p:spPr>
          <a:xfrm>
            <a:off x="7380287" y="3619500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58" name="Google Shape;658;p35"/>
          <p:cNvSpPr txBox="1"/>
          <p:nvPr/>
        </p:nvSpPr>
        <p:spPr>
          <a:xfrm>
            <a:off x="-36512" y="2755900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 = 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E dA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659" name="Google Shape;659;p35"/>
          <p:cNvSpPr/>
          <p:nvPr/>
        </p:nvSpPr>
        <p:spPr>
          <a:xfrm>
            <a:off x="1187450" y="2679700"/>
            <a:ext cx="144462" cy="652462"/>
          </a:xfrm>
          <a:custGeom>
            <a:rect b="b" l="l" r="r" t="t"/>
            <a:pathLst>
              <a:path extrusionOk="0" h="574" w="181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cap="flat" cmpd="sng" w="28575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35"/>
          <p:cNvSpPr/>
          <p:nvPr/>
        </p:nvSpPr>
        <p:spPr>
          <a:xfrm>
            <a:off x="5292725" y="4843462"/>
            <a:ext cx="142875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35"/>
          <p:cNvSpPr/>
          <p:nvPr/>
        </p:nvSpPr>
        <p:spPr>
          <a:xfrm>
            <a:off x="1189037" y="2895600"/>
            <a:ext cx="215900" cy="215900"/>
          </a:xfrm>
          <a:prstGeom prst="ellipse">
            <a:avLst/>
          </a:prstGeom>
          <a:noFill/>
          <a:ln cap="flat" cmpd="sng" w="9525">
            <a:solidFill>
              <a:srgbClr val="3333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2" name="Google Shape;662;p35"/>
          <p:cNvCxnSpPr/>
          <p:nvPr/>
        </p:nvCxnSpPr>
        <p:spPr>
          <a:xfrm rot="10800000">
            <a:off x="3492500" y="3548062"/>
            <a:ext cx="1871662" cy="13668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3" name="Google Shape;663;p35"/>
          <p:cNvCxnSpPr/>
          <p:nvPr/>
        </p:nvCxnSpPr>
        <p:spPr>
          <a:xfrm flipH="1">
            <a:off x="3276600" y="4935537"/>
            <a:ext cx="2065337" cy="142081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4" name="Google Shape;664;p35"/>
          <p:cNvCxnSpPr/>
          <p:nvPr/>
        </p:nvCxnSpPr>
        <p:spPr>
          <a:xfrm flipH="1" rot="10800000">
            <a:off x="5364162" y="3332162"/>
            <a:ext cx="863600" cy="15843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5" name="Google Shape;665;p35"/>
          <p:cNvCxnSpPr/>
          <p:nvPr/>
        </p:nvCxnSpPr>
        <p:spPr>
          <a:xfrm flipH="1" rot="10800000">
            <a:off x="5365750" y="4124325"/>
            <a:ext cx="2519362" cy="7921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6" name="Google Shape;666;p35"/>
          <p:cNvCxnSpPr/>
          <p:nvPr/>
        </p:nvCxnSpPr>
        <p:spPr>
          <a:xfrm>
            <a:off x="5364162" y="4914900"/>
            <a:ext cx="1008062" cy="18002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7" name="Google Shape;667;p35"/>
          <p:cNvCxnSpPr/>
          <p:nvPr/>
        </p:nvCxnSpPr>
        <p:spPr>
          <a:xfrm>
            <a:off x="5364162" y="4914900"/>
            <a:ext cx="2520950" cy="8651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8" name="Google Shape;668;p35"/>
          <p:cNvCxnSpPr/>
          <p:nvPr/>
        </p:nvCxnSpPr>
        <p:spPr>
          <a:xfrm rot="10800000">
            <a:off x="4645025" y="3475037"/>
            <a:ext cx="719137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9" name="Google Shape;669;p35"/>
          <p:cNvCxnSpPr/>
          <p:nvPr/>
        </p:nvCxnSpPr>
        <p:spPr>
          <a:xfrm rot="10800000">
            <a:off x="2987675" y="4267200"/>
            <a:ext cx="2376487" cy="6477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70" name="Google Shape;670;p35"/>
          <p:cNvCxnSpPr/>
          <p:nvPr/>
        </p:nvCxnSpPr>
        <p:spPr>
          <a:xfrm flipH="1">
            <a:off x="4356100" y="4914900"/>
            <a:ext cx="1008062" cy="165735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71" name="Google Shape;671;p35"/>
          <p:cNvCxnSpPr/>
          <p:nvPr/>
        </p:nvCxnSpPr>
        <p:spPr>
          <a:xfrm flipH="1">
            <a:off x="2916237" y="4914900"/>
            <a:ext cx="2447925" cy="7207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72" name="Google Shape;672;p35"/>
          <p:cNvSpPr/>
          <p:nvPr/>
        </p:nvSpPr>
        <p:spPr>
          <a:xfrm>
            <a:off x="5291137" y="4843462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35"/>
          <p:cNvSpPr txBox="1"/>
          <p:nvPr/>
        </p:nvSpPr>
        <p:spPr>
          <a:xfrm>
            <a:off x="4572000" y="4483100"/>
            <a:ext cx="10080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 </a:t>
            </a:r>
            <a:r>
              <a:rPr b="0" i="0" lang="en-US" sz="2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674" name="Google Shape;674;p35"/>
          <p:cNvSpPr/>
          <p:nvPr/>
        </p:nvSpPr>
        <p:spPr>
          <a:xfrm>
            <a:off x="4140200" y="3835400"/>
            <a:ext cx="2376487" cy="2232025"/>
          </a:xfrm>
          <a:prstGeom prst="ellipse">
            <a:avLst/>
          </a:prstGeom>
          <a:gradFill>
            <a:gsLst>
              <a:gs pos="0">
                <a:srgbClr val="00CC99">
                  <a:alpha val="50980"/>
                </a:srgbClr>
              </a:gs>
              <a:gs pos="100000">
                <a:srgbClr val="005E4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35"/>
          <p:cNvSpPr/>
          <p:nvPr/>
        </p:nvSpPr>
        <p:spPr>
          <a:xfrm flipH="1" rot="-2040000">
            <a:off x="5795962" y="4483100"/>
            <a:ext cx="166687" cy="277812"/>
          </a:xfrm>
          <a:prstGeom prst="flowChartOnlineStorage">
            <a:avLst/>
          </a:prstGeom>
          <a:solidFill>
            <a:schemeClr val="accent1"/>
          </a:solidFill>
          <a:ln cap="flat" cmpd="sng" w="12700">
            <a:solidFill>
              <a:srgbClr val="0095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35"/>
          <p:cNvSpPr txBox="1"/>
          <p:nvPr/>
        </p:nvSpPr>
        <p:spPr>
          <a:xfrm>
            <a:off x="5653087" y="4627562"/>
            <a:ext cx="1296987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677" name="Google Shape;677;p35"/>
          <p:cNvCxnSpPr/>
          <p:nvPr/>
        </p:nvCxnSpPr>
        <p:spPr>
          <a:xfrm>
            <a:off x="6156325" y="4627562"/>
            <a:ext cx="21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8" name="Google Shape;678;p35"/>
          <p:cNvCxnSpPr/>
          <p:nvPr/>
        </p:nvCxnSpPr>
        <p:spPr>
          <a:xfrm flipH="1" rot="10800000">
            <a:off x="5868987" y="3835400"/>
            <a:ext cx="1439862" cy="812800"/>
          </a:xfrm>
          <a:prstGeom prst="straightConnector1">
            <a:avLst/>
          </a:prstGeom>
          <a:noFill/>
          <a:ln cap="flat" cmpd="sng" w="38100">
            <a:solidFill>
              <a:srgbClr val="33CCCC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79" name="Google Shape;679;p35"/>
          <p:cNvCxnSpPr/>
          <p:nvPr/>
        </p:nvCxnSpPr>
        <p:spPr>
          <a:xfrm flipH="1" rot="10800000">
            <a:off x="5868987" y="4410075"/>
            <a:ext cx="433387" cy="217487"/>
          </a:xfrm>
          <a:prstGeom prst="straightConnector1">
            <a:avLst/>
          </a:prstGeom>
          <a:noFill/>
          <a:ln cap="flat" cmpd="sng" w="38100">
            <a:solidFill>
              <a:srgbClr val="0066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80" name="Google Shape;680;p35"/>
          <p:cNvSpPr txBox="1"/>
          <p:nvPr/>
        </p:nvSpPr>
        <p:spPr>
          <a:xfrm>
            <a:off x="-107950" y="3624262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 =  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E    dA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681" name="Google Shape;681;p35"/>
          <p:cNvSpPr/>
          <p:nvPr/>
        </p:nvSpPr>
        <p:spPr>
          <a:xfrm>
            <a:off x="1476375" y="3548062"/>
            <a:ext cx="144462" cy="652462"/>
          </a:xfrm>
          <a:custGeom>
            <a:rect b="b" l="l" r="r" t="t"/>
            <a:pathLst>
              <a:path extrusionOk="0" h="574" w="181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cap="flat" cmpd="sng" w="28575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1477962" y="3763962"/>
            <a:ext cx="215900" cy="215900"/>
          </a:xfrm>
          <a:prstGeom prst="ellipse">
            <a:avLst/>
          </a:prstGeom>
          <a:noFill/>
          <a:ln cap="flat" cmpd="sng" w="9525">
            <a:solidFill>
              <a:srgbClr val="3333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35"/>
          <p:cNvSpPr txBox="1"/>
          <p:nvPr/>
        </p:nvSpPr>
        <p:spPr>
          <a:xfrm>
            <a:off x="-107950" y="4483100"/>
            <a:ext cx="25209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 =  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E (4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 )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684" name="Google Shape;684;p35"/>
          <p:cNvSpPr txBox="1"/>
          <p:nvPr/>
        </p:nvSpPr>
        <p:spPr>
          <a:xfrm>
            <a:off x="1979612" y="4538662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85" name="Google Shape;685;p35"/>
          <p:cNvSpPr txBox="1"/>
          <p:nvPr/>
        </p:nvSpPr>
        <p:spPr>
          <a:xfrm>
            <a:off x="107950" y="5419725"/>
            <a:ext cx="1296987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 =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686" name="Google Shape;686;p35"/>
          <p:cNvSpPr txBox="1"/>
          <p:nvPr/>
        </p:nvSpPr>
        <p:spPr>
          <a:xfrm>
            <a:off x="620712" y="5562600"/>
            <a:ext cx="998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2400" u="non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πε</a:t>
            </a:r>
            <a:r>
              <a:rPr b="0" baseline="-25000" i="0" lang="en-US" sz="2400" u="non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endParaRPr/>
          </a:p>
        </p:txBody>
      </p:sp>
      <p:sp>
        <p:nvSpPr>
          <p:cNvPr id="687" name="Google Shape;687;p35"/>
          <p:cNvSpPr txBox="1"/>
          <p:nvPr/>
        </p:nvSpPr>
        <p:spPr>
          <a:xfrm>
            <a:off x="684212" y="5203825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1</a:t>
            </a:r>
            <a:endParaRPr/>
          </a:p>
        </p:txBody>
      </p:sp>
      <p:cxnSp>
        <p:nvCxnSpPr>
          <p:cNvPr id="688" name="Google Shape;688;p35"/>
          <p:cNvCxnSpPr/>
          <p:nvPr/>
        </p:nvCxnSpPr>
        <p:spPr>
          <a:xfrm>
            <a:off x="900112" y="5635625"/>
            <a:ext cx="5032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89" name="Google Shape;689;p35"/>
          <p:cNvSpPr txBox="1"/>
          <p:nvPr/>
        </p:nvSpPr>
        <p:spPr>
          <a:xfrm>
            <a:off x="1403350" y="5562600"/>
            <a:ext cx="709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/>
          </a:p>
        </p:txBody>
      </p:sp>
      <p:sp>
        <p:nvSpPr>
          <p:cNvPr id="690" name="Google Shape;690;p35"/>
          <p:cNvSpPr txBox="1"/>
          <p:nvPr/>
        </p:nvSpPr>
        <p:spPr>
          <a:xfrm>
            <a:off x="1403350" y="5203825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q</a:t>
            </a:r>
            <a:endParaRPr/>
          </a:p>
        </p:txBody>
      </p:sp>
      <p:cxnSp>
        <p:nvCxnSpPr>
          <p:cNvPr id="691" name="Google Shape;691;p35"/>
          <p:cNvCxnSpPr/>
          <p:nvPr/>
        </p:nvCxnSpPr>
        <p:spPr>
          <a:xfrm>
            <a:off x="1619250" y="5635625"/>
            <a:ext cx="3079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92" name="Google Shape;692;p35"/>
          <p:cNvSpPr txBox="1"/>
          <p:nvPr/>
        </p:nvSpPr>
        <p:spPr>
          <a:xfrm>
            <a:off x="1763712" y="561975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6"/>
          <p:cNvSpPr txBox="1"/>
          <p:nvPr/>
        </p:nvSpPr>
        <p:spPr>
          <a:xfrm>
            <a:off x="611187" y="862012"/>
            <a:ext cx="7705725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un casquete esférico con carga distribuida uniformemente en su superficie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un radio R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p36"/>
          <p:cNvCxnSpPr/>
          <p:nvPr/>
        </p:nvCxnSpPr>
        <p:spPr>
          <a:xfrm flipH="1" rot="10800000">
            <a:off x="5724525" y="2611437"/>
            <a:ext cx="1871662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99" name="Google Shape;699;p36"/>
          <p:cNvCxnSpPr/>
          <p:nvPr/>
        </p:nvCxnSpPr>
        <p:spPr>
          <a:xfrm rot="10800000">
            <a:off x="5724525" y="2468562"/>
            <a:ext cx="0" cy="15128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0" name="Google Shape;700;p36"/>
          <p:cNvCxnSpPr/>
          <p:nvPr/>
        </p:nvCxnSpPr>
        <p:spPr>
          <a:xfrm flipH="1">
            <a:off x="3203575" y="4073525"/>
            <a:ext cx="2498725" cy="508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1" name="Google Shape;701;p36"/>
          <p:cNvCxnSpPr/>
          <p:nvPr/>
        </p:nvCxnSpPr>
        <p:spPr>
          <a:xfrm>
            <a:off x="5724525" y="4051300"/>
            <a:ext cx="2663825" cy="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2" name="Google Shape;702;p36"/>
          <p:cNvCxnSpPr/>
          <p:nvPr/>
        </p:nvCxnSpPr>
        <p:spPr>
          <a:xfrm>
            <a:off x="5724525" y="4124325"/>
            <a:ext cx="0" cy="17272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3" name="Google Shape;703;p36"/>
          <p:cNvCxnSpPr/>
          <p:nvPr/>
        </p:nvCxnSpPr>
        <p:spPr>
          <a:xfrm>
            <a:off x="5775325" y="4103687"/>
            <a:ext cx="1893887" cy="15319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04" name="Google Shape;704;p36"/>
          <p:cNvSpPr txBox="1"/>
          <p:nvPr/>
        </p:nvSpPr>
        <p:spPr>
          <a:xfrm>
            <a:off x="7380287" y="2757487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705" name="Google Shape;705;p36"/>
          <p:cNvCxnSpPr/>
          <p:nvPr/>
        </p:nvCxnSpPr>
        <p:spPr>
          <a:xfrm>
            <a:off x="7740650" y="2755900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06" name="Google Shape;706;p36"/>
          <p:cNvSpPr/>
          <p:nvPr/>
        </p:nvSpPr>
        <p:spPr>
          <a:xfrm>
            <a:off x="5653087" y="3979862"/>
            <a:ext cx="142875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07" name="Google Shape;707;p36"/>
          <p:cNvCxnSpPr/>
          <p:nvPr/>
        </p:nvCxnSpPr>
        <p:spPr>
          <a:xfrm rot="10800000">
            <a:off x="3852862" y="2684462"/>
            <a:ext cx="1871662" cy="13668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8" name="Google Shape;708;p36"/>
          <p:cNvCxnSpPr/>
          <p:nvPr/>
        </p:nvCxnSpPr>
        <p:spPr>
          <a:xfrm flipH="1">
            <a:off x="3636962" y="4071937"/>
            <a:ext cx="2065337" cy="142081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9" name="Google Shape;709;p36"/>
          <p:cNvCxnSpPr/>
          <p:nvPr/>
        </p:nvCxnSpPr>
        <p:spPr>
          <a:xfrm flipH="1" rot="10800000">
            <a:off x="5724525" y="2468562"/>
            <a:ext cx="863600" cy="15843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0" name="Google Shape;710;p36"/>
          <p:cNvCxnSpPr/>
          <p:nvPr/>
        </p:nvCxnSpPr>
        <p:spPr>
          <a:xfrm flipH="1" rot="10800000">
            <a:off x="5726112" y="3260725"/>
            <a:ext cx="2519362" cy="7921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1" name="Google Shape;711;p36"/>
          <p:cNvCxnSpPr/>
          <p:nvPr/>
        </p:nvCxnSpPr>
        <p:spPr>
          <a:xfrm>
            <a:off x="5724525" y="4051300"/>
            <a:ext cx="1008062" cy="18002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2" name="Google Shape;712;p36"/>
          <p:cNvCxnSpPr/>
          <p:nvPr/>
        </p:nvCxnSpPr>
        <p:spPr>
          <a:xfrm>
            <a:off x="5724525" y="4051300"/>
            <a:ext cx="2520950" cy="8651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3" name="Google Shape;713;p36"/>
          <p:cNvCxnSpPr/>
          <p:nvPr/>
        </p:nvCxnSpPr>
        <p:spPr>
          <a:xfrm rot="10800000">
            <a:off x="5005387" y="2611437"/>
            <a:ext cx="719137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4" name="Google Shape;714;p36"/>
          <p:cNvCxnSpPr/>
          <p:nvPr/>
        </p:nvCxnSpPr>
        <p:spPr>
          <a:xfrm rot="10800000">
            <a:off x="3348037" y="3403600"/>
            <a:ext cx="2376487" cy="6477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5" name="Google Shape;715;p36"/>
          <p:cNvCxnSpPr/>
          <p:nvPr/>
        </p:nvCxnSpPr>
        <p:spPr>
          <a:xfrm flipH="1">
            <a:off x="4716462" y="4051300"/>
            <a:ext cx="1008062" cy="165735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6" name="Google Shape;716;p36"/>
          <p:cNvCxnSpPr/>
          <p:nvPr/>
        </p:nvCxnSpPr>
        <p:spPr>
          <a:xfrm flipH="1">
            <a:off x="3276600" y="4051300"/>
            <a:ext cx="2447925" cy="7207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17" name="Google Shape;717;p36"/>
          <p:cNvSpPr txBox="1"/>
          <p:nvPr/>
        </p:nvSpPr>
        <p:spPr>
          <a:xfrm>
            <a:off x="4787900" y="4268787"/>
            <a:ext cx="10080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 </a:t>
            </a:r>
            <a:r>
              <a:rPr b="0" i="0" lang="en-US" sz="2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18" name="Google Shape;718;p36"/>
          <p:cNvSpPr txBox="1"/>
          <p:nvPr/>
        </p:nvSpPr>
        <p:spPr>
          <a:xfrm>
            <a:off x="468312" y="4845050"/>
            <a:ext cx="20161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0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1125537" y="3692525"/>
            <a:ext cx="998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2400" u="non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πε</a:t>
            </a:r>
            <a:r>
              <a:rPr b="0" baseline="-25000" i="0" lang="en-US" sz="2400" u="non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endParaRPr/>
          </a:p>
        </p:txBody>
      </p:sp>
      <p:sp>
        <p:nvSpPr>
          <p:cNvPr id="720" name="Google Shape;720;p36"/>
          <p:cNvSpPr txBox="1"/>
          <p:nvPr/>
        </p:nvSpPr>
        <p:spPr>
          <a:xfrm>
            <a:off x="1187450" y="3333750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1</a:t>
            </a:r>
            <a:endParaRPr/>
          </a:p>
        </p:txBody>
      </p:sp>
      <p:cxnSp>
        <p:nvCxnSpPr>
          <p:cNvPr id="721" name="Google Shape;721;p36"/>
          <p:cNvCxnSpPr/>
          <p:nvPr/>
        </p:nvCxnSpPr>
        <p:spPr>
          <a:xfrm>
            <a:off x="1404937" y="3765550"/>
            <a:ext cx="5032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22" name="Google Shape;722;p36"/>
          <p:cNvSpPr txBox="1"/>
          <p:nvPr/>
        </p:nvSpPr>
        <p:spPr>
          <a:xfrm>
            <a:off x="1763712" y="3692525"/>
            <a:ext cx="709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/>
          </a:p>
        </p:txBody>
      </p:sp>
      <p:sp>
        <p:nvSpPr>
          <p:cNvPr id="723" name="Google Shape;723;p36"/>
          <p:cNvSpPr txBox="1"/>
          <p:nvPr/>
        </p:nvSpPr>
        <p:spPr>
          <a:xfrm>
            <a:off x="1763712" y="3333750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q</a:t>
            </a:r>
            <a:endParaRPr/>
          </a:p>
        </p:txBody>
      </p:sp>
      <p:cxnSp>
        <p:nvCxnSpPr>
          <p:cNvPr id="724" name="Google Shape;724;p36"/>
          <p:cNvCxnSpPr/>
          <p:nvPr/>
        </p:nvCxnSpPr>
        <p:spPr>
          <a:xfrm>
            <a:off x="1979612" y="3765550"/>
            <a:ext cx="3079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25" name="Google Shape;725;p36"/>
          <p:cNvSpPr txBox="1"/>
          <p:nvPr/>
        </p:nvSpPr>
        <p:spPr>
          <a:xfrm>
            <a:off x="2124075" y="3749675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26" name="Google Shape;726;p36"/>
          <p:cNvSpPr/>
          <p:nvPr/>
        </p:nvSpPr>
        <p:spPr>
          <a:xfrm>
            <a:off x="4860925" y="3187700"/>
            <a:ext cx="1728787" cy="1728787"/>
          </a:xfrm>
          <a:prstGeom prst="ellipse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36"/>
          <p:cNvSpPr/>
          <p:nvPr/>
        </p:nvSpPr>
        <p:spPr>
          <a:xfrm>
            <a:off x="4572000" y="2971800"/>
            <a:ext cx="2305050" cy="2232025"/>
          </a:xfrm>
          <a:prstGeom prst="ellipse">
            <a:avLst/>
          </a:prstGeom>
          <a:gradFill>
            <a:gsLst>
              <a:gs pos="0">
                <a:srgbClr val="CD698D">
                  <a:alpha val="10980"/>
                </a:srgbClr>
              </a:gs>
              <a:gs pos="100000">
                <a:srgbClr val="5F3141">
                  <a:alpha val="88627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8" name="Google Shape;728;p36"/>
          <p:cNvCxnSpPr/>
          <p:nvPr/>
        </p:nvCxnSpPr>
        <p:spPr>
          <a:xfrm flipH="1" rot="10800000">
            <a:off x="5724525" y="3692525"/>
            <a:ext cx="720725" cy="3587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29" name="Google Shape;729;p36"/>
          <p:cNvSpPr txBox="1"/>
          <p:nvPr/>
        </p:nvSpPr>
        <p:spPr>
          <a:xfrm>
            <a:off x="5795962" y="3835400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30" name="Google Shape;730;p36"/>
          <p:cNvSpPr txBox="1"/>
          <p:nvPr/>
        </p:nvSpPr>
        <p:spPr>
          <a:xfrm>
            <a:off x="323850" y="2108200"/>
            <a:ext cx="27368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 =  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(4</a:t>
            </a:r>
            <a:r>
              <a:rPr b="0" i="0" lang="en-US" sz="2400" u="none" cap="none" strike="noStrik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 )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31" name="Google Shape;731;p36"/>
          <p:cNvSpPr txBox="1"/>
          <p:nvPr/>
        </p:nvSpPr>
        <p:spPr>
          <a:xfrm>
            <a:off x="2555875" y="2108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32" name="Google Shape;732;p36"/>
          <p:cNvSpPr txBox="1"/>
          <p:nvPr/>
        </p:nvSpPr>
        <p:spPr>
          <a:xfrm>
            <a:off x="792162" y="2755900"/>
            <a:ext cx="21955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 &gt; R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6"/>
          <p:cNvSpPr txBox="1"/>
          <p:nvPr/>
        </p:nvSpPr>
        <p:spPr>
          <a:xfrm>
            <a:off x="755650" y="4195762"/>
            <a:ext cx="2195512" cy="72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6"/>
          <p:cNvSpPr txBox="1"/>
          <p:nvPr/>
        </p:nvSpPr>
        <p:spPr>
          <a:xfrm>
            <a:off x="755650" y="5491162"/>
            <a:ext cx="2195512" cy="72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 &lt; R</a:t>
            </a:r>
            <a:endParaRPr/>
          </a:p>
        </p:txBody>
      </p:sp>
      <p:sp>
        <p:nvSpPr>
          <p:cNvPr id="735" name="Google Shape;735;p36"/>
          <p:cNvSpPr txBox="1"/>
          <p:nvPr/>
        </p:nvSpPr>
        <p:spPr>
          <a:xfrm>
            <a:off x="468312" y="3549650"/>
            <a:ext cx="20161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7"/>
          <p:cNvSpPr txBox="1"/>
          <p:nvPr/>
        </p:nvSpPr>
        <p:spPr>
          <a:xfrm>
            <a:off x="466725" y="573087"/>
            <a:ext cx="7705725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una distribución de carga esféricamente simétrica</a:t>
            </a:r>
            <a:endParaRPr/>
          </a:p>
          <a:p>
            <a:pPr indent="-16179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52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p37"/>
          <p:cNvCxnSpPr/>
          <p:nvPr/>
        </p:nvCxnSpPr>
        <p:spPr>
          <a:xfrm flipH="1" rot="10800000">
            <a:off x="5580062" y="2322512"/>
            <a:ext cx="1871662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42" name="Google Shape;742;p37"/>
          <p:cNvCxnSpPr/>
          <p:nvPr/>
        </p:nvCxnSpPr>
        <p:spPr>
          <a:xfrm rot="10800000">
            <a:off x="5580062" y="2179637"/>
            <a:ext cx="0" cy="15128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43" name="Google Shape;743;p37"/>
          <p:cNvCxnSpPr/>
          <p:nvPr/>
        </p:nvCxnSpPr>
        <p:spPr>
          <a:xfrm flipH="1">
            <a:off x="3059112" y="3784600"/>
            <a:ext cx="2498725" cy="508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44" name="Google Shape;744;p37"/>
          <p:cNvCxnSpPr/>
          <p:nvPr/>
        </p:nvCxnSpPr>
        <p:spPr>
          <a:xfrm>
            <a:off x="5580062" y="3762375"/>
            <a:ext cx="2663825" cy="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45" name="Google Shape;745;p37"/>
          <p:cNvCxnSpPr/>
          <p:nvPr/>
        </p:nvCxnSpPr>
        <p:spPr>
          <a:xfrm>
            <a:off x="5580062" y="3835400"/>
            <a:ext cx="0" cy="17272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46" name="Google Shape;746;p37"/>
          <p:cNvCxnSpPr/>
          <p:nvPr/>
        </p:nvCxnSpPr>
        <p:spPr>
          <a:xfrm>
            <a:off x="5630862" y="3814762"/>
            <a:ext cx="1893887" cy="15319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47" name="Google Shape;747;p37"/>
          <p:cNvSpPr txBox="1"/>
          <p:nvPr/>
        </p:nvSpPr>
        <p:spPr>
          <a:xfrm>
            <a:off x="7235825" y="2468562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cxnSp>
        <p:nvCxnSpPr>
          <p:cNvPr id="748" name="Google Shape;748;p37"/>
          <p:cNvCxnSpPr/>
          <p:nvPr/>
        </p:nvCxnSpPr>
        <p:spPr>
          <a:xfrm>
            <a:off x="7596187" y="2466975"/>
            <a:ext cx="215900" cy="0"/>
          </a:xfrm>
          <a:prstGeom prst="straightConnector1">
            <a:avLst/>
          </a:prstGeom>
          <a:noFill/>
          <a:ln cap="flat" cmpd="sng" w="9525">
            <a:solidFill>
              <a:srgbClr val="5F5F5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49" name="Google Shape;749;p37"/>
          <p:cNvSpPr/>
          <p:nvPr/>
        </p:nvSpPr>
        <p:spPr>
          <a:xfrm>
            <a:off x="5508625" y="3690937"/>
            <a:ext cx="142875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0" name="Google Shape;750;p37"/>
          <p:cNvCxnSpPr/>
          <p:nvPr/>
        </p:nvCxnSpPr>
        <p:spPr>
          <a:xfrm rot="10800000">
            <a:off x="3708400" y="2395537"/>
            <a:ext cx="1871662" cy="136683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1" name="Google Shape;751;p37"/>
          <p:cNvCxnSpPr/>
          <p:nvPr/>
        </p:nvCxnSpPr>
        <p:spPr>
          <a:xfrm flipH="1">
            <a:off x="3492500" y="3783012"/>
            <a:ext cx="2065337" cy="142081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2" name="Google Shape;752;p37"/>
          <p:cNvCxnSpPr/>
          <p:nvPr/>
        </p:nvCxnSpPr>
        <p:spPr>
          <a:xfrm flipH="1" rot="10800000">
            <a:off x="5580062" y="2179637"/>
            <a:ext cx="863600" cy="15843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3" name="Google Shape;753;p37"/>
          <p:cNvCxnSpPr/>
          <p:nvPr/>
        </p:nvCxnSpPr>
        <p:spPr>
          <a:xfrm flipH="1" rot="10800000">
            <a:off x="5581650" y="2971800"/>
            <a:ext cx="2519362" cy="7921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4" name="Google Shape;754;p37"/>
          <p:cNvCxnSpPr/>
          <p:nvPr/>
        </p:nvCxnSpPr>
        <p:spPr>
          <a:xfrm>
            <a:off x="5580062" y="3762375"/>
            <a:ext cx="1008062" cy="18002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5" name="Google Shape;755;p37"/>
          <p:cNvCxnSpPr/>
          <p:nvPr/>
        </p:nvCxnSpPr>
        <p:spPr>
          <a:xfrm>
            <a:off x="5580062" y="3762375"/>
            <a:ext cx="2520950" cy="865187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6" name="Google Shape;756;p37"/>
          <p:cNvCxnSpPr/>
          <p:nvPr/>
        </p:nvCxnSpPr>
        <p:spPr>
          <a:xfrm rot="10800000">
            <a:off x="4860925" y="2322512"/>
            <a:ext cx="719137" cy="1439862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7" name="Google Shape;757;p37"/>
          <p:cNvCxnSpPr/>
          <p:nvPr/>
        </p:nvCxnSpPr>
        <p:spPr>
          <a:xfrm rot="10800000">
            <a:off x="3203575" y="3114675"/>
            <a:ext cx="2376487" cy="64770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8" name="Google Shape;758;p37"/>
          <p:cNvCxnSpPr/>
          <p:nvPr/>
        </p:nvCxnSpPr>
        <p:spPr>
          <a:xfrm flipH="1">
            <a:off x="4572000" y="3762375"/>
            <a:ext cx="1008062" cy="1657350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9" name="Google Shape;759;p37"/>
          <p:cNvCxnSpPr/>
          <p:nvPr/>
        </p:nvCxnSpPr>
        <p:spPr>
          <a:xfrm flipH="1">
            <a:off x="3132137" y="3762375"/>
            <a:ext cx="2447925" cy="720725"/>
          </a:xfrm>
          <a:prstGeom prst="straightConnector1">
            <a:avLst/>
          </a:prstGeom>
          <a:noFill/>
          <a:ln cap="flat" cmpd="sng" w="11425">
            <a:solidFill>
              <a:srgbClr val="66FF3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60" name="Google Shape;760;p37"/>
          <p:cNvSpPr txBox="1"/>
          <p:nvPr/>
        </p:nvSpPr>
        <p:spPr>
          <a:xfrm>
            <a:off x="4643437" y="3979862"/>
            <a:ext cx="10080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 </a:t>
            </a:r>
            <a:r>
              <a:rPr b="0" i="0" lang="en-US" sz="2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61" name="Google Shape;761;p37"/>
          <p:cNvSpPr txBox="1"/>
          <p:nvPr/>
        </p:nvSpPr>
        <p:spPr>
          <a:xfrm>
            <a:off x="3627437" y="1457325"/>
            <a:ext cx="998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2400" u="non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πε</a:t>
            </a:r>
            <a:r>
              <a:rPr b="0" baseline="-25000" i="0" lang="en-US" sz="2400" u="non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endParaRPr/>
          </a:p>
        </p:txBody>
      </p:sp>
      <p:sp>
        <p:nvSpPr>
          <p:cNvPr id="762" name="Google Shape;762;p37"/>
          <p:cNvSpPr txBox="1"/>
          <p:nvPr/>
        </p:nvSpPr>
        <p:spPr>
          <a:xfrm>
            <a:off x="3689350" y="1098550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1</a:t>
            </a:r>
            <a:endParaRPr/>
          </a:p>
        </p:txBody>
      </p:sp>
      <p:cxnSp>
        <p:nvCxnSpPr>
          <p:cNvPr id="763" name="Google Shape;763;p37"/>
          <p:cNvCxnSpPr/>
          <p:nvPr/>
        </p:nvCxnSpPr>
        <p:spPr>
          <a:xfrm>
            <a:off x="3906837" y="1530350"/>
            <a:ext cx="5032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4" name="Google Shape;764;p37"/>
          <p:cNvSpPr txBox="1"/>
          <p:nvPr/>
        </p:nvSpPr>
        <p:spPr>
          <a:xfrm>
            <a:off x="4265612" y="1457325"/>
            <a:ext cx="709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/>
          </a:p>
        </p:txBody>
      </p:sp>
      <p:sp>
        <p:nvSpPr>
          <p:cNvPr id="765" name="Google Shape;765;p37"/>
          <p:cNvSpPr txBox="1"/>
          <p:nvPr/>
        </p:nvSpPr>
        <p:spPr>
          <a:xfrm>
            <a:off x="4265612" y="1098550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dq</a:t>
            </a:r>
            <a:endParaRPr/>
          </a:p>
        </p:txBody>
      </p:sp>
      <p:cxnSp>
        <p:nvCxnSpPr>
          <p:cNvPr id="766" name="Google Shape;766;p37"/>
          <p:cNvCxnSpPr/>
          <p:nvPr/>
        </p:nvCxnSpPr>
        <p:spPr>
          <a:xfrm>
            <a:off x="4481512" y="1530350"/>
            <a:ext cx="3079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7" name="Google Shape;767;p37"/>
          <p:cNvSpPr txBox="1"/>
          <p:nvPr/>
        </p:nvSpPr>
        <p:spPr>
          <a:xfrm>
            <a:off x="4625975" y="1514475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4716462" y="2898775"/>
            <a:ext cx="1728787" cy="1728787"/>
          </a:xfrm>
          <a:prstGeom prst="ellipse">
            <a:avLst/>
          </a:prstGeom>
          <a:solidFill>
            <a:schemeClr val="accent1">
              <a:alpha val="82745"/>
            </a:schemeClr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4427537" y="2682875"/>
            <a:ext cx="2305050" cy="2232025"/>
          </a:xfrm>
          <a:prstGeom prst="ellipse">
            <a:avLst/>
          </a:prstGeom>
          <a:gradFill>
            <a:gsLst>
              <a:gs pos="0">
                <a:srgbClr val="CD698D">
                  <a:alpha val="10980"/>
                </a:srgbClr>
              </a:gs>
              <a:gs pos="100000">
                <a:srgbClr val="5F3141">
                  <a:alpha val="88627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0" name="Google Shape;770;p37"/>
          <p:cNvCxnSpPr/>
          <p:nvPr/>
        </p:nvCxnSpPr>
        <p:spPr>
          <a:xfrm flipH="1" rot="10800000">
            <a:off x="5580062" y="3403600"/>
            <a:ext cx="720725" cy="3587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71" name="Google Shape;771;p37"/>
          <p:cNvSpPr txBox="1"/>
          <p:nvPr/>
        </p:nvSpPr>
        <p:spPr>
          <a:xfrm>
            <a:off x="5651500" y="3546475"/>
            <a:ext cx="792162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72" name="Google Shape;772;p37"/>
          <p:cNvSpPr txBox="1"/>
          <p:nvPr/>
        </p:nvSpPr>
        <p:spPr>
          <a:xfrm>
            <a:off x="466725" y="1603375"/>
            <a:ext cx="219551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 &gt; R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7"/>
          <p:cNvSpPr txBox="1"/>
          <p:nvPr/>
        </p:nvSpPr>
        <p:spPr>
          <a:xfrm>
            <a:off x="466725" y="3619500"/>
            <a:ext cx="2195512" cy="72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para r &lt; R</a:t>
            </a:r>
            <a:endParaRPr/>
          </a:p>
        </p:txBody>
      </p:sp>
      <p:sp>
        <p:nvSpPr>
          <p:cNvPr id="774" name="Google Shape;774;p37"/>
          <p:cNvSpPr txBox="1"/>
          <p:nvPr/>
        </p:nvSpPr>
        <p:spPr>
          <a:xfrm>
            <a:off x="2897187" y="1312862"/>
            <a:ext cx="20161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3689350" y="1169987"/>
            <a:ext cx="144462" cy="652462"/>
          </a:xfrm>
          <a:custGeom>
            <a:rect b="b" l="l" r="r" t="t"/>
            <a:pathLst>
              <a:path extrusionOk="0" h="574" w="181">
                <a:moveTo>
                  <a:pt x="181" y="30"/>
                </a:moveTo>
                <a:cubicBezTo>
                  <a:pt x="113" y="15"/>
                  <a:pt x="45" y="0"/>
                  <a:pt x="45" y="75"/>
                </a:cubicBezTo>
                <a:cubicBezTo>
                  <a:pt x="45" y="150"/>
                  <a:pt x="181" y="400"/>
                  <a:pt x="181" y="483"/>
                </a:cubicBezTo>
                <a:cubicBezTo>
                  <a:pt x="181" y="566"/>
                  <a:pt x="75" y="574"/>
                  <a:pt x="45" y="574"/>
                </a:cubicBezTo>
                <a:cubicBezTo>
                  <a:pt x="15" y="574"/>
                  <a:pt x="7" y="528"/>
                  <a:pt x="0" y="483"/>
                </a:cubicBezTo>
              </a:path>
            </a:pathLst>
          </a:custGeom>
          <a:noFill/>
          <a:ln cap="flat" cmpd="sng" w="28575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37"/>
          <p:cNvSpPr txBox="1"/>
          <p:nvPr/>
        </p:nvSpPr>
        <p:spPr>
          <a:xfrm>
            <a:off x="1196975" y="2611437"/>
            <a:ext cx="998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2400" u="non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πε</a:t>
            </a:r>
            <a:r>
              <a:rPr b="0" baseline="-25000" i="0" lang="en-US" sz="2400" u="non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endParaRPr/>
          </a:p>
        </p:txBody>
      </p:sp>
      <p:sp>
        <p:nvSpPr>
          <p:cNvPr id="777" name="Google Shape;777;p37"/>
          <p:cNvSpPr txBox="1"/>
          <p:nvPr/>
        </p:nvSpPr>
        <p:spPr>
          <a:xfrm>
            <a:off x="1312862" y="2179637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1</a:t>
            </a:r>
            <a:endParaRPr/>
          </a:p>
        </p:txBody>
      </p:sp>
      <p:cxnSp>
        <p:nvCxnSpPr>
          <p:cNvPr id="778" name="Google Shape;778;p37"/>
          <p:cNvCxnSpPr/>
          <p:nvPr/>
        </p:nvCxnSpPr>
        <p:spPr>
          <a:xfrm>
            <a:off x="1476375" y="2684462"/>
            <a:ext cx="5032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9" name="Google Shape;779;p37"/>
          <p:cNvSpPr txBox="1"/>
          <p:nvPr/>
        </p:nvSpPr>
        <p:spPr>
          <a:xfrm>
            <a:off x="1835150" y="2611437"/>
            <a:ext cx="709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/>
          </a:p>
        </p:txBody>
      </p:sp>
      <p:sp>
        <p:nvSpPr>
          <p:cNvPr id="780" name="Google Shape;780;p37"/>
          <p:cNvSpPr txBox="1"/>
          <p:nvPr/>
        </p:nvSpPr>
        <p:spPr>
          <a:xfrm>
            <a:off x="1889125" y="2179637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</a:t>
            </a:r>
            <a:endParaRPr/>
          </a:p>
        </p:txBody>
      </p:sp>
      <p:cxnSp>
        <p:nvCxnSpPr>
          <p:cNvPr id="781" name="Google Shape;781;p37"/>
          <p:cNvCxnSpPr/>
          <p:nvPr/>
        </p:nvCxnSpPr>
        <p:spPr>
          <a:xfrm>
            <a:off x="2051050" y="2684462"/>
            <a:ext cx="3079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82" name="Google Shape;782;p37"/>
          <p:cNvSpPr txBox="1"/>
          <p:nvPr/>
        </p:nvSpPr>
        <p:spPr>
          <a:xfrm>
            <a:off x="2195512" y="2668587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83" name="Google Shape;783;p37"/>
          <p:cNvSpPr txBox="1"/>
          <p:nvPr/>
        </p:nvSpPr>
        <p:spPr>
          <a:xfrm>
            <a:off x="466725" y="2466975"/>
            <a:ext cx="20161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  <p:sp>
        <p:nvSpPr>
          <p:cNvPr id="784" name="Google Shape;784;p37"/>
          <p:cNvSpPr txBox="1"/>
          <p:nvPr/>
        </p:nvSpPr>
        <p:spPr>
          <a:xfrm>
            <a:off x="1177925" y="4770437"/>
            <a:ext cx="998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2400" u="none">
                <a:solidFill>
                  <a:srgbClr val="7F7F7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πε</a:t>
            </a:r>
            <a:r>
              <a:rPr b="0" baseline="-25000" i="0" lang="en-US" sz="2400" u="non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</a:t>
            </a:r>
            <a:endParaRPr/>
          </a:p>
        </p:txBody>
      </p:sp>
      <p:sp>
        <p:nvSpPr>
          <p:cNvPr id="785" name="Google Shape;785;p37"/>
          <p:cNvSpPr txBox="1"/>
          <p:nvPr/>
        </p:nvSpPr>
        <p:spPr>
          <a:xfrm>
            <a:off x="1239837" y="4411662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1</a:t>
            </a:r>
            <a:endParaRPr/>
          </a:p>
        </p:txBody>
      </p:sp>
      <p:cxnSp>
        <p:nvCxnSpPr>
          <p:cNvPr id="786" name="Google Shape;786;p37"/>
          <p:cNvCxnSpPr/>
          <p:nvPr/>
        </p:nvCxnSpPr>
        <p:spPr>
          <a:xfrm>
            <a:off x="1457325" y="4843462"/>
            <a:ext cx="5032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87" name="Google Shape;787;p37"/>
          <p:cNvSpPr txBox="1"/>
          <p:nvPr/>
        </p:nvSpPr>
        <p:spPr>
          <a:xfrm>
            <a:off x="1816100" y="4770437"/>
            <a:ext cx="709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endParaRPr/>
          </a:p>
        </p:txBody>
      </p:sp>
      <p:sp>
        <p:nvSpPr>
          <p:cNvPr id="788" name="Google Shape;788;p37"/>
          <p:cNvSpPr txBox="1"/>
          <p:nvPr/>
        </p:nvSpPr>
        <p:spPr>
          <a:xfrm>
            <a:off x="1816100" y="4411662"/>
            <a:ext cx="10271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00"/>
              <a:buFont typeface="Comic Sans MS"/>
              <a:buNone/>
            </a:pPr>
            <a:r>
              <a:rPr b="0" i="0" lang="en-US" sz="26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q’</a:t>
            </a:r>
            <a:endParaRPr/>
          </a:p>
        </p:txBody>
      </p:sp>
      <p:cxnSp>
        <p:nvCxnSpPr>
          <p:cNvPr id="789" name="Google Shape;789;p37"/>
          <p:cNvCxnSpPr/>
          <p:nvPr/>
        </p:nvCxnSpPr>
        <p:spPr>
          <a:xfrm>
            <a:off x="2032000" y="4843462"/>
            <a:ext cx="3079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90" name="Google Shape;790;p37"/>
          <p:cNvSpPr txBox="1"/>
          <p:nvPr/>
        </p:nvSpPr>
        <p:spPr>
          <a:xfrm>
            <a:off x="2176462" y="4827587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91" name="Google Shape;791;p37"/>
          <p:cNvSpPr txBox="1"/>
          <p:nvPr/>
        </p:nvSpPr>
        <p:spPr>
          <a:xfrm>
            <a:off x="447675" y="4625975"/>
            <a:ext cx="2541587" cy="72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mic Sans MS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b="0" baseline="-25000" i="0" lang="en-US" sz="2400" u="none" cap="none" strike="noStrike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</a:t>
            </a:r>
            <a:r>
              <a:rPr b="0" i="0" lang="en-US" sz="2300" u="none" cap="none" strike="noStrike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8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Campo eléctrico próximo a un plano infinito de carga.</a:t>
            </a:r>
            <a:endParaRPr/>
          </a:p>
        </p:txBody>
      </p:sp>
      <p:pic>
        <p:nvPicPr>
          <p:cNvPr descr="E:\ART\CH21-25\F23-18.JPG" id="797" name="Google Shape;79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0" y="1917700"/>
            <a:ext cx="7366000" cy="43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8"/>
          <p:cNvSpPr txBox="1"/>
          <p:nvPr/>
        </p:nvSpPr>
        <p:spPr>
          <a:xfrm>
            <a:off x="4400550" y="3114675"/>
            <a:ext cx="3397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99" name="Google Shape;799;p38"/>
          <p:cNvSpPr txBox="1"/>
          <p:nvPr/>
        </p:nvSpPr>
        <p:spPr>
          <a:xfrm>
            <a:off x="5148262" y="4914900"/>
            <a:ext cx="3381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00" name="Google Shape;800;p38"/>
          <p:cNvSpPr txBox="1"/>
          <p:nvPr/>
        </p:nvSpPr>
        <p:spPr>
          <a:xfrm>
            <a:off x="5867400" y="3871912"/>
            <a:ext cx="3397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9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Campo eléctrico debido a una corteza esférica uniformemente cargada.</a:t>
            </a:r>
            <a:endParaRPr/>
          </a:p>
        </p:txBody>
      </p:sp>
      <p:pic>
        <p:nvPicPr>
          <p:cNvPr descr="E:\ART\CH21-25\F23-20.JPG" id="806" name="Google Shape;8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337" y="2149475"/>
            <a:ext cx="3751262" cy="3852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ART\CH21-25\F23-21a.JPG" id="807" name="Google Shape;80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9012" y="2112962"/>
            <a:ext cx="3846512" cy="396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0"/>
          <p:cNvSpPr txBox="1"/>
          <p:nvPr>
            <p:ph type="title"/>
          </p:nvPr>
        </p:nvSpPr>
        <p:spPr>
          <a:xfrm>
            <a:off x="685800" y="620712"/>
            <a:ext cx="7769225" cy="1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Campo eléctrico debido a una esfera uniformemente cargada.</a:t>
            </a:r>
            <a:endParaRPr/>
          </a:p>
        </p:txBody>
      </p:sp>
      <p:pic>
        <p:nvPicPr>
          <p:cNvPr descr="E:\ART\CH21-25\F23-23a.JPG" id="813" name="Google Shape;8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87" y="2243137"/>
            <a:ext cx="3462337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ART\CH21-25\F23-24.JPG" id="814" name="Google Shape;81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912" y="2284412"/>
            <a:ext cx="4721225" cy="3856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1"/>
          <p:cNvSpPr txBox="1"/>
          <p:nvPr/>
        </p:nvSpPr>
        <p:spPr>
          <a:xfrm>
            <a:off x="250825" y="1119187"/>
            <a:ext cx="7964487" cy="1200150"/>
          </a:xfrm>
          <a:prstGeom prst="rect">
            <a:avLst/>
          </a:prstGeom>
          <a:gradFill>
            <a:gsLst>
              <a:gs pos="0">
                <a:srgbClr val="8AF3C7"/>
              </a:gs>
              <a:gs pos="50000">
                <a:srgbClr val="B9F5DB"/>
              </a:gs>
              <a:gs pos="100000">
                <a:srgbClr val="DDFAED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todos los conductores cargados estáticamente, la carga eléctrica se distribuye automáticamente de forma que la intensidad del campo es nula en el interior del conductor</a:t>
            </a:r>
            <a:endParaRPr/>
          </a:p>
        </p:txBody>
      </p:sp>
      <p:sp>
        <p:nvSpPr>
          <p:cNvPr id="820" name="Google Shape;820;p41"/>
          <p:cNvSpPr txBox="1"/>
          <p:nvPr/>
        </p:nvSpPr>
        <p:spPr>
          <a:xfrm>
            <a:off x="1984375" y="2411412"/>
            <a:ext cx="46942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Intensidad del campo en el exterior</a:t>
            </a:r>
            <a:endParaRPr/>
          </a:p>
        </p:txBody>
      </p:sp>
      <p:pic>
        <p:nvPicPr>
          <p:cNvPr id="821" name="Google Shape;82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3654425"/>
            <a:ext cx="2813050" cy="69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7275" y="2965450"/>
            <a:ext cx="4341812" cy="37623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823" name="Google Shape;823;p41"/>
          <p:cNvSpPr txBox="1"/>
          <p:nvPr/>
        </p:nvSpPr>
        <p:spPr>
          <a:xfrm>
            <a:off x="1273175" y="334962"/>
            <a:ext cx="65262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Campo eléctrico de una distribución esférica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2"/>
          <p:cNvSpPr txBox="1"/>
          <p:nvPr>
            <p:ph type="title"/>
          </p:nvPr>
        </p:nvSpPr>
        <p:spPr>
          <a:xfrm>
            <a:off x="0" y="4191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conductor aislado cargado</a:t>
            </a:r>
            <a:endParaRPr/>
          </a:p>
        </p:txBody>
      </p:sp>
      <p:pic>
        <p:nvPicPr>
          <p:cNvPr id="829" name="Google Shape;82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316037"/>
            <a:ext cx="2582862" cy="5580062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42"/>
          <p:cNvSpPr txBox="1"/>
          <p:nvPr/>
        </p:nvSpPr>
        <p:spPr>
          <a:xfrm>
            <a:off x="298450" y="1990725"/>
            <a:ext cx="5651500" cy="5078412"/>
          </a:xfrm>
          <a:prstGeom prst="rect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un exceso de cargas es colocado en un conductor aislado, esa cantidad de carga se moverá completamente a la superficie del conductor. Nada del exceso de carga se encontrara dentro del cuerpo del conductor.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3"/>
          <p:cNvSpPr txBox="1"/>
          <p:nvPr/>
        </p:nvSpPr>
        <p:spPr>
          <a:xfrm>
            <a:off x="0" y="1819275"/>
            <a:ext cx="8893175" cy="5229225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6" name="Google Shape;836;p43"/>
          <p:cNvSpPr txBox="1"/>
          <p:nvPr>
            <p:ph type="title"/>
          </p:nvPr>
        </p:nvSpPr>
        <p:spPr>
          <a:xfrm>
            <a:off x="762000" y="571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0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Cargas en cavidades</a:t>
            </a:r>
            <a:br>
              <a:rPr b="0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(Cargas inducidas)</a:t>
            </a:r>
            <a:endParaRPr/>
          </a:p>
        </p:txBody>
      </p:sp>
      <p:pic>
        <p:nvPicPr>
          <p:cNvPr id="837" name="Google Shape;8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466975"/>
            <a:ext cx="5562600" cy="35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4"/>
          <p:cNvSpPr txBox="1"/>
          <p:nvPr/>
        </p:nvSpPr>
        <p:spPr>
          <a:xfrm>
            <a:off x="0" y="1014412"/>
            <a:ext cx="8893175" cy="6034087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44"/>
          <p:cNvSpPr txBox="1"/>
          <p:nvPr/>
        </p:nvSpPr>
        <p:spPr>
          <a:xfrm>
            <a:off x="609600" y="190500"/>
            <a:ext cx="8001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0" i="0" lang="en-US" sz="4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Conductors shield charges</a:t>
            </a:r>
            <a:endParaRPr/>
          </a:p>
        </p:txBody>
      </p:sp>
      <p:sp>
        <p:nvSpPr>
          <p:cNvPr id="844" name="Google Shape;844;p44"/>
          <p:cNvSpPr/>
          <p:nvPr/>
        </p:nvSpPr>
        <p:spPr>
          <a:xfrm>
            <a:off x="1219200" y="1028700"/>
            <a:ext cx="3657600" cy="3505200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44"/>
          <p:cNvSpPr txBox="1"/>
          <p:nvPr/>
        </p:nvSpPr>
        <p:spPr>
          <a:xfrm>
            <a:off x="4495800" y="12573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net charge</a:t>
            </a:r>
            <a:endParaRPr/>
          </a:p>
        </p:txBody>
      </p:sp>
      <p:cxnSp>
        <p:nvCxnSpPr>
          <p:cNvPr id="846" name="Google Shape;846;p44"/>
          <p:cNvCxnSpPr/>
          <p:nvPr/>
        </p:nvCxnSpPr>
        <p:spPr>
          <a:xfrm flipH="1">
            <a:off x="4572000" y="1638300"/>
            <a:ext cx="304800" cy="22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47" name="Google Shape;847;p44"/>
          <p:cNvSpPr/>
          <p:nvPr/>
        </p:nvSpPr>
        <p:spPr>
          <a:xfrm>
            <a:off x="1965325" y="1674812"/>
            <a:ext cx="2695575" cy="1827212"/>
          </a:xfrm>
          <a:custGeom>
            <a:rect b="b" l="l" r="r" t="t"/>
            <a:pathLst>
              <a:path extrusionOk="0" h="1151" w="1698">
                <a:moveTo>
                  <a:pt x="394" y="1129"/>
                </a:moveTo>
                <a:cubicBezTo>
                  <a:pt x="346" y="1129"/>
                  <a:pt x="346" y="1137"/>
                  <a:pt x="298" y="1081"/>
                </a:cubicBezTo>
                <a:cubicBezTo>
                  <a:pt x="250" y="1025"/>
                  <a:pt x="135" y="926"/>
                  <a:pt x="106" y="793"/>
                </a:cubicBezTo>
                <a:cubicBezTo>
                  <a:pt x="77" y="660"/>
                  <a:pt x="0" y="403"/>
                  <a:pt x="124" y="279"/>
                </a:cubicBezTo>
                <a:cubicBezTo>
                  <a:pt x="248" y="155"/>
                  <a:pt x="627" y="0"/>
                  <a:pt x="848" y="46"/>
                </a:cubicBezTo>
                <a:cubicBezTo>
                  <a:pt x="1069" y="92"/>
                  <a:pt x="1318" y="405"/>
                  <a:pt x="1450" y="553"/>
                </a:cubicBezTo>
                <a:cubicBezTo>
                  <a:pt x="1582" y="701"/>
                  <a:pt x="1698" y="873"/>
                  <a:pt x="1642" y="937"/>
                </a:cubicBezTo>
                <a:cubicBezTo>
                  <a:pt x="1586" y="1001"/>
                  <a:pt x="1268" y="975"/>
                  <a:pt x="1114" y="937"/>
                </a:cubicBezTo>
                <a:cubicBezTo>
                  <a:pt x="960" y="899"/>
                  <a:pt x="804" y="683"/>
                  <a:pt x="716" y="707"/>
                </a:cubicBezTo>
                <a:cubicBezTo>
                  <a:pt x="628" y="731"/>
                  <a:pt x="640" y="1011"/>
                  <a:pt x="586" y="1081"/>
                </a:cubicBezTo>
                <a:cubicBezTo>
                  <a:pt x="532" y="1151"/>
                  <a:pt x="442" y="1129"/>
                  <a:pt x="394" y="1129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44"/>
          <p:cNvSpPr/>
          <p:nvPr/>
        </p:nvSpPr>
        <p:spPr>
          <a:xfrm>
            <a:off x="2819400" y="21717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44"/>
          <p:cNvSpPr txBox="1"/>
          <p:nvPr/>
        </p:nvSpPr>
        <p:spPr>
          <a:xfrm>
            <a:off x="2209800" y="23241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</a:t>
            </a:r>
            <a:r>
              <a:rPr b="0" i="1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/>
          </a:p>
        </p:txBody>
      </p:sp>
      <p:sp>
        <p:nvSpPr>
          <p:cNvPr id="850" name="Google Shape;850;p44"/>
          <p:cNvSpPr txBox="1"/>
          <p:nvPr/>
        </p:nvSpPr>
        <p:spPr>
          <a:xfrm>
            <a:off x="5105400" y="2095500"/>
            <a:ext cx="3886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CCFF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99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electric field outside the spherical conductor?</a:t>
            </a:r>
            <a:endParaRPr/>
          </a:p>
        </p:txBody>
      </p:sp>
      <p:grpSp>
        <p:nvGrpSpPr>
          <p:cNvPr id="851" name="Google Shape;851;p44"/>
          <p:cNvGrpSpPr/>
          <p:nvPr/>
        </p:nvGrpSpPr>
        <p:grpSpPr>
          <a:xfrm>
            <a:off x="1371600" y="1104900"/>
            <a:ext cx="7467600" cy="3638550"/>
            <a:chOff x="864" y="576"/>
            <a:chExt cx="4704" cy="2292"/>
          </a:xfrm>
        </p:grpSpPr>
        <p:sp>
          <p:nvSpPr>
            <p:cNvPr id="852" name="Google Shape;852;p44"/>
            <p:cNvSpPr txBox="1"/>
            <p:nvPr/>
          </p:nvSpPr>
          <p:spPr>
            <a:xfrm>
              <a:off x="2880" y="2112"/>
              <a:ext cx="2688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524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Times New Roman"/>
                <a:buChar char="•"/>
              </a:pPr>
              <a:r>
                <a:rPr b="0" i="0" lang="en-US" sz="24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Draw a Gaussian surface</a:t>
              </a:r>
              <a:endParaRPr/>
            </a:p>
            <a:p>
              <a:pPr indent="-1524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Times New Roman"/>
                <a:buChar char="•"/>
              </a:pPr>
              <a:r>
                <a:rPr b="0" i="0" lang="en-US" sz="24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electric field – no charge</a:t>
              </a:r>
              <a:endParaRPr/>
            </a:p>
            <a:p>
              <a:pPr indent="-1524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Times New Roman"/>
                <a:buChar char="•"/>
              </a:pPr>
              <a:r>
                <a:rPr b="0" i="0" lang="en-US" sz="2400" u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Inner charge is hidden – except</a:t>
              </a: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864" y="576"/>
              <a:ext cx="2112" cy="2064"/>
            </a:xfrm>
            <a:prstGeom prst="ellipse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54" name="Google Shape;854;p44"/>
          <p:cNvGrpSpPr/>
          <p:nvPr/>
        </p:nvGrpSpPr>
        <p:grpSpPr>
          <a:xfrm>
            <a:off x="304800" y="1790700"/>
            <a:ext cx="3124200" cy="3352800"/>
            <a:chOff x="192" y="1008"/>
            <a:chExt cx="1968" cy="2112"/>
          </a:xfrm>
        </p:grpSpPr>
        <p:sp>
          <p:nvSpPr>
            <p:cNvPr id="855" name="Google Shape;855;p44"/>
            <p:cNvSpPr txBox="1"/>
            <p:nvPr/>
          </p:nvSpPr>
          <p:spPr>
            <a:xfrm>
              <a:off x="192" y="2832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Charge -</a:t>
              </a:r>
              <a:r>
                <a:rPr b="0" i="1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endParaRPr/>
            </a:p>
          </p:txBody>
        </p:sp>
        <p:cxnSp>
          <p:nvCxnSpPr>
            <p:cNvPr id="856" name="Google Shape;856;p44"/>
            <p:cNvCxnSpPr/>
            <p:nvPr/>
          </p:nvCxnSpPr>
          <p:spPr>
            <a:xfrm flipH="1" rot="10800000">
              <a:off x="1056" y="2064"/>
              <a:ext cx="720" cy="81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57" name="Google Shape;857;p44"/>
            <p:cNvCxnSpPr/>
            <p:nvPr/>
          </p:nvCxnSpPr>
          <p:spPr>
            <a:xfrm flipH="1" rot="10800000">
              <a:off x="864" y="1392"/>
              <a:ext cx="432" cy="14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58" name="Google Shape;858;p44"/>
            <p:cNvCxnSpPr/>
            <p:nvPr/>
          </p:nvCxnSpPr>
          <p:spPr>
            <a:xfrm flipH="1" rot="10800000">
              <a:off x="960" y="1008"/>
              <a:ext cx="1200" cy="1824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sp>
        <p:nvSpPr>
          <p:cNvPr id="859" name="Google Shape;859;p44"/>
          <p:cNvSpPr txBox="1"/>
          <p:nvPr/>
        </p:nvSpPr>
        <p:spPr>
          <a:xfrm>
            <a:off x="4648200" y="4762500"/>
            <a:ext cx="4267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+</a:t>
            </a:r>
            <a:r>
              <a:rPr b="0" i="1" lang="en-US" sz="24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24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outside to compensate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distributed uniformly</a:t>
            </a:r>
            <a:endParaRPr/>
          </a:p>
        </p:txBody>
      </p:sp>
      <p:grpSp>
        <p:nvGrpSpPr>
          <p:cNvPr id="860" name="Google Shape;860;p44"/>
          <p:cNvGrpSpPr/>
          <p:nvPr/>
        </p:nvGrpSpPr>
        <p:grpSpPr>
          <a:xfrm>
            <a:off x="914400" y="2171700"/>
            <a:ext cx="3810000" cy="3810000"/>
            <a:chOff x="576" y="1248"/>
            <a:chExt cx="2400" cy="2400"/>
          </a:xfrm>
        </p:grpSpPr>
        <p:sp>
          <p:nvSpPr>
            <p:cNvPr id="861" name="Google Shape;861;p44"/>
            <p:cNvSpPr txBox="1"/>
            <p:nvPr/>
          </p:nvSpPr>
          <p:spPr>
            <a:xfrm>
              <a:off x="576" y="3360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Charge +</a:t>
              </a:r>
              <a:r>
                <a:rPr b="0" i="1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endParaRPr/>
            </a:p>
          </p:txBody>
        </p:sp>
        <p:cxnSp>
          <p:nvCxnSpPr>
            <p:cNvPr id="862" name="Google Shape;862;p44"/>
            <p:cNvCxnSpPr/>
            <p:nvPr/>
          </p:nvCxnSpPr>
          <p:spPr>
            <a:xfrm flipH="1" rot="10800000">
              <a:off x="1440" y="2592"/>
              <a:ext cx="1056" cy="81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63" name="Google Shape;863;p44"/>
            <p:cNvCxnSpPr/>
            <p:nvPr/>
          </p:nvCxnSpPr>
          <p:spPr>
            <a:xfrm rot="10800000">
              <a:off x="768" y="1440"/>
              <a:ext cx="480" cy="192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864" name="Google Shape;864;p44"/>
            <p:cNvCxnSpPr/>
            <p:nvPr/>
          </p:nvCxnSpPr>
          <p:spPr>
            <a:xfrm flipH="1" rot="10800000">
              <a:off x="1344" y="1248"/>
              <a:ext cx="1632" cy="211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pic>
        <p:nvPicPr>
          <p:cNvPr id="865" name="Google Shape;86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5676900"/>
            <a:ext cx="2090737" cy="12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/>
          <p:nvPr>
            <p:ph idx="1" type="body"/>
          </p:nvPr>
        </p:nvSpPr>
        <p:spPr>
          <a:xfrm>
            <a:off x="179387" y="450850"/>
            <a:ext cx="5832475" cy="152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DIFERENCIA DE POTENCIAL ENTRE DOS LAMINAS PARALELAS CON CARGA OPUESTA</a:t>
            </a:r>
            <a:endParaRPr/>
          </a:p>
        </p:txBody>
      </p:sp>
      <p:pic>
        <p:nvPicPr>
          <p:cNvPr id="871" name="Google Shape;8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6687" y="190500"/>
            <a:ext cx="2232025" cy="2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12" y="1747837"/>
            <a:ext cx="167640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5"/>
          <p:cNvSpPr txBox="1"/>
          <p:nvPr/>
        </p:nvSpPr>
        <p:spPr>
          <a:xfrm>
            <a:off x="2916237" y="3690937"/>
            <a:ext cx="5832475" cy="2620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 el espacio que separa las placas se forma un campo eléctrico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uniforme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dirigido desde la placa positiva hacia la placa negativa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6"/>
          <p:cNvSpPr txBox="1"/>
          <p:nvPr>
            <p:ph idx="1" type="body"/>
          </p:nvPr>
        </p:nvSpPr>
        <p:spPr>
          <a:xfrm>
            <a:off x="457200" y="450850"/>
            <a:ext cx="8229600" cy="586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Calculo de la diferencia de potencial eléctrico en un campo eléctrico uniforme</a:t>
            </a:r>
            <a:endParaRPr b="0" i="0" sz="24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873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79" name="Google Shape;87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316037"/>
            <a:ext cx="1866900" cy="45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9337" y="1139825"/>
            <a:ext cx="2409825" cy="305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0512" y="4521200"/>
            <a:ext cx="57531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46"/>
          <p:cNvSpPr/>
          <p:nvPr/>
        </p:nvSpPr>
        <p:spPr>
          <a:xfrm>
            <a:off x="5707062" y="4232275"/>
            <a:ext cx="715962" cy="503237"/>
          </a:xfrm>
          <a:prstGeom prst="downArrow">
            <a:avLst>
              <a:gd fmla="val 10800" name="adj1"/>
              <a:gd fmla="val 50000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7"/>
          <p:cNvSpPr txBox="1"/>
          <p:nvPr>
            <p:ph idx="1" type="body"/>
          </p:nvPr>
        </p:nvSpPr>
        <p:spPr>
          <a:xfrm>
            <a:off x="457200" y="306387"/>
            <a:ext cx="8229600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OBSERVACIONES</a:t>
            </a:r>
            <a:endParaRPr/>
          </a:p>
          <a:p>
            <a:pPr indent="-11430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 la expresión anterior obtenemos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36525" lvl="0" marL="339725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88" name="Google Shape;88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1476375"/>
            <a:ext cx="1655762" cy="10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7"/>
          <p:cNvSpPr txBox="1"/>
          <p:nvPr/>
        </p:nvSpPr>
        <p:spPr>
          <a:xfrm>
            <a:off x="3132137" y="1314450"/>
            <a:ext cx="3887787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0" name="Google Shape;890;p47"/>
          <p:cNvSpPr txBox="1"/>
          <p:nvPr/>
        </p:nvSpPr>
        <p:spPr>
          <a:xfrm>
            <a:off x="3108325" y="1443037"/>
            <a:ext cx="5683250" cy="183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Anteriormente se dijo que la unidad de medida para el campo eléctrico era (N/C). Pero esta expresión nos dice que también se puede utilizar  (Volt/metro)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1" name="Google Shape;891;p47"/>
          <p:cNvSpPr txBox="1"/>
          <p:nvPr/>
        </p:nvSpPr>
        <p:spPr>
          <a:xfrm>
            <a:off x="395287" y="3432175"/>
            <a:ext cx="5040312" cy="183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Además como el campo eléctrico es constante, esto implica que la diferencia de potencial y la distancia son directamente proporcionales.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92" name="Google Shape;89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7387" y="3233737"/>
            <a:ext cx="2995612" cy="19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7"/>
          <p:cNvSpPr txBox="1"/>
          <p:nvPr/>
        </p:nvSpPr>
        <p:spPr>
          <a:xfrm>
            <a:off x="379412" y="5780087"/>
            <a:ext cx="8229600" cy="93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Manteniendo la distancia constante; mientras mayor sea la intensidad del campo eléctrico, mayor será la diferencia de potencial entre las placas 🡪 V=Ed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R. Tramón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