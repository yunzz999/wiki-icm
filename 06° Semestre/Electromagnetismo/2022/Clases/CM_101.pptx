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9144000"/>
  <p:embeddedFontLst>
    <p:embeddedFont>
      <p:font typeface="Arial Narrow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6" roundtripDataSignature="AMtx7mj3/gpGdYk7CIoVaeppgl0sOcLf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ArialNarrow-bold.fntdata"/><Relationship Id="rId10" Type="http://schemas.openxmlformats.org/officeDocument/2006/relationships/slide" Target="slides/slide6.xml"/><Relationship Id="rId32" Type="http://schemas.openxmlformats.org/officeDocument/2006/relationships/font" Target="fonts/ArialNarrow-regular.fntdata"/><Relationship Id="rId13" Type="http://schemas.openxmlformats.org/officeDocument/2006/relationships/slide" Target="slides/slide9.xml"/><Relationship Id="rId35" Type="http://schemas.openxmlformats.org/officeDocument/2006/relationships/font" Target="fonts/ArialNarrow-boldItalic.fntdata"/><Relationship Id="rId12" Type="http://schemas.openxmlformats.org/officeDocument/2006/relationships/slide" Target="slides/slide8.xml"/><Relationship Id="rId34" Type="http://schemas.openxmlformats.org/officeDocument/2006/relationships/font" Target="fonts/ArialNarrow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/>
        </p:nvSpPr>
        <p:spPr>
          <a:xfrm>
            <a:off x="3833813" y="9409113"/>
            <a:ext cx="2933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95250" y="749300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/>
        </p:nvSpPr>
        <p:spPr>
          <a:xfrm>
            <a:off x="3833813" y="9409113"/>
            <a:ext cx="2933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917575" y="749300"/>
            <a:ext cx="493395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7:notes"/>
          <p:cNvSpPr/>
          <p:nvPr>
            <p:ph idx="2" type="sldImg"/>
          </p:nvPr>
        </p:nvSpPr>
        <p:spPr>
          <a:xfrm>
            <a:off x="95250" y="749300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8:notes"/>
          <p:cNvSpPr/>
          <p:nvPr>
            <p:ph idx="2" type="sldImg"/>
          </p:nvPr>
        </p:nvSpPr>
        <p:spPr>
          <a:xfrm>
            <a:off x="917575" y="749300"/>
            <a:ext cx="493395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9:notes"/>
          <p:cNvSpPr/>
          <p:nvPr>
            <p:ph idx="2" type="sldImg"/>
          </p:nvPr>
        </p:nvSpPr>
        <p:spPr>
          <a:xfrm>
            <a:off x="95250" y="749300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13:notes"/>
          <p:cNvSpPr/>
          <p:nvPr>
            <p:ph idx="2" type="sldImg"/>
          </p:nvPr>
        </p:nvSpPr>
        <p:spPr>
          <a:xfrm>
            <a:off x="95250" y="749300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14:notes"/>
          <p:cNvSpPr/>
          <p:nvPr>
            <p:ph idx="2" type="sldImg"/>
          </p:nvPr>
        </p:nvSpPr>
        <p:spPr>
          <a:xfrm>
            <a:off x="95250" y="749300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p15:notes"/>
          <p:cNvSpPr/>
          <p:nvPr>
            <p:ph idx="2" type="sldImg"/>
          </p:nvPr>
        </p:nvSpPr>
        <p:spPr>
          <a:xfrm>
            <a:off x="95250" y="749300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1" name="Google Shape;46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image" Target="../media/image21.png"/><Relationship Id="rId6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22.jpg"/><Relationship Id="rId5" Type="http://schemas.openxmlformats.org/officeDocument/2006/relationships/image" Target="../media/image37.png"/><Relationship Id="rId6" Type="http://schemas.openxmlformats.org/officeDocument/2006/relationships/image" Target="../media/image23.jpg"/><Relationship Id="rId7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5" Type="http://schemas.openxmlformats.org/officeDocument/2006/relationships/image" Target="../media/image26.png"/><Relationship Id="rId6" Type="http://schemas.openxmlformats.org/officeDocument/2006/relationships/image" Target="../media/image28.jpg"/><Relationship Id="rId7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jpg"/><Relationship Id="rId4" Type="http://schemas.openxmlformats.org/officeDocument/2006/relationships/image" Target="../media/image3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png"/><Relationship Id="rId4" Type="http://schemas.openxmlformats.org/officeDocument/2006/relationships/image" Target="../media/image35.png"/><Relationship Id="rId5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2.jpg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image" Target="../media/image4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5.png"/><Relationship Id="rId4" Type="http://schemas.openxmlformats.org/officeDocument/2006/relationships/image" Target="../media/image48.png"/><Relationship Id="rId9" Type="http://schemas.openxmlformats.org/officeDocument/2006/relationships/image" Target="../media/image50.png"/><Relationship Id="rId5" Type="http://schemas.openxmlformats.org/officeDocument/2006/relationships/image" Target="../media/image41.png"/><Relationship Id="rId6" Type="http://schemas.openxmlformats.org/officeDocument/2006/relationships/image" Target="../media/image72.png"/><Relationship Id="rId7" Type="http://schemas.openxmlformats.org/officeDocument/2006/relationships/image" Target="../media/image51.png"/><Relationship Id="rId8" Type="http://schemas.openxmlformats.org/officeDocument/2006/relationships/image" Target="../media/image4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7.png"/><Relationship Id="rId4" Type="http://schemas.openxmlformats.org/officeDocument/2006/relationships/image" Target="../media/image52.png"/><Relationship Id="rId10" Type="http://schemas.openxmlformats.org/officeDocument/2006/relationships/image" Target="../media/image53.png"/><Relationship Id="rId9" Type="http://schemas.openxmlformats.org/officeDocument/2006/relationships/image" Target="../media/image56.png"/><Relationship Id="rId5" Type="http://schemas.openxmlformats.org/officeDocument/2006/relationships/image" Target="../media/image54.png"/><Relationship Id="rId6" Type="http://schemas.openxmlformats.org/officeDocument/2006/relationships/image" Target="../media/image57.png"/><Relationship Id="rId7" Type="http://schemas.openxmlformats.org/officeDocument/2006/relationships/image" Target="../media/image62.png"/><Relationship Id="rId8" Type="http://schemas.openxmlformats.org/officeDocument/2006/relationships/image" Target="../media/image5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Relationship Id="rId4" Type="http://schemas.openxmlformats.org/officeDocument/2006/relationships/image" Target="../media/image66.png"/><Relationship Id="rId9" Type="http://schemas.openxmlformats.org/officeDocument/2006/relationships/image" Target="../media/image75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5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Relationship Id="rId4" Type="http://schemas.openxmlformats.org/officeDocument/2006/relationships/image" Target="../media/image67.png"/><Relationship Id="rId5" Type="http://schemas.openxmlformats.org/officeDocument/2006/relationships/image" Target="../media/image65.jpg"/><Relationship Id="rId6" Type="http://schemas.openxmlformats.org/officeDocument/2006/relationships/image" Target="../media/image64.png"/><Relationship Id="rId7" Type="http://schemas.openxmlformats.org/officeDocument/2006/relationships/image" Target="../media/image69.png"/><Relationship Id="rId8" Type="http://schemas.openxmlformats.org/officeDocument/2006/relationships/image" Target="../media/image6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3.png"/><Relationship Id="rId4" Type="http://schemas.openxmlformats.org/officeDocument/2006/relationships/image" Target="../media/image76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68.png"/><Relationship Id="rId8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2209800" y="609601"/>
            <a:ext cx="7772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Magnetic Fields</a:t>
            </a:r>
            <a:r>
              <a:rPr lang="en-US"/>
              <a:t> 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9" name="Google Shape;89;p1"/>
          <p:cNvSpPr txBox="1"/>
          <p:nvPr>
            <p:ph idx="1" type="body"/>
          </p:nvPr>
        </p:nvSpPr>
        <p:spPr>
          <a:xfrm>
            <a:off x="1981200" y="4876800"/>
            <a:ext cx="81534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None/>
            </a:pPr>
            <a:r>
              <a:rPr b="1" lang="en-US" sz="2400">
                <a:latin typeface="Comic Sans MS"/>
                <a:ea typeface="Comic Sans MS"/>
                <a:cs typeface="Comic Sans MS"/>
                <a:sym typeface="Comic Sans MS"/>
              </a:rPr>
              <a:t>Permanent magnets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>
                <a:latin typeface="Comic Sans MS"/>
                <a:ea typeface="Comic Sans MS"/>
                <a:cs typeface="Comic Sans MS"/>
                <a:sym typeface="Comic Sans MS"/>
              </a:rPr>
              <a:t>A magnet has two poles, a </a:t>
            </a:r>
            <a:r>
              <a:rPr b="1" lang="en-US" sz="2000">
                <a:solidFill>
                  <a:srgbClr val="FF33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north pole</a:t>
            </a:r>
            <a:r>
              <a:rPr b="1" lang="en-US" sz="2000">
                <a:latin typeface="Comic Sans MS"/>
                <a:ea typeface="Comic Sans MS"/>
                <a:cs typeface="Comic Sans MS"/>
                <a:sym typeface="Comic Sans MS"/>
              </a:rPr>
              <a:t> and a </a:t>
            </a:r>
            <a:r>
              <a:rPr b="1" lang="en-US" sz="2000">
                <a:solidFill>
                  <a:srgbClr val="FF33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south pole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•"/>
            </a:pPr>
            <a:r>
              <a:rPr b="1" i="1" lang="en-US" sz="20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No Magnetic monopole available in nature.</a:t>
            </a:r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600200"/>
            <a:ext cx="228600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earth behaves magnetically almost as if a bar magnet were located near its center. The axis of this fictitious bar magnet does not coincide with the earths rotational axis; the two axes are currently about 11.5 apart."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1" y="1676400"/>
            <a:ext cx="267017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w0350-n" id="92" name="Google Shape;9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77200" y="2235201"/>
            <a:ext cx="2438400" cy="14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1" lang="en-US" sz="3200">
                <a:latin typeface="Comic Sans MS"/>
                <a:ea typeface="Comic Sans MS"/>
                <a:cs typeface="Comic Sans MS"/>
                <a:sym typeface="Comic Sans MS"/>
              </a:rPr>
              <a:t>The magnetic forces</a:t>
            </a:r>
            <a:r>
              <a:rPr lang="en-US"/>
              <a:t> </a:t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2713038" y="5029200"/>
            <a:ext cx="71247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1" lang="en-US"/>
              <a:t>  </a:t>
            </a:r>
            <a:r>
              <a:rPr b="1" i="1" lang="en-US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Like poles repel each other, and unlike poles attract.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i="1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1871664"/>
            <a:ext cx="3581400" cy="2166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1905000"/>
            <a:ext cx="3708400" cy="21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1981200" y="274638"/>
            <a:ext cx="83058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mic Sans MS"/>
              <a:buNone/>
            </a:pPr>
            <a:r>
              <a:rPr b="1" lang="en-US" sz="3600">
                <a:latin typeface="Comic Sans MS"/>
                <a:ea typeface="Comic Sans MS"/>
                <a:cs typeface="Comic Sans MS"/>
                <a:sym typeface="Comic Sans MS"/>
              </a:rPr>
              <a:t>The </a:t>
            </a:r>
            <a:r>
              <a:rPr lang="en-US" sz="3600">
                <a:latin typeface="Comic Sans MS"/>
                <a:ea typeface="Comic Sans MS"/>
                <a:cs typeface="Comic Sans MS"/>
                <a:sym typeface="Comic Sans MS"/>
              </a:rPr>
              <a:t>magnetic field</a:t>
            </a:r>
            <a:r>
              <a:rPr lang="en-US"/>
              <a:t> 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2057400" y="4038600"/>
            <a:ext cx="83058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A </a:t>
            </a:r>
            <a:r>
              <a:rPr b="1" lang="en-US" sz="2400">
                <a:latin typeface="Comic Sans MS"/>
                <a:ea typeface="Comic Sans MS"/>
                <a:cs typeface="Comic Sans MS"/>
                <a:sym typeface="Comic Sans MS"/>
              </a:rPr>
              <a:t>magnetic field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 exists in the region around a magnet. The magnetic field is a vector that has both magnitude and direction.</a:t>
            </a:r>
            <a:endParaRPr b="1" i="1" sz="24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•"/>
            </a:pPr>
            <a:r>
              <a:rPr b="1" i="1" lang="en-US" sz="2400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direction of the magnetic field at any point in space is the direction indicated by the north pole of a small compass needle placed at that point.</a:t>
            </a:r>
            <a:endParaRPr/>
          </a:p>
        </p:txBody>
      </p:sp>
      <p:pic>
        <p:nvPicPr>
          <p:cNvPr descr="At any location in the vicinity of a magnet, the north pole (the arrowhead in this drawing) of a small compass needle points in the direction of the magnetic field at that location.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2600" y="1066800"/>
            <a:ext cx="439420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2209800" y="609601"/>
            <a:ext cx="7772400" cy="792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mic Sans MS"/>
              <a:buNone/>
            </a:pPr>
            <a:r>
              <a:rPr b="1" lang="en-US" sz="3200">
                <a:latin typeface="Comic Sans MS"/>
                <a:ea typeface="Comic Sans MS"/>
                <a:cs typeface="Comic Sans MS"/>
                <a:sym typeface="Comic Sans MS"/>
              </a:rPr>
              <a:t>Magnetic force on a Charged Particle</a:t>
            </a:r>
            <a:endParaRPr/>
          </a:p>
        </p:txBody>
      </p:sp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1524000" y="1143000"/>
            <a:ext cx="8686800" cy="3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When a charge is placed in a magnetic field, it experiences a magnetic force if </a:t>
            </a:r>
            <a:r>
              <a:rPr lang="en-US" sz="2400">
                <a:solidFill>
                  <a:srgbClr val="FF33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two conditions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 are met: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AutoNum type="arabicPeriod"/>
            </a:pP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The charge must be moving. No magnetic force acts on a stationary charge. 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mic Sans MS"/>
              <a:buAutoNum type="arabicPeriod"/>
            </a:pP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The velocity of the moving charge must have a component that is perpendicular to the direction of the field. </a:t>
            </a:r>
            <a:endParaRPr/>
          </a:p>
        </p:txBody>
      </p:sp>
      <p:pic>
        <p:nvPicPr>
          <p:cNvPr descr="(a) No magnetic force acts on a charge moving with a velocity v that is parallel or antiparallel to a magnetic field B. (b) The charge experiences a maximum force F&#10;&#10;max&#10; when the charge moves perpendicular to the field. (c) If the charge travels at an angle &#10;&#10; with respect to B, only the velocity component perpendicular to B gives rise to a magnetic force F, which is smaller than F&#10;&#10;max&#10;. This component is v sin &#10;&#10;.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00" y="4038600"/>
            <a:ext cx="6743700" cy="257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2565400" y="5473700"/>
            <a:ext cx="2641600" cy="787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812925" y="427039"/>
            <a:ext cx="7447552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Definición y propiedades de un campo magnético</a:t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 flipH="1" rot="10800000">
            <a:off x="2025650" y="2724150"/>
            <a:ext cx="3568700" cy="23495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3800" y="21600"/>
                </a:lnTo>
                <a:lnTo>
                  <a:pt x="17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C0C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146425" y="3754439"/>
            <a:ext cx="537006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+q</a:t>
            </a:r>
            <a:endParaRPr/>
          </a:p>
        </p:txBody>
      </p:sp>
      <p:cxnSp>
        <p:nvCxnSpPr>
          <p:cNvPr id="124" name="Google Shape;124;p5"/>
          <p:cNvCxnSpPr/>
          <p:nvPr/>
        </p:nvCxnSpPr>
        <p:spPr>
          <a:xfrm rot="10800000">
            <a:off x="3771900" y="1803400"/>
            <a:ext cx="0" cy="2057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5" name="Google Shape;125;p5"/>
          <p:cNvSpPr/>
          <p:nvPr/>
        </p:nvSpPr>
        <p:spPr>
          <a:xfrm>
            <a:off x="3603625" y="1239839"/>
            <a:ext cx="373500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126" name="Google Shape;126;p5"/>
          <p:cNvCxnSpPr/>
          <p:nvPr/>
        </p:nvCxnSpPr>
        <p:spPr>
          <a:xfrm flipH="1" rot="10800000">
            <a:off x="3771900" y="3175000"/>
            <a:ext cx="1066800" cy="685800"/>
          </a:xfrm>
          <a:prstGeom prst="straightConnector1">
            <a:avLst/>
          </a:prstGeom>
          <a:noFill/>
          <a:ln cap="flat" cmpd="sng" w="38100">
            <a:solidFill>
              <a:srgbClr val="00008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7" name="Google Shape;127;p5"/>
          <p:cNvSpPr/>
          <p:nvPr/>
        </p:nvSpPr>
        <p:spPr>
          <a:xfrm>
            <a:off x="4365626" y="2687639"/>
            <a:ext cx="391133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cxnSp>
        <p:nvCxnSpPr>
          <p:cNvPr id="128" name="Google Shape;128;p5"/>
          <p:cNvCxnSpPr/>
          <p:nvPr/>
        </p:nvCxnSpPr>
        <p:spPr>
          <a:xfrm>
            <a:off x="3771900" y="3860800"/>
            <a:ext cx="1066800" cy="68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9" name="Google Shape;129;p5"/>
          <p:cNvSpPr/>
          <p:nvPr/>
        </p:nvSpPr>
        <p:spPr>
          <a:xfrm>
            <a:off x="4365626" y="4516439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 b="0" i="0" sz="2400" u="none" cap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30" name="Google Shape;130;p5"/>
          <p:cNvGrpSpPr/>
          <p:nvPr/>
        </p:nvGrpSpPr>
        <p:grpSpPr>
          <a:xfrm>
            <a:off x="3937652" y="3525841"/>
            <a:ext cx="697852" cy="552614"/>
            <a:chOff x="1544" y="2477"/>
            <a:chExt cx="440" cy="348"/>
          </a:xfrm>
        </p:grpSpPr>
        <p:sp>
          <p:nvSpPr>
            <p:cNvPr id="131" name="Google Shape;131;p5"/>
            <p:cNvSpPr/>
            <p:nvPr/>
          </p:nvSpPr>
          <p:spPr>
            <a:xfrm rot="2760000">
              <a:off x="1584" y="2593"/>
              <a:ext cx="193" cy="192"/>
            </a:xfrm>
            <a:custGeom>
              <a:rect b="b" l="l" r="r" t="t"/>
              <a:pathLst>
                <a:path extrusionOk="0" fill="none" h="21600" w="21712">
                  <a:moveTo>
                    <a:pt x="0" y="0"/>
                  </a:moveTo>
                  <a:cubicBezTo>
                    <a:pt x="37" y="0"/>
                    <a:pt x="74" y="-1"/>
                    <a:pt x="112" y="0"/>
                  </a:cubicBezTo>
                  <a:cubicBezTo>
                    <a:pt x="12041" y="0"/>
                    <a:pt x="21712" y="9670"/>
                    <a:pt x="21712" y="21600"/>
                  </a:cubicBezTo>
                </a:path>
                <a:path extrusionOk="0" h="21600" w="21712">
                  <a:moveTo>
                    <a:pt x="0" y="0"/>
                  </a:moveTo>
                  <a:cubicBezTo>
                    <a:pt x="37" y="0"/>
                    <a:pt x="74" y="-1"/>
                    <a:pt x="112" y="0"/>
                  </a:cubicBezTo>
                  <a:cubicBezTo>
                    <a:pt x="12041" y="0"/>
                    <a:pt x="21712" y="9670"/>
                    <a:pt x="21712" y="21600"/>
                  </a:cubicBezTo>
                  <a:lnTo>
                    <a:pt x="112" y="21600"/>
                  </a:lnTo>
                  <a:close/>
                </a:path>
              </a:pathLst>
            </a:custGeom>
            <a:noFill/>
            <a:ln cap="rnd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1766" y="2477"/>
              <a:ext cx="21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θ</a:t>
              </a:r>
              <a:endParaRPr/>
            </a:p>
          </p:txBody>
        </p:sp>
      </p:grpSp>
      <p:sp>
        <p:nvSpPr>
          <p:cNvPr id="133" name="Google Shape;133;p5"/>
          <p:cNvSpPr/>
          <p:nvPr/>
        </p:nvSpPr>
        <p:spPr>
          <a:xfrm rot="1920000">
            <a:off x="6654800" y="1065213"/>
            <a:ext cx="2844800" cy="5187950"/>
          </a:xfrm>
          <a:prstGeom prst="diamond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" name="Google Shape;134;p5"/>
          <p:cNvGrpSpPr/>
          <p:nvPr/>
        </p:nvGrpSpPr>
        <p:grpSpPr>
          <a:xfrm>
            <a:off x="8772525" y="3200400"/>
            <a:ext cx="412750" cy="660400"/>
            <a:chOff x="662" y="1267"/>
            <a:chExt cx="260" cy="416"/>
          </a:xfrm>
        </p:grpSpPr>
        <p:cxnSp>
          <p:nvCxnSpPr>
            <p:cNvPr id="135" name="Google Shape;135;p5"/>
            <p:cNvCxnSpPr/>
            <p:nvPr/>
          </p:nvCxnSpPr>
          <p:spPr>
            <a:xfrm flipH="1" rot="10800000">
              <a:off x="662" y="1267"/>
              <a:ext cx="260" cy="182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36" name="Google Shape;136;p5"/>
            <p:cNvSpPr/>
            <p:nvPr/>
          </p:nvSpPr>
          <p:spPr>
            <a:xfrm>
              <a:off x="672" y="1392"/>
              <a:ext cx="23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</p:grpSp>
      <p:sp>
        <p:nvSpPr>
          <p:cNvPr id="137" name="Google Shape;137;p5"/>
          <p:cNvSpPr/>
          <p:nvPr/>
        </p:nvSpPr>
        <p:spPr>
          <a:xfrm rot="10440000">
            <a:off x="8582025" y="1514476"/>
            <a:ext cx="1314450" cy="1319213"/>
          </a:xfrm>
          <a:custGeom>
            <a:rect b="b" l="l" r="r" t="t"/>
            <a:pathLst>
              <a:path extrusionOk="0" fill="none" h="20508" w="21567">
                <a:moveTo>
                  <a:pt x="21567" y="1186"/>
                </a:moveTo>
                <a:cubicBezTo>
                  <a:pt x="21079" y="10054"/>
                  <a:pt x="15213" y="17719"/>
                  <a:pt x="6780" y="20507"/>
                </a:cubicBezTo>
              </a:path>
              <a:path extrusionOk="0" h="20508" w="21567">
                <a:moveTo>
                  <a:pt x="21567" y="1186"/>
                </a:moveTo>
                <a:cubicBezTo>
                  <a:pt x="21079" y="10054"/>
                  <a:pt x="15213" y="17719"/>
                  <a:pt x="6780" y="20507"/>
                </a:cubicBezTo>
                <a:lnTo>
                  <a:pt x="0" y="0"/>
                </a:lnTo>
                <a:close/>
              </a:path>
            </a:pathLst>
          </a:custGeom>
          <a:noFill/>
          <a:ln cap="rnd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" name="Google Shape;138;p5"/>
          <p:cNvGrpSpPr/>
          <p:nvPr/>
        </p:nvGrpSpPr>
        <p:grpSpPr>
          <a:xfrm>
            <a:off x="6972301" y="4229101"/>
            <a:ext cx="473075" cy="746125"/>
            <a:chOff x="288" y="1597"/>
            <a:chExt cx="298" cy="470"/>
          </a:xfrm>
        </p:grpSpPr>
        <p:cxnSp>
          <p:nvCxnSpPr>
            <p:cNvPr id="139" name="Google Shape;139;p5"/>
            <p:cNvCxnSpPr/>
            <p:nvPr/>
          </p:nvCxnSpPr>
          <p:spPr>
            <a:xfrm flipH="1">
              <a:off x="326" y="1597"/>
              <a:ext cx="260" cy="182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40" name="Google Shape;140;p5"/>
            <p:cNvSpPr/>
            <p:nvPr/>
          </p:nvSpPr>
          <p:spPr>
            <a:xfrm>
              <a:off x="288" y="1776"/>
              <a:ext cx="23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</p:grpSp>
      <p:sp>
        <p:nvSpPr>
          <p:cNvPr id="141" name="Google Shape;141;p5"/>
          <p:cNvSpPr/>
          <p:nvPr/>
        </p:nvSpPr>
        <p:spPr>
          <a:xfrm rot="3900000">
            <a:off x="6812756" y="2890044"/>
            <a:ext cx="827088" cy="609600"/>
          </a:xfrm>
          <a:custGeom>
            <a:rect b="b" l="l" r="r" t="t"/>
            <a:pathLst>
              <a:path extrusionOk="0" fill="none" h="21600" w="21326">
                <a:moveTo>
                  <a:pt x="-1" y="18172"/>
                </a:moveTo>
                <a:cubicBezTo>
                  <a:pt x="1679" y="7716"/>
                  <a:pt x="10694" y="20"/>
                  <a:pt x="21285" y="0"/>
                </a:cubicBezTo>
              </a:path>
              <a:path extrusionOk="0" h="21600" w="21326">
                <a:moveTo>
                  <a:pt x="-1" y="18172"/>
                </a:moveTo>
                <a:cubicBezTo>
                  <a:pt x="1679" y="7716"/>
                  <a:pt x="10694" y="20"/>
                  <a:pt x="21285" y="0"/>
                </a:cubicBezTo>
                <a:lnTo>
                  <a:pt x="21326" y="21600"/>
                </a:lnTo>
                <a:close/>
              </a:path>
            </a:pathLst>
          </a:custGeom>
          <a:noFill/>
          <a:ln cap="rnd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5"/>
          <p:cNvCxnSpPr/>
          <p:nvPr/>
        </p:nvCxnSpPr>
        <p:spPr>
          <a:xfrm>
            <a:off x="6172200" y="2057400"/>
            <a:ext cx="1447800" cy="381000"/>
          </a:xfrm>
          <a:prstGeom prst="straightConnector1">
            <a:avLst/>
          </a:prstGeom>
          <a:noFill/>
          <a:ln cap="flat" cmpd="sng" w="25400">
            <a:solidFill>
              <a:srgbClr val="00008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5"/>
          <p:cNvCxnSpPr/>
          <p:nvPr/>
        </p:nvCxnSpPr>
        <p:spPr>
          <a:xfrm>
            <a:off x="9220200" y="3352800"/>
            <a:ext cx="990600" cy="304800"/>
          </a:xfrm>
          <a:prstGeom prst="straightConnector1">
            <a:avLst/>
          </a:prstGeom>
          <a:noFill/>
          <a:ln cap="flat" cmpd="sng" w="25400">
            <a:solidFill>
              <a:srgbClr val="00008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4" name="Google Shape;144;p5"/>
          <p:cNvCxnSpPr/>
          <p:nvPr/>
        </p:nvCxnSpPr>
        <p:spPr>
          <a:xfrm>
            <a:off x="5638801" y="2362200"/>
            <a:ext cx="1381125" cy="433388"/>
          </a:xfrm>
          <a:prstGeom prst="straightConnector1">
            <a:avLst/>
          </a:prstGeom>
          <a:noFill/>
          <a:ln cap="flat" cmpd="sng" w="25400">
            <a:solidFill>
              <a:srgbClr val="00008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5"/>
          <p:cNvCxnSpPr/>
          <p:nvPr/>
        </p:nvCxnSpPr>
        <p:spPr>
          <a:xfrm>
            <a:off x="8915400" y="3810000"/>
            <a:ext cx="990600" cy="304800"/>
          </a:xfrm>
          <a:prstGeom prst="straightConnector1">
            <a:avLst/>
          </a:prstGeom>
          <a:noFill/>
          <a:ln cap="flat" cmpd="sng" w="25400">
            <a:solidFill>
              <a:srgbClr val="00008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6" name="Google Shape;146;p5"/>
          <p:cNvCxnSpPr/>
          <p:nvPr/>
        </p:nvCxnSpPr>
        <p:spPr>
          <a:xfrm>
            <a:off x="5491163" y="3487738"/>
            <a:ext cx="1338262" cy="374650"/>
          </a:xfrm>
          <a:prstGeom prst="straightConnector1">
            <a:avLst/>
          </a:prstGeom>
          <a:noFill/>
          <a:ln cap="flat" cmpd="sng" w="25400">
            <a:solidFill>
              <a:srgbClr val="00008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5"/>
          <p:cNvCxnSpPr/>
          <p:nvPr/>
        </p:nvCxnSpPr>
        <p:spPr>
          <a:xfrm>
            <a:off x="8229600" y="4343400"/>
            <a:ext cx="990600" cy="304800"/>
          </a:xfrm>
          <a:prstGeom prst="straightConnector1">
            <a:avLst/>
          </a:prstGeom>
          <a:noFill/>
          <a:ln cap="flat" cmpd="sng" w="25400">
            <a:solidFill>
              <a:srgbClr val="00008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8" name="Google Shape;148;p5"/>
          <p:cNvCxnSpPr/>
          <p:nvPr/>
        </p:nvCxnSpPr>
        <p:spPr>
          <a:xfrm>
            <a:off x="5657851" y="4467225"/>
            <a:ext cx="1114425" cy="280988"/>
          </a:xfrm>
          <a:prstGeom prst="straightConnector1">
            <a:avLst/>
          </a:prstGeom>
          <a:noFill/>
          <a:ln cap="flat" cmpd="sng" w="25400">
            <a:solidFill>
              <a:srgbClr val="00008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5"/>
          <p:cNvCxnSpPr/>
          <p:nvPr/>
        </p:nvCxnSpPr>
        <p:spPr>
          <a:xfrm>
            <a:off x="7696200" y="4953000"/>
            <a:ext cx="990600" cy="304800"/>
          </a:xfrm>
          <a:prstGeom prst="straightConnector1">
            <a:avLst/>
          </a:prstGeom>
          <a:noFill/>
          <a:ln cap="flat" cmpd="sng" w="25400">
            <a:solidFill>
              <a:srgbClr val="00008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0" name="Google Shape;150;p5"/>
          <p:cNvSpPr txBox="1"/>
          <p:nvPr/>
        </p:nvSpPr>
        <p:spPr>
          <a:xfrm>
            <a:off x="9737725" y="3905251"/>
            <a:ext cx="40748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7251700" y="5854700"/>
            <a:ext cx="2438400" cy="6858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7451726" y="5954714"/>
            <a:ext cx="190949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= qvBsen</a:t>
            </a:r>
            <a:r>
              <a:rPr b="0" i="0" lang="en-US" sz="24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" name="Google Shape;153;p5"/>
          <p:cNvGrpSpPr/>
          <p:nvPr/>
        </p:nvGrpSpPr>
        <p:grpSpPr>
          <a:xfrm>
            <a:off x="3619500" y="3708400"/>
            <a:ext cx="304800" cy="304800"/>
            <a:chOff x="432" y="1584"/>
            <a:chExt cx="192" cy="192"/>
          </a:xfrm>
        </p:grpSpPr>
        <p:sp>
          <p:nvSpPr>
            <p:cNvPr id="154" name="Google Shape;154;p5"/>
            <p:cNvSpPr/>
            <p:nvPr/>
          </p:nvSpPr>
          <p:spPr>
            <a:xfrm>
              <a:off x="432" y="1584"/>
              <a:ext cx="192" cy="192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5" name="Google Shape;155;p5"/>
            <p:cNvGrpSpPr/>
            <p:nvPr/>
          </p:nvGrpSpPr>
          <p:grpSpPr>
            <a:xfrm>
              <a:off x="464" y="1620"/>
              <a:ext cx="136" cy="136"/>
              <a:chOff x="108" y="2160"/>
              <a:chExt cx="192" cy="192"/>
            </a:xfrm>
          </p:grpSpPr>
          <p:cxnSp>
            <p:nvCxnSpPr>
              <p:cNvPr id="156" name="Google Shape;156;p5"/>
              <p:cNvCxnSpPr/>
              <p:nvPr/>
            </p:nvCxnSpPr>
            <p:spPr>
              <a:xfrm>
                <a:off x="192" y="2160"/>
                <a:ext cx="0" cy="192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7" name="Google Shape;157;p5"/>
              <p:cNvCxnSpPr/>
              <p:nvPr/>
            </p:nvCxnSpPr>
            <p:spPr>
              <a:xfrm rot="10800000">
                <a:off x="204" y="2160"/>
                <a:ext cx="0" cy="192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58" name="Google Shape;158;p5"/>
          <p:cNvGrpSpPr/>
          <p:nvPr/>
        </p:nvGrpSpPr>
        <p:grpSpPr>
          <a:xfrm>
            <a:off x="7391400" y="2895600"/>
            <a:ext cx="469900" cy="1385888"/>
            <a:chOff x="542" y="816"/>
            <a:chExt cx="296" cy="873"/>
          </a:xfrm>
        </p:grpSpPr>
        <p:sp>
          <p:nvSpPr>
            <p:cNvPr id="159" name="Google Shape;159;p5"/>
            <p:cNvSpPr/>
            <p:nvPr/>
          </p:nvSpPr>
          <p:spPr>
            <a:xfrm>
              <a:off x="542" y="1409"/>
              <a:ext cx="280" cy="280"/>
            </a:xfrm>
            <a:prstGeom prst="ellipse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0" name="Google Shape;160;p5"/>
            <p:cNvCxnSpPr/>
            <p:nvPr/>
          </p:nvCxnSpPr>
          <p:spPr>
            <a:xfrm rot="10800000">
              <a:off x="682" y="1069"/>
              <a:ext cx="0" cy="384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61" name="Google Shape;161;p5"/>
            <p:cNvSpPr/>
            <p:nvPr/>
          </p:nvSpPr>
          <p:spPr>
            <a:xfrm>
              <a:off x="624" y="816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 b="0" i="0" sz="24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cxnSp>
          <p:nvCxnSpPr>
            <p:cNvPr id="162" name="Google Shape;162;p5"/>
            <p:cNvCxnSpPr/>
            <p:nvPr/>
          </p:nvCxnSpPr>
          <p:spPr>
            <a:xfrm>
              <a:off x="612" y="1560"/>
              <a:ext cx="144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3" name="Google Shape;163;p5"/>
          <p:cNvGrpSpPr/>
          <p:nvPr/>
        </p:nvGrpSpPr>
        <p:grpSpPr>
          <a:xfrm>
            <a:off x="8229601" y="2590801"/>
            <a:ext cx="619125" cy="1166813"/>
            <a:chOff x="288" y="912"/>
            <a:chExt cx="390" cy="735"/>
          </a:xfrm>
        </p:grpSpPr>
        <p:sp>
          <p:nvSpPr>
            <p:cNvPr id="164" name="Google Shape;164;p5"/>
            <p:cNvSpPr/>
            <p:nvPr/>
          </p:nvSpPr>
          <p:spPr>
            <a:xfrm>
              <a:off x="398" y="1367"/>
              <a:ext cx="280" cy="280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5" name="Google Shape;165;p5"/>
            <p:cNvCxnSpPr/>
            <p:nvPr/>
          </p:nvCxnSpPr>
          <p:spPr>
            <a:xfrm rot="10800000">
              <a:off x="556" y="1027"/>
              <a:ext cx="0" cy="384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66" name="Google Shape;166;p5"/>
            <p:cNvSpPr/>
            <p:nvPr/>
          </p:nvSpPr>
          <p:spPr>
            <a:xfrm>
              <a:off x="288" y="912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 b="0" i="0" sz="24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67" name="Google Shape;167;p5"/>
            <p:cNvGrpSpPr/>
            <p:nvPr/>
          </p:nvGrpSpPr>
          <p:grpSpPr>
            <a:xfrm>
              <a:off x="444" y="1416"/>
              <a:ext cx="192" cy="192"/>
              <a:chOff x="240" y="1920"/>
              <a:chExt cx="192" cy="192"/>
            </a:xfrm>
          </p:grpSpPr>
          <p:cxnSp>
            <p:nvCxnSpPr>
              <p:cNvPr id="168" name="Google Shape;168;p5"/>
              <p:cNvCxnSpPr/>
              <p:nvPr/>
            </p:nvCxnSpPr>
            <p:spPr>
              <a:xfrm>
                <a:off x="336" y="1920"/>
                <a:ext cx="0" cy="192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9" name="Google Shape;169;p5"/>
              <p:cNvCxnSpPr/>
              <p:nvPr/>
            </p:nvCxnSpPr>
            <p:spPr>
              <a:xfrm rot="10800000">
                <a:off x="336" y="1920"/>
                <a:ext cx="0" cy="192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pic>
        <p:nvPicPr>
          <p:cNvPr id="170" name="Google Shape;1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3976" y="5461000"/>
            <a:ext cx="2447925" cy="82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/>
          <p:nvPr/>
        </p:nvSpPr>
        <p:spPr>
          <a:xfrm flipH="1" rot="10800000">
            <a:off x="2063750" y="2292350"/>
            <a:ext cx="3568700" cy="23495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3800" y="21600"/>
                </a:lnTo>
                <a:lnTo>
                  <a:pt x="17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C0C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2955925" y="3475039"/>
            <a:ext cx="537006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+q</a:t>
            </a:r>
            <a:endParaRPr/>
          </a:p>
        </p:txBody>
      </p:sp>
      <p:grpSp>
        <p:nvGrpSpPr>
          <p:cNvPr id="178" name="Google Shape;178;p6"/>
          <p:cNvGrpSpPr/>
          <p:nvPr/>
        </p:nvGrpSpPr>
        <p:grpSpPr>
          <a:xfrm>
            <a:off x="4038600" y="2255838"/>
            <a:ext cx="857250" cy="1020762"/>
            <a:chOff x="1584" y="1421"/>
            <a:chExt cx="540" cy="643"/>
          </a:xfrm>
        </p:grpSpPr>
        <p:cxnSp>
          <p:nvCxnSpPr>
            <p:cNvPr id="179" name="Google Shape;179;p6"/>
            <p:cNvCxnSpPr/>
            <p:nvPr/>
          </p:nvCxnSpPr>
          <p:spPr>
            <a:xfrm flipH="1" rot="10800000">
              <a:off x="1584" y="1688"/>
              <a:ext cx="528" cy="376"/>
            </a:xfrm>
            <a:prstGeom prst="straightConnector1">
              <a:avLst/>
            </a:prstGeom>
            <a:noFill/>
            <a:ln cap="flat" cmpd="sng" w="25400">
              <a:solidFill>
                <a:srgbClr val="00008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80" name="Google Shape;180;p6"/>
            <p:cNvSpPr/>
            <p:nvPr/>
          </p:nvSpPr>
          <p:spPr>
            <a:xfrm>
              <a:off x="1878" y="1421"/>
              <a:ext cx="24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</p:grpSp>
      <p:grpSp>
        <p:nvGrpSpPr>
          <p:cNvPr id="181" name="Google Shape;181;p6"/>
          <p:cNvGrpSpPr/>
          <p:nvPr/>
        </p:nvGrpSpPr>
        <p:grpSpPr>
          <a:xfrm>
            <a:off x="4048125" y="3581400"/>
            <a:ext cx="763588" cy="1036638"/>
            <a:chOff x="1590" y="2256"/>
            <a:chExt cx="481" cy="653"/>
          </a:xfrm>
        </p:grpSpPr>
        <p:cxnSp>
          <p:nvCxnSpPr>
            <p:cNvPr id="182" name="Google Shape;182;p6"/>
            <p:cNvCxnSpPr/>
            <p:nvPr/>
          </p:nvCxnSpPr>
          <p:spPr>
            <a:xfrm>
              <a:off x="1590" y="2256"/>
              <a:ext cx="480" cy="379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83" name="Google Shape;183;p6"/>
            <p:cNvSpPr/>
            <p:nvPr/>
          </p:nvSpPr>
          <p:spPr>
            <a:xfrm>
              <a:off x="1857" y="2618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 b="0" i="0" sz="24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84" name="Google Shape;184;p6"/>
          <p:cNvGrpSpPr/>
          <p:nvPr/>
        </p:nvGrpSpPr>
        <p:grpSpPr>
          <a:xfrm>
            <a:off x="3925499" y="3055941"/>
            <a:ext cx="711592" cy="574293"/>
            <a:chOff x="1513" y="1925"/>
            <a:chExt cx="448" cy="362"/>
          </a:xfrm>
        </p:grpSpPr>
        <p:sp>
          <p:nvSpPr>
            <p:cNvPr id="185" name="Google Shape;185;p6"/>
            <p:cNvSpPr/>
            <p:nvPr/>
          </p:nvSpPr>
          <p:spPr>
            <a:xfrm rot="2760000">
              <a:off x="1554" y="2045"/>
              <a:ext cx="201" cy="200"/>
            </a:xfrm>
            <a:custGeom>
              <a:rect b="b" l="l" r="r" t="t"/>
              <a:pathLst>
                <a:path extrusionOk="0" fill="none" h="21600" w="21708">
                  <a:moveTo>
                    <a:pt x="0" y="0"/>
                  </a:moveTo>
                  <a:cubicBezTo>
                    <a:pt x="36" y="0"/>
                    <a:pt x="72" y="-1"/>
                    <a:pt x="108" y="0"/>
                  </a:cubicBezTo>
                  <a:cubicBezTo>
                    <a:pt x="11995" y="0"/>
                    <a:pt x="21648" y="9604"/>
                    <a:pt x="21707" y="21492"/>
                  </a:cubicBezTo>
                </a:path>
                <a:path extrusionOk="0" h="21600" w="21708">
                  <a:moveTo>
                    <a:pt x="0" y="0"/>
                  </a:moveTo>
                  <a:cubicBezTo>
                    <a:pt x="36" y="0"/>
                    <a:pt x="72" y="-1"/>
                    <a:pt x="108" y="0"/>
                  </a:cubicBezTo>
                  <a:cubicBezTo>
                    <a:pt x="11995" y="0"/>
                    <a:pt x="21648" y="9604"/>
                    <a:pt x="21707" y="21492"/>
                  </a:cubicBezTo>
                  <a:lnTo>
                    <a:pt x="108" y="21600"/>
                  </a:lnTo>
                  <a:close/>
                </a:path>
              </a:pathLst>
            </a:custGeom>
            <a:noFill/>
            <a:ln cap="rnd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1743" y="1925"/>
              <a:ext cx="21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θ</a:t>
              </a:r>
              <a:endParaRPr/>
            </a:p>
          </p:txBody>
        </p:sp>
      </p:grpSp>
      <p:cxnSp>
        <p:nvCxnSpPr>
          <p:cNvPr id="187" name="Google Shape;187;p6"/>
          <p:cNvCxnSpPr/>
          <p:nvPr/>
        </p:nvCxnSpPr>
        <p:spPr>
          <a:xfrm rot="10800000">
            <a:off x="3810000" y="1322388"/>
            <a:ext cx="0" cy="187801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8" name="Google Shape;188;p6"/>
          <p:cNvCxnSpPr/>
          <p:nvPr/>
        </p:nvCxnSpPr>
        <p:spPr>
          <a:xfrm flipH="1" rot="10800000">
            <a:off x="3810000" y="2941638"/>
            <a:ext cx="228600" cy="139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6"/>
          <p:cNvCxnSpPr/>
          <p:nvPr/>
        </p:nvCxnSpPr>
        <p:spPr>
          <a:xfrm>
            <a:off x="4038600" y="2941638"/>
            <a:ext cx="0" cy="34766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6"/>
          <p:cNvSpPr/>
          <p:nvPr/>
        </p:nvSpPr>
        <p:spPr>
          <a:xfrm flipH="1" rot="10800000">
            <a:off x="6254750" y="2292350"/>
            <a:ext cx="3568700" cy="23495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3800" y="21600"/>
                </a:lnTo>
                <a:lnTo>
                  <a:pt x="17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C0C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7146925" y="3475039"/>
            <a:ext cx="460062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-q</a:t>
            </a:r>
            <a:endParaRPr/>
          </a:p>
        </p:txBody>
      </p:sp>
      <p:grpSp>
        <p:nvGrpSpPr>
          <p:cNvPr id="192" name="Google Shape;192;p6"/>
          <p:cNvGrpSpPr/>
          <p:nvPr/>
        </p:nvGrpSpPr>
        <p:grpSpPr>
          <a:xfrm>
            <a:off x="8229600" y="2255838"/>
            <a:ext cx="857250" cy="1020762"/>
            <a:chOff x="4224" y="1421"/>
            <a:chExt cx="540" cy="643"/>
          </a:xfrm>
        </p:grpSpPr>
        <p:cxnSp>
          <p:nvCxnSpPr>
            <p:cNvPr id="193" name="Google Shape;193;p6"/>
            <p:cNvCxnSpPr/>
            <p:nvPr/>
          </p:nvCxnSpPr>
          <p:spPr>
            <a:xfrm flipH="1" rot="10800000">
              <a:off x="4224" y="1688"/>
              <a:ext cx="528" cy="376"/>
            </a:xfrm>
            <a:prstGeom prst="straightConnector1">
              <a:avLst/>
            </a:prstGeom>
            <a:noFill/>
            <a:ln cap="flat" cmpd="sng" w="25400">
              <a:solidFill>
                <a:srgbClr val="00008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94" name="Google Shape;194;p6"/>
            <p:cNvSpPr/>
            <p:nvPr/>
          </p:nvSpPr>
          <p:spPr>
            <a:xfrm>
              <a:off x="4518" y="1421"/>
              <a:ext cx="24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</p:grpSp>
      <p:grpSp>
        <p:nvGrpSpPr>
          <p:cNvPr id="195" name="Google Shape;195;p6"/>
          <p:cNvGrpSpPr/>
          <p:nvPr/>
        </p:nvGrpSpPr>
        <p:grpSpPr>
          <a:xfrm>
            <a:off x="8258175" y="3552825"/>
            <a:ext cx="763588" cy="1036638"/>
            <a:chOff x="4242" y="2238"/>
            <a:chExt cx="481" cy="653"/>
          </a:xfrm>
        </p:grpSpPr>
        <p:cxnSp>
          <p:nvCxnSpPr>
            <p:cNvPr id="196" name="Google Shape;196;p6"/>
            <p:cNvCxnSpPr/>
            <p:nvPr/>
          </p:nvCxnSpPr>
          <p:spPr>
            <a:xfrm>
              <a:off x="4242" y="2238"/>
              <a:ext cx="480" cy="379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97" name="Google Shape;197;p6"/>
            <p:cNvSpPr/>
            <p:nvPr/>
          </p:nvSpPr>
          <p:spPr>
            <a:xfrm>
              <a:off x="4509" y="2600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 b="0" i="0" sz="24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8" name="Google Shape;198;p6"/>
          <p:cNvGrpSpPr/>
          <p:nvPr/>
        </p:nvGrpSpPr>
        <p:grpSpPr>
          <a:xfrm>
            <a:off x="8142433" y="3067050"/>
            <a:ext cx="711061" cy="576085"/>
            <a:chOff x="4169" y="1932"/>
            <a:chExt cx="448" cy="363"/>
          </a:xfrm>
        </p:grpSpPr>
        <p:sp>
          <p:nvSpPr>
            <p:cNvPr id="199" name="Google Shape;199;p6"/>
            <p:cNvSpPr/>
            <p:nvPr/>
          </p:nvSpPr>
          <p:spPr>
            <a:xfrm rot="2760000">
              <a:off x="4211" y="2053"/>
              <a:ext cx="199" cy="201"/>
            </a:xfrm>
            <a:custGeom>
              <a:rect b="b" l="l" r="r" t="t"/>
              <a:pathLst>
                <a:path extrusionOk="0" fill="none" h="21600" w="21709">
                  <a:moveTo>
                    <a:pt x="0" y="0"/>
                  </a:moveTo>
                  <a:cubicBezTo>
                    <a:pt x="36" y="0"/>
                    <a:pt x="72" y="-1"/>
                    <a:pt x="109" y="0"/>
                  </a:cubicBezTo>
                  <a:cubicBezTo>
                    <a:pt x="12038" y="0"/>
                    <a:pt x="21709" y="9670"/>
                    <a:pt x="21709" y="21600"/>
                  </a:cubicBezTo>
                </a:path>
                <a:path extrusionOk="0" h="21600" w="21709">
                  <a:moveTo>
                    <a:pt x="0" y="0"/>
                  </a:moveTo>
                  <a:cubicBezTo>
                    <a:pt x="36" y="0"/>
                    <a:pt x="72" y="-1"/>
                    <a:pt x="109" y="0"/>
                  </a:cubicBezTo>
                  <a:cubicBezTo>
                    <a:pt x="12038" y="0"/>
                    <a:pt x="21709" y="9670"/>
                    <a:pt x="21709" y="21600"/>
                  </a:cubicBezTo>
                  <a:lnTo>
                    <a:pt x="109" y="21600"/>
                  </a:lnTo>
                  <a:close/>
                </a:path>
              </a:pathLst>
            </a:custGeom>
            <a:noFill/>
            <a:ln cap="rnd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4399" y="1932"/>
              <a:ext cx="21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θ</a:t>
              </a:r>
              <a:endParaRPr/>
            </a:p>
          </p:txBody>
        </p:sp>
      </p:grpSp>
      <p:cxnSp>
        <p:nvCxnSpPr>
          <p:cNvPr id="201" name="Google Shape;201;p6"/>
          <p:cNvCxnSpPr/>
          <p:nvPr/>
        </p:nvCxnSpPr>
        <p:spPr>
          <a:xfrm>
            <a:off x="8001000" y="3702050"/>
            <a:ext cx="0" cy="2057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2" name="Google Shape;202;p6"/>
          <p:cNvCxnSpPr/>
          <p:nvPr/>
        </p:nvCxnSpPr>
        <p:spPr>
          <a:xfrm>
            <a:off x="8020050" y="3790950"/>
            <a:ext cx="228600" cy="152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6"/>
          <p:cNvCxnSpPr/>
          <p:nvPr/>
        </p:nvCxnSpPr>
        <p:spPr>
          <a:xfrm rot="10800000">
            <a:off x="8248650" y="3562350"/>
            <a:ext cx="0" cy="381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4" name="Google Shape;2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0"/>
            <a:ext cx="2978150" cy="338613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6"/>
          <p:cNvSpPr/>
          <p:nvPr/>
        </p:nvSpPr>
        <p:spPr>
          <a:xfrm>
            <a:off x="5105400" y="1557338"/>
            <a:ext cx="762000" cy="990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3422651" y="19051"/>
            <a:ext cx="398057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Regla de la mano derecha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2438401" y="4906964"/>
            <a:ext cx="23054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Carga positiva</a:t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7069139" y="6038851"/>
            <a:ext cx="23920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Carga negativa</a:t>
            </a:r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8061325" y="5059364"/>
            <a:ext cx="37221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3946525" y="1085851"/>
            <a:ext cx="37221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grpSp>
        <p:nvGrpSpPr>
          <p:cNvPr id="211" name="Google Shape;211;p6"/>
          <p:cNvGrpSpPr/>
          <p:nvPr/>
        </p:nvGrpSpPr>
        <p:grpSpPr>
          <a:xfrm>
            <a:off x="3549650" y="3200400"/>
            <a:ext cx="520700" cy="520700"/>
            <a:chOff x="1276" y="3560"/>
            <a:chExt cx="328" cy="328"/>
          </a:xfrm>
        </p:grpSpPr>
        <p:sp>
          <p:nvSpPr>
            <p:cNvPr id="212" name="Google Shape;212;p6"/>
            <p:cNvSpPr/>
            <p:nvPr/>
          </p:nvSpPr>
          <p:spPr>
            <a:xfrm>
              <a:off x="1276" y="3560"/>
              <a:ext cx="328" cy="328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3" name="Google Shape;213;p6"/>
            <p:cNvGrpSpPr/>
            <p:nvPr/>
          </p:nvGrpSpPr>
          <p:grpSpPr>
            <a:xfrm>
              <a:off x="1380" y="3660"/>
              <a:ext cx="144" cy="144"/>
              <a:chOff x="2040" y="3696"/>
              <a:chExt cx="144" cy="144"/>
            </a:xfrm>
          </p:grpSpPr>
          <p:cxnSp>
            <p:nvCxnSpPr>
              <p:cNvPr id="214" name="Google Shape;214;p6"/>
              <p:cNvCxnSpPr/>
              <p:nvPr/>
            </p:nvCxnSpPr>
            <p:spPr>
              <a:xfrm>
                <a:off x="2112" y="3696"/>
                <a:ext cx="0" cy="144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5" name="Google Shape;215;p6"/>
              <p:cNvCxnSpPr/>
              <p:nvPr/>
            </p:nvCxnSpPr>
            <p:spPr>
              <a:xfrm rot="10800000">
                <a:off x="2112" y="3708"/>
                <a:ext cx="0" cy="144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16" name="Google Shape;216;p6"/>
          <p:cNvGrpSpPr/>
          <p:nvPr/>
        </p:nvGrpSpPr>
        <p:grpSpPr>
          <a:xfrm>
            <a:off x="7785100" y="3213100"/>
            <a:ext cx="520700" cy="520700"/>
            <a:chOff x="3024" y="3224"/>
            <a:chExt cx="328" cy="328"/>
          </a:xfrm>
        </p:grpSpPr>
        <p:sp>
          <p:nvSpPr>
            <p:cNvPr id="217" name="Google Shape;217;p6"/>
            <p:cNvSpPr/>
            <p:nvPr/>
          </p:nvSpPr>
          <p:spPr>
            <a:xfrm>
              <a:off x="3024" y="3224"/>
              <a:ext cx="328" cy="328"/>
            </a:xfrm>
            <a:prstGeom prst="ellipse">
              <a:avLst/>
            </a:prstGeom>
            <a:solidFill>
              <a:schemeClr val="accent2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8" name="Google Shape;218;p6"/>
            <p:cNvCxnSpPr/>
            <p:nvPr/>
          </p:nvCxnSpPr>
          <p:spPr>
            <a:xfrm>
              <a:off x="3120" y="3408"/>
              <a:ext cx="144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7"/>
          <p:cNvGrpSpPr/>
          <p:nvPr/>
        </p:nvGrpSpPr>
        <p:grpSpPr>
          <a:xfrm>
            <a:off x="2362200" y="381000"/>
            <a:ext cx="3657600" cy="685800"/>
            <a:chOff x="528" y="240"/>
            <a:chExt cx="2304" cy="432"/>
          </a:xfrm>
        </p:grpSpPr>
        <p:sp>
          <p:nvSpPr>
            <p:cNvPr id="225" name="Google Shape;225;p7"/>
            <p:cNvSpPr/>
            <p:nvPr/>
          </p:nvSpPr>
          <p:spPr>
            <a:xfrm>
              <a:off x="528" y="240"/>
              <a:ext cx="2304" cy="432"/>
            </a:xfrm>
            <a:prstGeom prst="rect">
              <a:avLst/>
            </a:prstGeom>
            <a:solidFill>
              <a:srgbClr val="00FF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7"/>
            <p:cNvSpPr txBox="1"/>
            <p:nvPr/>
          </p:nvSpPr>
          <p:spPr>
            <a:xfrm>
              <a:off x="614" y="300"/>
              <a:ext cx="1702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Unidades en el SI:</a:t>
              </a:r>
              <a:endParaRPr/>
            </a:p>
          </p:txBody>
        </p:sp>
      </p:grpSp>
      <p:pic>
        <p:nvPicPr>
          <p:cNvPr id="227" name="Google Shape;2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1" y="1371600"/>
            <a:ext cx="1749425" cy="3016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7"/>
          <p:cNvGrpSpPr/>
          <p:nvPr/>
        </p:nvGrpSpPr>
        <p:grpSpPr>
          <a:xfrm>
            <a:off x="4495800" y="3505201"/>
            <a:ext cx="4756151" cy="1635125"/>
            <a:chOff x="1872" y="1920"/>
            <a:chExt cx="2996" cy="1030"/>
          </a:xfrm>
        </p:grpSpPr>
        <p:pic>
          <p:nvPicPr>
            <p:cNvPr id="229" name="Google Shape;229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64" y="1920"/>
              <a:ext cx="1632" cy="4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" name="Google Shape;230;p7"/>
            <p:cNvSpPr txBox="1"/>
            <p:nvPr/>
          </p:nvSpPr>
          <p:spPr>
            <a:xfrm>
              <a:off x="3782" y="1996"/>
              <a:ext cx="1086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(gauss)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7"/>
            <p:cNvSpPr txBox="1"/>
            <p:nvPr/>
          </p:nvSpPr>
          <p:spPr>
            <a:xfrm>
              <a:off x="1872" y="2659"/>
              <a:ext cx="294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El Gauss es la unidad en el c.g.s</a:t>
              </a:r>
              <a:endParaRPr/>
            </a:p>
          </p:txBody>
        </p:sp>
      </p:grpSp>
      <p:grpSp>
        <p:nvGrpSpPr>
          <p:cNvPr id="232" name="Google Shape;232;p7"/>
          <p:cNvGrpSpPr/>
          <p:nvPr/>
        </p:nvGrpSpPr>
        <p:grpSpPr>
          <a:xfrm>
            <a:off x="4114800" y="1660526"/>
            <a:ext cx="5049838" cy="1393825"/>
            <a:chOff x="2064" y="814"/>
            <a:chExt cx="3181" cy="878"/>
          </a:xfrm>
        </p:grpSpPr>
        <p:pic>
          <p:nvPicPr>
            <p:cNvPr id="233" name="Google Shape;233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64" y="1032"/>
              <a:ext cx="816" cy="5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7"/>
            <p:cNvSpPr txBox="1"/>
            <p:nvPr/>
          </p:nvSpPr>
          <p:spPr>
            <a:xfrm>
              <a:off x="2942" y="821"/>
              <a:ext cx="601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 s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7"/>
            <p:cNvSpPr txBox="1"/>
            <p:nvPr/>
          </p:nvSpPr>
          <p:spPr>
            <a:xfrm>
              <a:off x="2928" y="1246"/>
              <a:ext cx="709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 m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6" name="Google Shape;236;p7"/>
            <p:cNvCxnSpPr/>
            <p:nvPr/>
          </p:nvCxnSpPr>
          <p:spPr>
            <a:xfrm>
              <a:off x="2880" y="1296"/>
              <a:ext cx="672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7" name="Google Shape;237;p7"/>
            <p:cNvSpPr txBox="1"/>
            <p:nvPr/>
          </p:nvSpPr>
          <p:spPr>
            <a:xfrm>
              <a:off x="4067" y="814"/>
              <a:ext cx="347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8" name="Google Shape;238;p7"/>
            <p:cNvCxnSpPr/>
            <p:nvPr/>
          </p:nvCxnSpPr>
          <p:spPr>
            <a:xfrm>
              <a:off x="3888" y="1296"/>
              <a:ext cx="672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9" name="Google Shape;239;p7"/>
            <p:cNvSpPr txBox="1"/>
            <p:nvPr/>
          </p:nvSpPr>
          <p:spPr>
            <a:xfrm>
              <a:off x="3948" y="1246"/>
              <a:ext cx="676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 m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7"/>
            <p:cNvSpPr txBox="1"/>
            <p:nvPr/>
          </p:nvSpPr>
          <p:spPr>
            <a:xfrm>
              <a:off x="3551" y="1061"/>
              <a:ext cx="305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4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endParaRPr b="0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7"/>
            <p:cNvSpPr txBox="1"/>
            <p:nvPr/>
          </p:nvSpPr>
          <p:spPr>
            <a:xfrm>
              <a:off x="4516" y="1058"/>
              <a:ext cx="305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4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</a:t>
              </a:r>
              <a:endParaRPr b="0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7"/>
            <p:cNvSpPr txBox="1"/>
            <p:nvPr/>
          </p:nvSpPr>
          <p:spPr>
            <a:xfrm>
              <a:off x="4752" y="978"/>
              <a:ext cx="493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1T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3" name="Google Shape;243;p7"/>
          <p:cNvSpPr txBox="1"/>
          <p:nvPr/>
        </p:nvSpPr>
        <p:spPr>
          <a:xfrm>
            <a:off x="8991601" y="1889125"/>
            <a:ext cx="161133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(tesla)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2362200" y="5334000"/>
            <a:ext cx="3581400" cy="1219200"/>
          </a:xfrm>
          <a:prstGeom prst="rect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" name="Google Shape;245;p7"/>
          <p:cNvGrpSpPr/>
          <p:nvPr/>
        </p:nvGrpSpPr>
        <p:grpSpPr>
          <a:xfrm>
            <a:off x="2743200" y="5715000"/>
            <a:ext cx="685800" cy="609600"/>
            <a:chOff x="1008" y="3600"/>
            <a:chExt cx="432" cy="384"/>
          </a:xfrm>
        </p:grpSpPr>
        <p:sp>
          <p:nvSpPr>
            <p:cNvPr id="246" name="Google Shape;246;p7"/>
            <p:cNvSpPr/>
            <p:nvPr/>
          </p:nvSpPr>
          <p:spPr>
            <a:xfrm>
              <a:off x="1008" y="3600"/>
              <a:ext cx="432" cy="384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1164" y="3756"/>
              <a:ext cx="73" cy="73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" name="Google Shape;248;p7"/>
          <p:cNvSpPr txBox="1"/>
          <p:nvPr/>
        </p:nvSpPr>
        <p:spPr>
          <a:xfrm>
            <a:off x="3433764" y="5773887"/>
            <a:ext cx="17267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saliendo </a:t>
            </a:r>
            <a:endParaRPr/>
          </a:p>
        </p:txBody>
      </p:sp>
      <p:grpSp>
        <p:nvGrpSpPr>
          <p:cNvPr id="249" name="Google Shape;249;p7"/>
          <p:cNvGrpSpPr/>
          <p:nvPr/>
        </p:nvGrpSpPr>
        <p:grpSpPr>
          <a:xfrm>
            <a:off x="6934200" y="5334000"/>
            <a:ext cx="3581400" cy="1219200"/>
            <a:chOff x="3408" y="3360"/>
            <a:chExt cx="2256" cy="768"/>
          </a:xfrm>
        </p:grpSpPr>
        <p:sp>
          <p:nvSpPr>
            <p:cNvPr id="250" name="Google Shape;250;p7"/>
            <p:cNvSpPr/>
            <p:nvPr/>
          </p:nvSpPr>
          <p:spPr>
            <a:xfrm>
              <a:off x="3408" y="3360"/>
              <a:ext cx="2256" cy="768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1" name="Google Shape;251;p7"/>
            <p:cNvGrpSpPr/>
            <p:nvPr/>
          </p:nvGrpSpPr>
          <p:grpSpPr>
            <a:xfrm>
              <a:off x="3648" y="3552"/>
              <a:ext cx="432" cy="384"/>
              <a:chOff x="2112" y="3600"/>
              <a:chExt cx="432" cy="384"/>
            </a:xfrm>
          </p:grpSpPr>
          <p:sp>
            <p:nvSpPr>
              <p:cNvPr id="252" name="Google Shape;252;p7"/>
              <p:cNvSpPr/>
              <p:nvPr/>
            </p:nvSpPr>
            <p:spPr>
              <a:xfrm>
                <a:off x="2112" y="3600"/>
                <a:ext cx="432" cy="38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3" name="Google Shape;253;p7"/>
              <p:cNvCxnSpPr/>
              <p:nvPr/>
            </p:nvCxnSpPr>
            <p:spPr>
              <a:xfrm flipH="1">
                <a:off x="2220" y="3684"/>
                <a:ext cx="192" cy="192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4" name="Google Shape;254;p7"/>
              <p:cNvCxnSpPr/>
              <p:nvPr/>
            </p:nvCxnSpPr>
            <p:spPr>
              <a:xfrm>
                <a:off x="2220" y="3684"/>
                <a:ext cx="192" cy="192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255" name="Google Shape;255;p7"/>
            <p:cNvSpPr txBox="1"/>
            <p:nvPr/>
          </p:nvSpPr>
          <p:spPr>
            <a:xfrm>
              <a:off x="4102" y="3589"/>
              <a:ext cx="107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 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entrando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/>
          <p:cNvSpPr/>
          <p:nvPr/>
        </p:nvSpPr>
        <p:spPr>
          <a:xfrm>
            <a:off x="1736725" y="609601"/>
            <a:ext cx="4340932" cy="831639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1. Un electrón que se mueve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en un campo magnético</a:t>
            </a:r>
            <a:endParaRPr/>
          </a:p>
        </p:txBody>
      </p:sp>
      <p:grpSp>
        <p:nvGrpSpPr>
          <p:cNvPr id="262" name="Google Shape;262;p8"/>
          <p:cNvGrpSpPr/>
          <p:nvPr/>
        </p:nvGrpSpPr>
        <p:grpSpPr>
          <a:xfrm>
            <a:off x="1828800" y="1905000"/>
            <a:ext cx="1828800" cy="1676400"/>
            <a:chOff x="192" y="912"/>
            <a:chExt cx="1152" cy="1056"/>
          </a:xfrm>
        </p:grpSpPr>
        <p:sp>
          <p:nvSpPr>
            <p:cNvPr id="263" name="Google Shape;263;p8"/>
            <p:cNvSpPr/>
            <p:nvPr/>
          </p:nvSpPr>
          <p:spPr>
            <a:xfrm>
              <a:off x="192" y="912"/>
              <a:ext cx="1152" cy="105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4" name="Google Shape;264;p8"/>
            <p:cNvGrpSpPr/>
            <p:nvPr/>
          </p:nvGrpSpPr>
          <p:grpSpPr>
            <a:xfrm>
              <a:off x="278" y="1008"/>
              <a:ext cx="677" cy="694"/>
              <a:chOff x="278" y="1008"/>
              <a:chExt cx="677" cy="694"/>
            </a:xfrm>
          </p:grpSpPr>
          <p:sp>
            <p:nvSpPr>
              <p:cNvPr id="265" name="Google Shape;265;p8"/>
              <p:cNvSpPr txBox="1"/>
              <p:nvPr/>
            </p:nvSpPr>
            <p:spPr>
              <a:xfrm>
                <a:off x="278" y="1008"/>
                <a:ext cx="677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Datos:</a:t>
                </a:r>
                <a:endParaRPr/>
              </a:p>
            </p:txBody>
          </p:sp>
          <p:grpSp>
            <p:nvGrpSpPr>
              <p:cNvPr id="266" name="Google Shape;266;p8"/>
              <p:cNvGrpSpPr/>
              <p:nvPr/>
            </p:nvGrpSpPr>
            <p:grpSpPr>
              <a:xfrm>
                <a:off x="332" y="1411"/>
                <a:ext cx="597" cy="291"/>
                <a:chOff x="518" y="3228"/>
                <a:chExt cx="597" cy="291"/>
              </a:xfrm>
            </p:grpSpPr>
            <p:grpSp>
              <p:nvGrpSpPr>
                <p:cNvPr id="267" name="Google Shape;267;p8"/>
                <p:cNvGrpSpPr/>
                <p:nvPr/>
              </p:nvGrpSpPr>
              <p:grpSpPr>
                <a:xfrm>
                  <a:off x="518" y="3228"/>
                  <a:ext cx="234" cy="291"/>
                  <a:chOff x="518" y="3228"/>
                  <a:chExt cx="234" cy="291"/>
                </a:xfrm>
              </p:grpSpPr>
              <p:sp>
                <p:nvSpPr>
                  <p:cNvPr id="268" name="Google Shape;268;p8"/>
                  <p:cNvSpPr txBox="1"/>
                  <p:nvPr/>
                </p:nvSpPr>
                <p:spPr>
                  <a:xfrm>
                    <a:off x="518" y="3228"/>
                    <a:ext cx="234" cy="29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F</a:t>
                    </a:r>
                    <a:endParaRPr/>
                  </a:p>
                </p:txBody>
              </p:sp>
              <p:cxnSp>
                <p:nvCxnSpPr>
                  <p:cNvPr id="269" name="Google Shape;269;p8"/>
                  <p:cNvCxnSpPr/>
                  <p:nvPr/>
                </p:nvCxnSpPr>
                <p:spPr>
                  <a:xfrm>
                    <a:off x="552" y="3264"/>
                    <a:ext cx="192" cy="0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grpSp>
              <p:nvGrpSpPr>
                <p:cNvPr id="270" name="Google Shape;270;p8"/>
                <p:cNvGrpSpPr/>
                <p:nvPr/>
              </p:nvGrpSpPr>
              <p:grpSpPr>
                <a:xfrm>
                  <a:off x="902" y="3228"/>
                  <a:ext cx="213" cy="291"/>
                  <a:chOff x="902" y="3228"/>
                  <a:chExt cx="213" cy="291"/>
                </a:xfrm>
              </p:grpSpPr>
              <p:sp>
                <p:nvSpPr>
                  <p:cNvPr id="271" name="Google Shape;271;p8"/>
                  <p:cNvSpPr txBox="1"/>
                  <p:nvPr/>
                </p:nvSpPr>
                <p:spPr>
                  <a:xfrm>
                    <a:off x="902" y="3228"/>
                    <a:ext cx="213" cy="29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v</a:t>
                    </a:r>
                    <a:endParaRPr/>
                  </a:p>
                </p:txBody>
              </p:sp>
              <p:cxnSp>
                <p:nvCxnSpPr>
                  <p:cNvPr id="272" name="Google Shape;272;p8"/>
                  <p:cNvCxnSpPr/>
                  <p:nvPr/>
                </p:nvCxnSpPr>
                <p:spPr>
                  <a:xfrm>
                    <a:off x="972" y="3324"/>
                    <a:ext cx="96" cy="0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</p:grpSp>
        </p:grpSp>
      </p:grpSp>
      <p:grpSp>
        <p:nvGrpSpPr>
          <p:cNvPr id="273" name="Google Shape;273;p8"/>
          <p:cNvGrpSpPr/>
          <p:nvPr/>
        </p:nvGrpSpPr>
        <p:grpSpPr>
          <a:xfrm>
            <a:off x="1828800" y="3657600"/>
            <a:ext cx="1828800" cy="1524000"/>
            <a:chOff x="192" y="2016"/>
            <a:chExt cx="1152" cy="960"/>
          </a:xfrm>
        </p:grpSpPr>
        <p:sp>
          <p:nvSpPr>
            <p:cNvPr id="274" name="Google Shape;274;p8"/>
            <p:cNvSpPr/>
            <p:nvPr/>
          </p:nvSpPr>
          <p:spPr>
            <a:xfrm>
              <a:off x="192" y="2016"/>
              <a:ext cx="1152" cy="96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5" name="Google Shape;275;p8"/>
            <p:cNvGrpSpPr/>
            <p:nvPr/>
          </p:nvGrpSpPr>
          <p:grpSpPr>
            <a:xfrm>
              <a:off x="240" y="2131"/>
              <a:ext cx="957" cy="675"/>
              <a:chOff x="240" y="1920"/>
              <a:chExt cx="957" cy="675"/>
            </a:xfrm>
          </p:grpSpPr>
          <p:sp>
            <p:nvSpPr>
              <p:cNvPr id="276" name="Google Shape;276;p8"/>
              <p:cNvSpPr txBox="1"/>
              <p:nvPr/>
            </p:nvSpPr>
            <p:spPr>
              <a:xfrm>
                <a:off x="240" y="1920"/>
                <a:ext cx="957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Incógnita:</a:t>
                </a:r>
                <a:endParaRPr/>
              </a:p>
            </p:txBody>
          </p:sp>
          <p:grpSp>
            <p:nvGrpSpPr>
              <p:cNvPr id="277" name="Google Shape;277;p8"/>
              <p:cNvGrpSpPr/>
              <p:nvPr/>
            </p:nvGrpSpPr>
            <p:grpSpPr>
              <a:xfrm>
                <a:off x="336" y="2275"/>
                <a:ext cx="678" cy="320"/>
                <a:chOff x="336" y="2275"/>
                <a:chExt cx="678" cy="320"/>
              </a:xfrm>
            </p:grpSpPr>
            <p:grpSp>
              <p:nvGrpSpPr>
                <p:cNvPr id="278" name="Google Shape;278;p8"/>
                <p:cNvGrpSpPr/>
                <p:nvPr/>
              </p:nvGrpSpPr>
              <p:grpSpPr>
                <a:xfrm>
                  <a:off x="336" y="2304"/>
                  <a:ext cx="246" cy="291"/>
                  <a:chOff x="806" y="3756"/>
                  <a:chExt cx="246" cy="291"/>
                </a:xfrm>
              </p:grpSpPr>
              <p:sp>
                <p:nvSpPr>
                  <p:cNvPr id="279" name="Google Shape;279;p8"/>
                  <p:cNvSpPr txBox="1"/>
                  <p:nvPr/>
                </p:nvSpPr>
                <p:spPr>
                  <a:xfrm>
                    <a:off x="806" y="3756"/>
                    <a:ext cx="246" cy="29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2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B</a:t>
                    </a:r>
                    <a:endParaRPr/>
                  </a:p>
                </p:txBody>
              </p:sp>
              <p:cxnSp>
                <p:nvCxnSpPr>
                  <p:cNvPr id="280" name="Google Shape;280;p8"/>
                  <p:cNvCxnSpPr/>
                  <p:nvPr/>
                </p:nvCxnSpPr>
                <p:spPr>
                  <a:xfrm>
                    <a:off x="864" y="3816"/>
                    <a:ext cx="144" cy="0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sp>
              <p:nvSpPr>
                <p:cNvPr id="281" name="Google Shape;281;p8"/>
                <p:cNvSpPr txBox="1"/>
                <p:nvPr/>
              </p:nvSpPr>
              <p:spPr>
                <a:xfrm>
                  <a:off x="623" y="2275"/>
                  <a:ext cx="391" cy="2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2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= ?</a:t>
                  </a:r>
                  <a:endParaRPr b="0" i="1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82" name="Google Shape;282;p8"/>
          <p:cNvSpPr/>
          <p:nvPr/>
        </p:nvSpPr>
        <p:spPr>
          <a:xfrm flipH="1" rot="10800000">
            <a:off x="5191125" y="2403475"/>
            <a:ext cx="4578350" cy="26543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3800" y="21600"/>
                </a:lnTo>
                <a:lnTo>
                  <a:pt x="178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0C0C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 txBox="1"/>
          <p:nvPr/>
        </p:nvSpPr>
        <p:spPr>
          <a:xfrm flipH="1">
            <a:off x="5191125" y="2403475"/>
            <a:ext cx="4578350" cy="26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4" name="Google Shape;284;p8"/>
          <p:cNvGrpSpPr/>
          <p:nvPr/>
        </p:nvGrpSpPr>
        <p:grpSpPr>
          <a:xfrm>
            <a:off x="5572126" y="3622675"/>
            <a:ext cx="1730375" cy="2203450"/>
            <a:chOff x="2198" y="2532"/>
            <a:chExt cx="1090" cy="1388"/>
          </a:xfrm>
        </p:grpSpPr>
        <p:cxnSp>
          <p:nvCxnSpPr>
            <p:cNvPr id="285" name="Google Shape;285;p8"/>
            <p:cNvCxnSpPr/>
            <p:nvPr/>
          </p:nvCxnSpPr>
          <p:spPr>
            <a:xfrm flipH="1">
              <a:off x="2400" y="2532"/>
              <a:ext cx="888" cy="1164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6" name="Google Shape;286;p8"/>
            <p:cNvSpPr/>
            <p:nvPr/>
          </p:nvSpPr>
          <p:spPr>
            <a:xfrm>
              <a:off x="2198" y="3629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</p:grpSp>
      <p:grpSp>
        <p:nvGrpSpPr>
          <p:cNvPr id="287" name="Google Shape;287;p8"/>
          <p:cNvGrpSpPr/>
          <p:nvPr/>
        </p:nvGrpSpPr>
        <p:grpSpPr>
          <a:xfrm>
            <a:off x="7629527" y="3165476"/>
            <a:ext cx="2989262" cy="461963"/>
            <a:chOff x="3456" y="1260"/>
            <a:chExt cx="1883" cy="291"/>
          </a:xfrm>
        </p:grpSpPr>
        <p:cxnSp>
          <p:nvCxnSpPr>
            <p:cNvPr id="288" name="Google Shape;288;p8"/>
            <p:cNvCxnSpPr/>
            <p:nvPr/>
          </p:nvCxnSpPr>
          <p:spPr>
            <a:xfrm>
              <a:off x="3456" y="1440"/>
              <a:ext cx="168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9" name="Google Shape;289;p8"/>
            <p:cNvSpPr txBox="1"/>
            <p:nvPr/>
          </p:nvSpPr>
          <p:spPr>
            <a:xfrm>
              <a:off x="5126" y="1260"/>
              <a:ext cx="2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</p:grpSp>
      <p:grpSp>
        <p:nvGrpSpPr>
          <p:cNvPr id="290" name="Google Shape;290;p8"/>
          <p:cNvGrpSpPr/>
          <p:nvPr/>
        </p:nvGrpSpPr>
        <p:grpSpPr>
          <a:xfrm>
            <a:off x="7248525" y="3317875"/>
            <a:ext cx="381000" cy="381000"/>
            <a:chOff x="1440" y="2544"/>
            <a:chExt cx="240" cy="240"/>
          </a:xfrm>
        </p:grpSpPr>
        <p:sp>
          <p:nvSpPr>
            <p:cNvPr id="291" name="Google Shape;291;p8"/>
            <p:cNvSpPr/>
            <p:nvPr/>
          </p:nvSpPr>
          <p:spPr>
            <a:xfrm>
              <a:off x="1440" y="2544"/>
              <a:ext cx="240" cy="240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2" name="Google Shape;292;p8"/>
            <p:cNvCxnSpPr/>
            <p:nvPr/>
          </p:nvCxnSpPr>
          <p:spPr>
            <a:xfrm>
              <a:off x="1488" y="2688"/>
              <a:ext cx="144" cy="0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3" name="Google Shape;293;p8"/>
          <p:cNvGrpSpPr/>
          <p:nvPr/>
        </p:nvGrpSpPr>
        <p:grpSpPr>
          <a:xfrm>
            <a:off x="7629525" y="2879725"/>
            <a:ext cx="2057400" cy="590550"/>
            <a:chOff x="3504" y="876"/>
            <a:chExt cx="1296" cy="372"/>
          </a:xfrm>
        </p:grpSpPr>
        <p:cxnSp>
          <p:nvCxnSpPr>
            <p:cNvPr id="294" name="Google Shape;294;p8"/>
            <p:cNvCxnSpPr/>
            <p:nvPr/>
          </p:nvCxnSpPr>
          <p:spPr>
            <a:xfrm rot="10800000">
              <a:off x="4152" y="600"/>
              <a:ext cx="0" cy="1296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295" name="Google Shape;295;p8"/>
            <p:cNvSpPr txBox="1"/>
            <p:nvPr/>
          </p:nvSpPr>
          <p:spPr>
            <a:xfrm>
              <a:off x="4502" y="876"/>
              <a:ext cx="23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</p:grpSp>
      <p:grpSp>
        <p:nvGrpSpPr>
          <p:cNvPr id="296" name="Google Shape;296;p8"/>
          <p:cNvGrpSpPr/>
          <p:nvPr/>
        </p:nvGrpSpPr>
        <p:grpSpPr>
          <a:xfrm>
            <a:off x="6181725" y="3603624"/>
            <a:ext cx="1123950" cy="1524000"/>
            <a:chOff x="576" y="2784"/>
            <a:chExt cx="708" cy="960"/>
          </a:xfrm>
        </p:grpSpPr>
        <p:cxnSp>
          <p:nvCxnSpPr>
            <p:cNvPr id="297" name="Google Shape;297;p8"/>
            <p:cNvCxnSpPr/>
            <p:nvPr/>
          </p:nvCxnSpPr>
          <p:spPr>
            <a:xfrm flipH="1">
              <a:off x="576" y="2784"/>
              <a:ext cx="708" cy="96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298" name="Google Shape;298;p8"/>
            <p:cNvSpPr txBox="1"/>
            <p:nvPr/>
          </p:nvSpPr>
          <p:spPr>
            <a:xfrm>
              <a:off x="758" y="3420"/>
              <a:ext cx="2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 b="0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8"/>
          <p:cNvGrpSpPr/>
          <p:nvPr/>
        </p:nvGrpSpPr>
        <p:grpSpPr>
          <a:xfrm>
            <a:off x="7400926" y="879475"/>
            <a:ext cx="542925" cy="2438400"/>
            <a:chOff x="4368" y="432"/>
            <a:chExt cx="342" cy="1536"/>
          </a:xfrm>
        </p:grpSpPr>
        <p:cxnSp>
          <p:nvCxnSpPr>
            <p:cNvPr id="300" name="Google Shape;300;p8"/>
            <p:cNvCxnSpPr/>
            <p:nvPr/>
          </p:nvCxnSpPr>
          <p:spPr>
            <a:xfrm rot="10800000">
              <a:off x="4368" y="432"/>
              <a:ext cx="0" cy="1536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01" name="Google Shape;301;p8"/>
            <p:cNvSpPr txBox="1"/>
            <p:nvPr/>
          </p:nvSpPr>
          <p:spPr>
            <a:xfrm>
              <a:off x="4464" y="492"/>
              <a:ext cx="24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</p:grpSp>
      <p:grpSp>
        <p:nvGrpSpPr>
          <p:cNvPr id="302" name="Google Shape;302;p8"/>
          <p:cNvGrpSpPr/>
          <p:nvPr/>
        </p:nvGrpSpPr>
        <p:grpSpPr>
          <a:xfrm>
            <a:off x="6248400" y="5410200"/>
            <a:ext cx="4267200" cy="1219200"/>
            <a:chOff x="2592" y="3552"/>
            <a:chExt cx="2688" cy="768"/>
          </a:xfrm>
        </p:grpSpPr>
        <p:sp>
          <p:nvSpPr>
            <p:cNvPr id="303" name="Google Shape;303;p8"/>
            <p:cNvSpPr/>
            <p:nvPr/>
          </p:nvSpPr>
          <p:spPr>
            <a:xfrm>
              <a:off x="2592" y="3552"/>
              <a:ext cx="2688" cy="768"/>
            </a:xfrm>
            <a:prstGeom prst="rect">
              <a:avLst/>
            </a:prstGeom>
            <a:solidFill>
              <a:schemeClr val="hlink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4" name="Google Shape;304;p8"/>
            <p:cNvGrpSpPr/>
            <p:nvPr/>
          </p:nvGrpSpPr>
          <p:grpSpPr>
            <a:xfrm>
              <a:off x="2688" y="3648"/>
              <a:ext cx="246" cy="291"/>
              <a:chOff x="2774" y="3660"/>
              <a:chExt cx="246" cy="291"/>
            </a:xfrm>
          </p:grpSpPr>
          <p:sp>
            <p:nvSpPr>
              <p:cNvPr id="305" name="Google Shape;305;p8"/>
              <p:cNvSpPr txBox="1"/>
              <p:nvPr/>
            </p:nvSpPr>
            <p:spPr>
              <a:xfrm>
                <a:off x="2774" y="3660"/>
                <a:ext cx="246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 b="0" i="1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6" name="Google Shape;306;p8"/>
              <p:cNvCxnSpPr/>
              <p:nvPr/>
            </p:nvCxnSpPr>
            <p:spPr>
              <a:xfrm>
                <a:off x="2832" y="3732"/>
                <a:ext cx="144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07" name="Google Shape;307;p8"/>
            <p:cNvSpPr txBox="1"/>
            <p:nvPr/>
          </p:nvSpPr>
          <p:spPr>
            <a:xfrm>
              <a:off x="3072" y="3612"/>
              <a:ext cx="1788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está en la dirección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 eje z positiva</a:t>
              </a:r>
              <a:endParaRPr/>
            </a:p>
          </p:txBody>
        </p:sp>
      </p:grpSp>
      <p:grpSp>
        <p:nvGrpSpPr>
          <p:cNvPr id="308" name="Google Shape;308;p8"/>
          <p:cNvGrpSpPr/>
          <p:nvPr/>
        </p:nvGrpSpPr>
        <p:grpSpPr>
          <a:xfrm>
            <a:off x="7248526" y="-152400"/>
            <a:ext cx="339725" cy="3535363"/>
            <a:chOff x="3158" y="317"/>
            <a:chExt cx="214" cy="2227"/>
          </a:xfrm>
        </p:grpSpPr>
        <p:cxnSp>
          <p:nvCxnSpPr>
            <p:cNvPr id="309" name="Google Shape;309;p8"/>
            <p:cNvCxnSpPr/>
            <p:nvPr/>
          </p:nvCxnSpPr>
          <p:spPr>
            <a:xfrm>
              <a:off x="3264" y="624"/>
              <a:ext cx="0" cy="192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0" name="Google Shape;310;p8"/>
            <p:cNvSpPr/>
            <p:nvPr/>
          </p:nvSpPr>
          <p:spPr>
            <a:xfrm>
              <a:off x="3158" y="317"/>
              <a:ext cx="21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</p:grpSp>
      <p:sp>
        <p:nvSpPr>
          <p:cNvPr id="311" name="Google Shape;311;p8"/>
          <p:cNvSpPr txBox="1"/>
          <p:nvPr/>
        </p:nvSpPr>
        <p:spPr>
          <a:xfrm>
            <a:off x="1889126" y="-46038"/>
            <a:ext cx="18598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"/>
          <p:cNvSpPr txBox="1"/>
          <p:nvPr/>
        </p:nvSpPr>
        <p:spPr>
          <a:xfrm>
            <a:off x="2117725" y="228601"/>
            <a:ext cx="692689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93366"/>
                </a:solidFill>
                <a:latin typeface="Arial"/>
                <a:ea typeface="Arial"/>
                <a:cs typeface="Arial"/>
                <a:sym typeface="Arial"/>
              </a:rPr>
              <a:t>2.- Fuerza mínima y máxima sobre un electrón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93366"/>
                </a:solidFill>
                <a:latin typeface="Arial"/>
                <a:ea typeface="Arial"/>
                <a:cs typeface="Arial"/>
                <a:sym typeface="Arial"/>
              </a:rPr>
              <a:t>     que ingresa a un campo magnético constante.</a:t>
            </a:r>
            <a:endParaRPr/>
          </a:p>
        </p:txBody>
      </p:sp>
      <p:grpSp>
        <p:nvGrpSpPr>
          <p:cNvPr id="318" name="Google Shape;318;p9"/>
          <p:cNvGrpSpPr/>
          <p:nvPr/>
        </p:nvGrpSpPr>
        <p:grpSpPr>
          <a:xfrm>
            <a:off x="1828800" y="1981200"/>
            <a:ext cx="3810000" cy="2057400"/>
            <a:chOff x="192" y="1248"/>
            <a:chExt cx="2400" cy="1296"/>
          </a:xfrm>
        </p:grpSpPr>
        <p:sp>
          <p:nvSpPr>
            <p:cNvPr id="319" name="Google Shape;319;p9"/>
            <p:cNvSpPr/>
            <p:nvPr/>
          </p:nvSpPr>
          <p:spPr>
            <a:xfrm>
              <a:off x="192" y="1248"/>
              <a:ext cx="2400" cy="1296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9"/>
            <p:cNvSpPr txBox="1"/>
            <p:nvPr/>
          </p:nvSpPr>
          <p:spPr>
            <a:xfrm>
              <a:off x="278" y="1308"/>
              <a:ext cx="1897" cy="9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Datos: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Voltaje para acelerar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 carga : 2400 V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 = 1,7 T</a:t>
              </a:r>
              <a:endParaRPr/>
            </a:p>
          </p:txBody>
        </p:sp>
      </p:grpSp>
      <p:grpSp>
        <p:nvGrpSpPr>
          <p:cNvPr id="321" name="Google Shape;321;p9"/>
          <p:cNvGrpSpPr/>
          <p:nvPr/>
        </p:nvGrpSpPr>
        <p:grpSpPr>
          <a:xfrm>
            <a:off x="2209800" y="4495800"/>
            <a:ext cx="2209800" cy="1905000"/>
            <a:chOff x="432" y="2592"/>
            <a:chExt cx="1392" cy="1200"/>
          </a:xfrm>
        </p:grpSpPr>
        <p:sp>
          <p:nvSpPr>
            <p:cNvPr id="322" name="Google Shape;322;p9"/>
            <p:cNvSpPr/>
            <p:nvPr/>
          </p:nvSpPr>
          <p:spPr>
            <a:xfrm>
              <a:off x="432" y="2592"/>
              <a:ext cx="1392" cy="1200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9"/>
            <p:cNvSpPr txBox="1"/>
            <p:nvPr/>
          </p:nvSpPr>
          <p:spPr>
            <a:xfrm>
              <a:off x="614" y="2652"/>
              <a:ext cx="957" cy="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Incógnita: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0" baseline="-2500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?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r>
                <a:rPr b="0" baseline="-2500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?</a:t>
              </a:r>
              <a:endParaRPr/>
            </a:p>
          </p:txBody>
        </p:sp>
      </p:grpSp>
      <p:grpSp>
        <p:nvGrpSpPr>
          <p:cNvPr id="324" name="Google Shape;324;p9"/>
          <p:cNvGrpSpPr/>
          <p:nvPr/>
        </p:nvGrpSpPr>
        <p:grpSpPr>
          <a:xfrm>
            <a:off x="6400800" y="1390650"/>
            <a:ext cx="3810000" cy="2236788"/>
            <a:chOff x="3072" y="876"/>
            <a:chExt cx="2400" cy="1409"/>
          </a:xfrm>
        </p:grpSpPr>
        <p:cxnSp>
          <p:nvCxnSpPr>
            <p:cNvPr id="325" name="Google Shape;325;p9"/>
            <p:cNvCxnSpPr/>
            <p:nvPr/>
          </p:nvCxnSpPr>
          <p:spPr>
            <a:xfrm>
              <a:off x="3072" y="1296"/>
              <a:ext cx="225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326" name="Google Shape;326;p9"/>
            <p:cNvCxnSpPr/>
            <p:nvPr/>
          </p:nvCxnSpPr>
          <p:spPr>
            <a:xfrm>
              <a:off x="3120" y="1536"/>
              <a:ext cx="225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327" name="Google Shape;327;p9"/>
            <p:cNvCxnSpPr/>
            <p:nvPr/>
          </p:nvCxnSpPr>
          <p:spPr>
            <a:xfrm>
              <a:off x="3120" y="1776"/>
              <a:ext cx="225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328" name="Google Shape;328;p9"/>
            <p:cNvCxnSpPr/>
            <p:nvPr/>
          </p:nvCxnSpPr>
          <p:spPr>
            <a:xfrm>
              <a:off x="3168" y="2016"/>
              <a:ext cx="225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29" name="Google Shape;329;p9"/>
            <p:cNvSpPr txBox="1"/>
            <p:nvPr/>
          </p:nvSpPr>
          <p:spPr>
            <a:xfrm>
              <a:off x="5126" y="876"/>
              <a:ext cx="25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0" name="Google Shape;330;p9"/>
            <p:cNvGrpSpPr/>
            <p:nvPr/>
          </p:nvGrpSpPr>
          <p:grpSpPr>
            <a:xfrm>
              <a:off x="3744" y="1536"/>
              <a:ext cx="540" cy="749"/>
              <a:chOff x="3744" y="2832"/>
              <a:chExt cx="540" cy="749"/>
            </a:xfrm>
          </p:grpSpPr>
          <p:grpSp>
            <p:nvGrpSpPr>
              <p:cNvPr id="331" name="Google Shape;331;p9"/>
              <p:cNvGrpSpPr/>
              <p:nvPr/>
            </p:nvGrpSpPr>
            <p:grpSpPr>
              <a:xfrm>
                <a:off x="3744" y="3389"/>
                <a:ext cx="192" cy="192"/>
                <a:chOff x="3744" y="2592"/>
                <a:chExt cx="192" cy="192"/>
              </a:xfrm>
            </p:grpSpPr>
            <p:sp>
              <p:nvSpPr>
                <p:cNvPr id="332" name="Google Shape;332;p9"/>
                <p:cNvSpPr/>
                <p:nvPr/>
              </p:nvSpPr>
              <p:spPr>
                <a:xfrm>
                  <a:off x="3744" y="2592"/>
                  <a:ext cx="192" cy="192"/>
                </a:xfrm>
                <a:prstGeom prst="ellipse">
                  <a:avLst/>
                </a:prstGeom>
                <a:solidFill>
                  <a:schemeClr val="accent2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3" name="Google Shape;333;p9"/>
                <p:cNvCxnSpPr/>
                <p:nvPr/>
              </p:nvCxnSpPr>
              <p:spPr>
                <a:xfrm>
                  <a:off x="3792" y="2688"/>
                  <a:ext cx="96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chemeClr val="lt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334" name="Google Shape;334;p9"/>
              <p:cNvCxnSpPr/>
              <p:nvPr/>
            </p:nvCxnSpPr>
            <p:spPr>
              <a:xfrm flipH="1" rot="10800000">
                <a:off x="3900" y="3053"/>
                <a:ext cx="384" cy="384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335" name="Google Shape;335;p9"/>
              <p:cNvSpPr txBox="1"/>
              <p:nvPr/>
            </p:nvSpPr>
            <p:spPr>
              <a:xfrm>
                <a:off x="3932" y="2832"/>
                <a:ext cx="2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1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36" name="Google Shape;336;p9"/>
            <p:cNvCxnSpPr/>
            <p:nvPr/>
          </p:nvCxnSpPr>
          <p:spPr>
            <a:xfrm>
              <a:off x="3120" y="2208"/>
              <a:ext cx="235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337" name="Google Shape;337;p9"/>
            <p:cNvSpPr/>
            <p:nvPr/>
          </p:nvSpPr>
          <p:spPr>
            <a:xfrm>
              <a:off x="4032" y="2016"/>
              <a:ext cx="144" cy="192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9"/>
            <p:cNvSpPr txBox="1"/>
            <p:nvPr/>
          </p:nvSpPr>
          <p:spPr>
            <a:xfrm>
              <a:off x="4080" y="1879"/>
              <a:ext cx="21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 u="none" cap="none" strike="noStrike">
                  <a:solidFill>
                    <a:schemeClr val="dk1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θ</a:t>
              </a:r>
              <a:endParaRPr b="0" i="1" sz="24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39" name="Google Shape;339;p9"/>
          <p:cNvGrpSpPr/>
          <p:nvPr/>
        </p:nvGrpSpPr>
        <p:grpSpPr>
          <a:xfrm>
            <a:off x="5257800" y="4267200"/>
            <a:ext cx="5257800" cy="2514600"/>
            <a:chOff x="2256" y="2496"/>
            <a:chExt cx="3312" cy="1584"/>
          </a:xfrm>
        </p:grpSpPr>
        <p:sp>
          <p:nvSpPr>
            <p:cNvPr id="340" name="Google Shape;340;p9"/>
            <p:cNvSpPr/>
            <p:nvPr/>
          </p:nvSpPr>
          <p:spPr>
            <a:xfrm>
              <a:off x="2256" y="2496"/>
              <a:ext cx="3312" cy="1584"/>
            </a:xfrm>
            <a:prstGeom prst="rect">
              <a:avLst/>
            </a:prstGeom>
            <a:solidFill>
              <a:schemeClr val="hlink"/>
            </a:solidFill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1" name="Google Shape;341;p9"/>
            <p:cNvGrpSpPr/>
            <p:nvPr/>
          </p:nvGrpSpPr>
          <p:grpSpPr>
            <a:xfrm>
              <a:off x="2448" y="2496"/>
              <a:ext cx="2807" cy="1498"/>
              <a:chOff x="2448" y="2496"/>
              <a:chExt cx="2807" cy="1498"/>
            </a:xfrm>
          </p:grpSpPr>
          <p:sp>
            <p:nvSpPr>
              <p:cNvPr id="342" name="Google Shape;342;p9"/>
              <p:cNvSpPr txBox="1"/>
              <p:nvPr/>
            </p:nvSpPr>
            <p:spPr>
              <a:xfrm>
                <a:off x="2448" y="2496"/>
                <a:ext cx="18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0" baseline="-25000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min</a:t>
                </a:r>
                <a:r>
                  <a:rPr b="0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= 0    para </a:t>
                </a:r>
                <a:r>
                  <a:rPr b="0" i="0" lang="en-US" sz="2400" u="none" cap="none" strike="noStrike">
                    <a:solidFill>
                      <a:schemeClr val="dk1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θ = 0</a:t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9"/>
              <p:cNvSpPr txBox="1"/>
              <p:nvPr/>
            </p:nvSpPr>
            <p:spPr>
              <a:xfrm>
                <a:off x="2448" y="3156"/>
                <a:ext cx="699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</a:t>
                </a:r>
                <a:r>
                  <a:rPr b="0" baseline="-25000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max</a:t>
                </a:r>
                <a:r>
                  <a:rPr b="0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= </a:t>
                </a:r>
                <a:endParaRPr/>
              </a:p>
            </p:txBody>
          </p:sp>
          <p:sp>
            <p:nvSpPr>
              <p:cNvPr id="344" name="Google Shape;344;p9"/>
              <p:cNvSpPr txBox="1"/>
              <p:nvPr/>
            </p:nvSpPr>
            <p:spPr>
              <a:xfrm>
                <a:off x="4080" y="3108"/>
                <a:ext cx="1175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= </a:t>
                </a:r>
                <a:r>
                  <a:rPr b="0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 x 10</a:t>
                </a:r>
                <a:r>
                  <a:rPr b="0" baseline="30000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-12 </a:t>
                </a:r>
                <a:r>
                  <a:rPr b="0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</a:t>
                </a:r>
                <a:endParaRPr b="0" i="1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9"/>
              <p:cNvSpPr txBox="1"/>
              <p:nvPr/>
            </p:nvSpPr>
            <p:spPr>
              <a:xfrm>
                <a:off x="3446" y="3703"/>
                <a:ext cx="1172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Para </a:t>
                </a:r>
                <a:r>
                  <a:rPr b="0" i="0" lang="en-US" sz="2400" u="none" cap="none" strike="noStrike">
                    <a:solidFill>
                      <a:schemeClr val="dk1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θ = </a:t>
                </a:r>
                <a:r>
                  <a:rPr b="0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90</a:t>
                </a:r>
                <a:r>
                  <a:rPr b="0" baseline="30000" i="0" lang="en-US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o</a:t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46" name="Google Shape;346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168" y="2940"/>
                <a:ext cx="1008" cy="7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"/>
          <p:cNvSpPr txBox="1"/>
          <p:nvPr/>
        </p:nvSpPr>
        <p:spPr>
          <a:xfrm>
            <a:off x="1752600" y="404813"/>
            <a:ext cx="86106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Calcule el producto vectorial entre los vectores unitarios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2" name="Google Shape;3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7226" y="1162050"/>
            <a:ext cx="8740775" cy="50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3701" y="1577976"/>
            <a:ext cx="8785225" cy="4926013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1"/>
          <p:cNvSpPr txBox="1"/>
          <p:nvPr/>
        </p:nvSpPr>
        <p:spPr>
          <a:xfrm>
            <a:off x="1676400" y="152401"/>
            <a:ext cx="84582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Calcule el producto vectorial entre los vectores      y 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9" name="Google Shape;35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8851" y="115888"/>
            <a:ext cx="3968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91626" y="115889"/>
            <a:ext cx="455613" cy="60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51001" y="641351"/>
            <a:ext cx="8893175" cy="86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2"/>
          <p:cNvSpPr txBox="1"/>
          <p:nvPr/>
        </p:nvSpPr>
        <p:spPr>
          <a:xfrm>
            <a:off x="1752600" y="115889"/>
            <a:ext cx="85344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Otra forma de evaluar el producto vectorial es: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7" name="Google Shape;3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3388" y="890589"/>
            <a:ext cx="8208962" cy="5653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3"/>
          <p:cNvSpPr/>
          <p:nvPr/>
        </p:nvSpPr>
        <p:spPr>
          <a:xfrm>
            <a:off x="2057400" y="457200"/>
            <a:ext cx="7848600" cy="762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4508500" y="5029200"/>
            <a:ext cx="3810000" cy="1600200"/>
          </a:xfrm>
          <a:prstGeom prst="rect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2193925" y="531962"/>
            <a:ext cx="65165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Fuerza sobre un alambre recto con corriente I </a:t>
            </a:r>
            <a:endParaRPr/>
          </a:p>
        </p:txBody>
      </p:sp>
      <p:cxnSp>
        <p:nvCxnSpPr>
          <p:cNvPr id="376" name="Google Shape;376;p13"/>
          <p:cNvCxnSpPr/>
          <p:nvPr/>
        </p:nvCxnSpPr>
        <p:spPr>
          <a:xfrm>
            <a:off x="4660900" y="3505200"/>
            <a:ext cx="4572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13"/>
          <p:cNvCxnSpPr/>
          <p:nvPr/>
        </p:nvCxnSpPr>
        <p:spPr>
          <a:xfrm>
            <a:off x="4660900" y="3962400"/>
            <a:ext cx="4572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" name="Google Shape;378;p13"/>
          <p:cNvSpPr/>
          <p:nvPr/>
        </p:nvSpPr>
        <p:spPr>
          <a:xfrm>
            <a:off x="4584700" y="3505200"/>
            <a:ext cx="152400" cy="469900"/>
          </a:xfrm>
          <a:custGeom>
            <a:rect b="b" l="l" r="r" t="t"/>
            <a:pathLst>
              <a:path extrusionOk="0" h="296" w="96">
                <a:moveTo>
                  <a:pt x="48" y="0"/>
                </a:moveTo>
                <a:cubicBezTo>
                  <a:pt x="44" y="32"/>
                  <a:pt x="40" y="64"/>
                  <a:pt x="48" y="96"/>
                </a:cubicBezTo>
                <a:cubicBezTo>
                  <a:pt x="56" y="128"/>
                  <a:pt x="96" y="160"/>
                  <a:pt x="96" y="192"/>
                </a:cubicBezTo>
                <a:cubicBezTo>
                  <a:pt x="96" y="224"/>
                  <a:pt x="64" y="280"/>
                  <a:pt x="48" y="288"/>
                </a:cubicBezTo>
                <a:cubicBezTo>
                  <a:pt x="32" y="296"/>
                  <a:pt x="0" y="272"/>
                  <a:pt x="0" y="240"/>
                </a:cubicBezTo>
                <a:cubicBezTo>
                  <a:pt x="0" y="208"/>
                  <a:pt x="24" y="152"/>
                  <a:pt x="48" y="96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9156700" y="3505200"/>
            <a:ext cx="152400" cy="457200"/>
          </a:xfrm>
          <a:custGeom>
            <a:rect b="b" l="l" r="r" t="t"/>
            <a:pathLst>
              <a:path extrusionOk="0" h="288" w="96">
                <a:moveTo>
                  <a:pt x="48" y="0"/>
                </a:moveTo>
                <a:cubicBezTo>
                  <a:pt x="52" y="32"/>
                  <a:pt x="56" y="64"/>
                  <a:pt x="48" y="96"/>
                </a:cubicBezTo>
                <a:cubicBezTo>
                  <a:pt x="40" y="128"/>
                  <a:pt x="0" y="160"/>
                  <a:pt x="0" y="192"/>
                </a:cubicBezTo>
                <a:cubicBezTo>
                  <a:pt x="0" y="224"/>
                  <a:pt x="32" y="288"/>
                  <a:pt x="48" y="288"/>
                </a:cubicBezTo>
                <a:cubicBezTo>
                  <a:pt x="64" y="288"/>
                  <a:pt x="96" y="224"/>
                  <a:pt x="96" y="192"/>
                </a:cubicBezTo>
                <a:cubicBezTo>
                  <a:pt x="96" y="160"/>
                  <a:pt x="72" y="128"/>
                  <a:pt x="48" y="96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0" name="Google Shape;380;p13"/>
          <p:cNvCxnSpPr/>
          <p:nvPr/>
        </p:nvCxnSpPr>
        <p:spPr>
          <a:xfrm>
            <a:off x="4660900" y="4114800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13"/>
          <p:cNvCxnSpPr/>
          <p:nvPr/>
        </p:nvCxnSpPr>
        <p:spPr>
          <a:xfrm>
            <a:off x="9309100" y="4114800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13"/>
          <p:cNvCxnSpPr/>
          <p:nvPr/>
        </p:nvCxnSpPr>
        <p:spPr>
          <a:xfrm>
            <a:off x="4660900" y="4343400"/>
            <a:ext cx="46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83" name="Google Shape;383;p13"/>
          <p:cNvSpPr txBox="1"/>
          <p:nvPr/>
        </p:nvSpPr>
        <p:spPr>
          <a:xfrm>
            <a:off x="6570663" y="2954487"/>
            <a:ext cx="2535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4" name="Google Shape;384;p13"/>
          <p:cNvCxnSpPr/>
          <p:nvPr/>
        </p:nvCxnSpPr>
        <p:spPr>
          <a:xfrm>
            <a:off x="5880100" y="3733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5" name="Google Shape;385;p13"/>
          <p:cNvSpPr txBox="1"/>
          <p:nvPr/>
        </p:nvSpPr>
        <p:spPr>
          <a:xfrm>
            <a:off x="6864350" y="3487887"/>
            <a:ext cx="2696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pic>
        <p:nvPicPr>
          <p:cNvPr id="386" name="Google Shape;3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4501" y="4311650"/>
            <a:ext cx="296863" cy="56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7100" y="5257801"/>
            <a:ext cx="3359150" cy="11604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8" name="Google Shape;388;p13"/>
          <p:cNvGrpSpPr/>
          <p:nvPr/>
        </p:nvGrpSpPr>
        <p:grpSpPr>
          <a:xfrm>
            <a:off x="9880600" y="3352800"/>
            <a:ext cx="533400" cy="533400"/>
            <a:chOff x="4920" y="1440"/>
            <a:chExt cx="336" cy="336"/>
          </a:xfrm>
        </p:grpSpPr>
        <p:sp>
          <p:nvSpPr>
            <p:cNvPr id="389" name="Google Shape;389;p13"/>
            <p:cNvSpPr/>
            <p:nvPr/>
          </p:nvSpPr>
          <p:spPr>
            <a:xfrm>
              <a:off x="4920" y="1440"/>
              <a:ext cx="336" cy="336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0" name="Google Shape;390;p13"/>
            <p:cNvCxnSpPr/>
            <p:nvPr/>
          </p:nvCxnSpPr>
          <p:spPr>
            <a:xfrm flipH="1">
              <a:off x="4992" y="1536"/>
              <a:ext cx="192" cy="14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1" name="Google Shape;391;p13"/>
            <p:cNvCxnSpPr/>
            <p:nvPr/>
          </p:nvCxnSpPr>
          <p:spPr>
            <a:xfrm>
              <a:off x="4992" y="1536"/>
              <a:ext cx="192" cy="14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2" name="Google Shape;392;p13"/>
          <p:cNvSpPr txBox="1"/>
          <p:nvPr/>
        </p:nvSpPr>
        <p:spPr>
          <a:xfrm>
            <a:off x="9463088" y="2970362"/>
            <a:ext cx="407484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03439" y="1420814"/>
            <a:ext cx="2130425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3"/>
          <p:cNvSpPr/>
          <p:nvPr/>
        </p:nvSpPr>
        <p:spPr>
          <a:xfrm>
            <a:off x="1865313" y="1346200"/>
            <a:ext cx="2487612" cy="979488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5" name="Google Shape;395;p13"/>
          <p:cNvGrpSpPr/>
          <p:nvPr/>
        </p:nvGrpSpPr>
        <p:grpSpPr>
          <a:xfrm>
            <a:off x="6159500" y="1498600"/>
            <a:ext cx="2552700" cy="825500"/>
            <a:chOff x="4635500" y="1498599"/>
            <a:chExt cx="2552700" cy="825501"/>
          </a:xfrm>
        </p:grpSpPr>
        <p:sp>
          <p:nvSpPr>
            <p:cNvPr id="396" name="Google Shape;396;p13"/>
            <p:cNvSpPr/>
            <p:nvPr/>
          </p:nvSpPr>
          <p:spPr>
            <a:xfrm>
              <a:off x="4635500" y="1574800"/>
              <a:ext cx="2552700" cy="685800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7" name="Google Shape;397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663751" y="1498599"/>
              <a:ext cx="2448249" cy="8255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p14"/>
          <p:cNvGrpSpPr/>
          <p:nvPr/>
        </p:nvGrpSpPr>
        <p:grpSpPr>
          <a:xfrm>
            <a:off x="6553200" y="381000"/>
            <a:ext cx="838200" cy="4191000"/>
            <a:chOff x="1584" y="624"/>
            <a:chExt cx="528" cy="2640"/>
          </a:xfrm>
        </p:grpSpPr>
        <p:cxnSp>
          <p:nvCxnSpPr>
            <p:cNvPr id="404" name="Google Shape;404;p14"/>
            <p:cNvCxnSpPr/>
            <p:nvPr/>
          </p:nvCxnSpPr>
          <p:spPr>
            <a:xfrm flipH="1" rot="10800000">
              <a:off x="1584" y="624"/>
              <a:ext cx="528" cy="2640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5" name="Google Shape;405;p14"/>
            <p:cNvCxnSpPr/>
            <p:nvPr/>
          </p:nvCxnSpPr>
          <p:spPr>
            <a:xfrm flipH="1" rot="10800000">
              <a:off x="1836" y="1824"/>
              <a:ext cx="48" cy="192"/>
            </a:xfrm>
            <a:prstGeom prst="straightConnector1">
              <a:avLst/>
            </a:prstGeom>
            <a:noFill/>
            <a:ln cap="flat" cmpd="sng" w="508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406" name="Google Shape;406;p14"/>
          <p:cNvGrpSpPr/>
          <p:nvPr/>
        </p:nvGrpSpPr>
        <p:grpSpPr>
          <a:xfrm>
            <a:off x="8002589" y="228601"/>
            <a:ext cx="407987" cy="461963"/>
            <a:chOff x="1526" y="1373"/>
            <a:chExt cx="257" cy="291"/>
          </a:xfrm>
        </p:grpSpPr>
        <p:sp>
          <p:nvSpPr>
            <p:cNvPr id="407" name="Google Shape;407;p14"/>
            <p:cNvSpPr/>
            <p:nvPr/>
          </p:nvSpPr>
          <p:spPr>
            <a:xfrm>
              <a:off x="1526" y="1373"/>
              <a:ext cx="25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1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8" name="Google Shape;408;p14"/>
            <p:cNvCxnSpPr/>
            <p:nvPr/>
          </p:nvCxnSpPr>
          <p:spPr>
            <a:xfrm>
              <a:off x="1620" y="1416"/>
              <a:ext cx="96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9" name="Google Shape;409;p14"/>
          <p:cNvGrpSpPr/>
          <p:nvPr/>
        </p:nvGrpSpPr>
        <p:grpSpPr>
          <a:xfrm>
            <a:off x="5205414" y="668338"/>
            <a:ext cx="661987" cy="992188"/>
            <a:chOff x="1311" y="623"/>
            <a:chExt cx="417" cy="625"/>
          </a:xfrm>
        </p:grpSpPr>
        <p:grpSp>
          <p:nvGrpSpPr>
            <p:cNvPr id="410" name="Google Shape;410;p14"/>
            <p:cNvGrpSpPr/>
            <p:nvPr/>
          </p:nvGrpSpPr>
          <p:grpSpPr>
            <a:xfrm>
              <a:off x="1392" y="912"/>
              <a:ext cx="336" cy="336"/>
              <a:chOff x="912" y="1392"/>
              <a:chExt cx="336" cy="336"/>
            </a:xfrm>
          </p:grpSpPr>
          <p:sp>
            <p:nvSpPr>
              <p:cNvPr id="411" name="Google Shape;411;p14"/>
              <p:cNvSpPr/>
              <p:nvPr/>
            </p:nvSpPr>
            <p:spPr>
              <a:xfrm>
                <a:off x="912" y="1392"/>
                <a:ext cx="336" cy="336"/>
              </a:xfrm>
              <a:prstGeom prst="ellipse">
                <a:avLst/>
              </a:prstGeom>
              <a:solidFill>
                <a:srgbClr val="FFFFFF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14"/>
              <p:cNvSpPr/>
              <p:nvPr/>
            </p:nvSpPr>
            <p:spPr>
              <a:xfrm>
                <a:off x="1033" y="1536"/>
                <a:ext cx="59" cy="59"/>
              </a:xfrm>
              <a:prstGeom prst="ellipse">
                <a:avLst/>
              </a:pr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3" name="Google Shape;413;p14"/>
            <p:cNvSpPr txBox="1"/>
            <p:nvPr/>
          </p:nvSpPr>
          <p:spPr>
            <a:xfrm>
              <a:off x="1311" y="623"/>
              <a:ext cx="234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414" name="Google Shape;414;p14"/>
            <p:cNvCxnSpPr/>
            <p:nvPr/>
          </p:nvCxnSpPr>
          <p:spPr>
            <a:xfrm>
              <a:off x="1344" y="624"/>
              <a:ext cx="192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15" name="Google Shape;415;p14"/>
          <p:cNvGrpSpPr/>
          <p:nvPr/>
        </p:nvGrpSpPr>
        <p:grpSpPr>
          <a:xfrm>
            <a:off x="1828800" y="2590800"/>
            <a:ext cx="3429000" cy="2057400"/>
            <a:chOff x="192" y="1632"/>
            <a:chExt cx="2160" cy="1296"/>
          </a:xfrm>
        </p:grpSpPr>
        <p:sp>
          <p:nvSpPr>
            <p:cNvPr id="416" name="Google Shape;416;p14"/>
            <p:cNvSpPr/>
            <p:nvPr/>
          </p:nvSpPr>
          <p:spPr>
            <a:xfrm>
              <a:off x="192" y="1632"/>
              <a:ext cx="2160" cy="1296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7" name="Google Shape;41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8" y="1680"/>
              <a:ext cx="2016" cy="121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8" name="Google Shape;418;p14"/>
          <p:cNvGrpSpPr/>
          <p:nvPr/>
        </p:nvGrpSpPr>
        <p:grpSpPr>
          <a:xfrm>
            <a:off x="7162800" y="304800"/>
            <a:ext cx="838200" cy="4191000"/>
            <a:chOff x="1920" y="624"/>
            <a:chExt cx="528" cy="2640"/>
          </a:xfrm>
        </p:grpSpPr>
        <p:cxnSp>
          <p:nvCxnSpPr>
            <p:cNvPr id="419" name="Google Shape;419;p14"/>
            <p:cNvCxnSpPr/>
            <p:nvPr/>
          </p:nvCxnSpPr>
          <p:spPr>
            <a:xfrm flipH="1" rot="10800000">
              <a:off x="1920" y="624"/>
              <a:ext cx="528" cy="2640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0" name="Google Shape;420;p14"/>
            <p:cNvCxnSpPr/>
            <p:nvPr/>
          </p:nvCxnSpPr>
          <p:spPr>
            <a:xfrm flipH="1" rot="10800000">
              <a:off x="2172" y="1824"/>
              <a:ext cx="48" cy="192"/>
            </a:xfrm>
            <a:prstGeom prst="straightConnector1">
              <a:avLst/>
            </a:prstGeom>
            <a:noFill/>
            <a:ln cap="flat" cmpd="sng" w="508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421" name="Google Shape;421;p14"/>
          <p:cNvGrpSpPr/>
          <p:nvPr/>
        </p:nvGrpSpPr>
        <p:grpSpPr>
          <a:xfrm>
            <a:off x="8915400" y="381000"/>
            <a:ext cx="838200" cy="4191000"/>
            <a:chOff x="2208" y="672"/>
            <a:chExt cx="528" cy="2640"/>
          </a:xfrm>
        </p:grpSpPr>
        <p:cxnSp>
          <p:nvCxnSpPr>
            <p:cNvPr id="422" name="Google Shape;422;p14"/>
            <p:cNvCxnSpPr/>
            <p:nvPr/>
          </p:nvCxnSpPr>
          <p:spPr>
            <a:xfrm flipH="1" rot="10800000">
              <a:off x="2208" y="672"/>
              <a:ext cx="528" cy="2640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3" name="Google Shape;423;p14"/>
            <p:cNvCxnSpPr/>
            <p:nvPr/>
          </p:nvCxnSpPr>
          <p:spPr>
            <a:xfrm flipH="1" rot="10800000">
              <a:off x="2460" y="1872"/>
              <a:ext cx="48" cy="192"/>
            </a:xfrm>
            <a:prstGeom prst="straightConnector1">
              <a:avLst/>
            </a:prstGeom>
            <a:noFill/>
            <a:ln cap="flat" cmpd="sng" w="508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424" name="Google Shape;424;p14"/>
          <p:cNvGrpSpPr/>
          <p:nvPr/>
        </p:nvGrpSpPr>
        <p:grpSpPr>
          <a:xfrm>
            <a:off x="7772400" y="381000"/>
            <a:ext cx="838200" cy="4191000"/>
            <a:chOff x="2544" y="672"/>
            <a:chExt cx="528" cy="2640"/>
          </a:xfrm>
        </p:grpSpPr>
        <p:cxnSp>
          <p:nvCxnSpPr>
            <p:cNvPr id="425" name="Google Shape;425;p14"/>
            <p:cNvCxnSpPr/>
            <p:nvPr/>
          </p:nvCxnSpPr>
          <p:spPr>
            <a:xfrm flipH="1" rot="10800000">
              <a:off x="2544" y="672"/>
              <a:ext cx="528" cy="2640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6" name="Google Shape;426;p14"/>
            <p:cNvCxnSpPr/>
            <p:nvPr/>
          </p:nvCxnSpPr>
          <p:spPr>
            <a:xfrm flipH="1" rot="10800000">
              <a:off x="2796" y="1872"/>
              <a:ext cx="48" cy="192"/>
            </a:xfrm>
            <a:prstGeom prst="straightConnector1">
              <a:avLst/>
            </a:prstGeom>
            <a:noFill/>
            <a:ln cap="flat" cmpd="sng" w="508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427" name="Google Shape;427;p14"/>
          <p:cNvGrpSpPr/>
          <p:nvPr/>
        </p:nvGrpSpPr>
        <p:grpSpPr>
          <a:xfrm>
            <a:off x="8382000" y="457200"/>
            <a:ext cx="838200" cy="4191000"/>
            <a:chOff x="2928" y="672"/>
            <a:chExt cx="528" cy="2640"/>
          </a:xfrm>
        </p:grpSpPr>
        <p:cxnSp>
          <p:nvCxnSpPr>
            <p:cNvPr id="428" name="Google Shape;428;p14"/>
            <p:cNvCxnSpPr/>
            <p:nvPr/>
          </p:nvCxnSpPr>
          <p:spPr>
            <a:xfrm flipH="1" rot="10800000">
              <a:off x="2928" y="672"/>
              <a:ext cx="528" cy="2640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9" name="Google Shape;429;p14"/>
            <p:cNvCxnSpPr/>
            <p:nvPr/>
          </p:nvCxnSpPr>
          <p:spPr>
            <a:xfrm flipH="1" rot="10800000">
              <a:off x="3180" y="1872"/>
              <a:ext cx="48" cy="192"/>
            </a:xfrm>
            <a:prstGeom prst="straightConnector1">
              <a:avLst/>
            </a:prstGeom>
            <a:noFill/>
            <a:ln cap="flat" cmpd="sng" w="508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430" name="Google Shape;430;p14"/>
          <p:cNvGrpSpPr/>
          <p:nvPr/>
        </p:nvGrpSpPr>
        <p:grpSpPr>
          <a:xfrm>
            <a:off x="5943600" y="457200"/>
            <a:ext cx="838200" cy="4191000"/>
            <a:chOff x="3252" y="648"/>
            <a:chExt cx="528" cy="2640"/>
          </a:xfrm>
        </p:grpSpPr>
        <p:cxnSp>
          <p:nvCxnSpPr>
            <p:cNvPr id="431" name="Google Shape;431;p14"/>
            <p:cNvCxnSpPr/>
            <p:nvPr/>
          </p:nvCxnSpPr>
          <p:spPr>
            <a:xfrm flipH="1" rot="10800000">
              <a:off x="3252" y="648"/>
              <a:ext cx="528" cy="2640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2" name="Google Shape;432;p14"/>
            <p:cNvCxnSpPr/>
            <p:nvPr/>
          </p:nvCxnSpPr>
          <p:spPr>
            <a:xfrm flipH="1" rot="10800000">
              <a:off x="3504" y="1848"/>
              <a:ext cx="48" cy="192"/>
            </a:xfrm>
            <a:prstGeom prst="straightConnector1">
              <a:avLst/>
            </a:prstGeom>
            <a:noFill/>
            <a:ln cap="flat" cmpd="sng" w="508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433" name="Google Shape;433;p14"/>
          <p:cNvGrpSpPr/>
          <p:nvPr/>
        </p:nvGrpSpPr>
        <p:grpSpPr>
          <a:xfrm>
            <a:off x="9525000" y="381000"/>
            <a:ext cx="838200" cy="4191000"/>
            <a:chOff x="3552" y="624"/>
            <a:chExt cx="528" cy="2640"/>
          </a:xfrm>
        </p:grpSpPr>
        <p:cxnSp>
          <p:nvCxnSpPr>
            <p:cNvPr id="434" name="Google Shape;434;p14"/>
            <p:cNvCxnSpPr/>
            <p:nvPr/>
          </p:nvCxnSpPr>
          <p:spPr>
            <a:xfrm flipH="1" rot="10800000">
              <a:off x="3552" y="624"/>
              <a:ext cx="528" cy="2640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5" name="Google Shape;435;p14"/>
            <p:cNvCxnSpPr/>
            <p:nvPr/>
          </p:nvCxnSpPr>
          <p:spPr>
            <a:xfrm flipH="1" rot="10800000">
              <a:off x="3804" y="1824"/>
              <a:ext cx="48" cy="192"/>
            </a:xfrm>
            <a:prstGeom prst="straightConnector1">
              <a:avLst/>
            </a:prstGeom>
            <a:noFill/>
            <a:ln cap="flat" cmpd="sng" w="508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436" name="Google Shape;436;p14"/>
          <p:cNvGrpSpPr/>
          <p:nvPr/>
        </p:nvGrpSpPr>
        <p:grpSpPr>
          <a:xfrm>
            <a:off x="5257800" y="533400"/>
            <a:ext cx="838200" cy="4191000"/>
            <a:chOff x="3840" y="672"/>
            <a:chExt cx="528" cy="2640"/>
          </a:xfrm>
        </p:grpSpPr>
        <p:cxnSp>
          <p:nvCxnSpPr>
            <p:cNvPr id="437" name="Google Shape;437;p14"/>
            <p:cNvCxnSpPr/>
            <p:nvPr/>
          </p:nvCxnSpPr>
          <p:spPr>
            <a:xfrm flipH="1" rot="10800000">
              <a:off x="3840" y="672"/>
              <a:ext cx="528" cy="2640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8" name="Google Shape;438;p14"/>
            <p:cNvCxnSpPr/>
            <p:nvPr/>
          </p:nvCxnSpPr>
          <p:spPr>
            <a:xfrm flipH="1" rot="10800000">
              <a:off x="4092" y="1872"/>
              <a:ext cx="48" cy="192"/>
            </a:xfrm>
            <a:prstGeom prst="straightConnector1">
              <a:avLst/>
            </a:prstGeom>
            <a:noFill/>
            <a:ln cap="flat" cmpd="sng" w="508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439" name="Google Shape;439;p14"/>
          <p:cNvGrpSpPr/>
          <p:nvPr/>
        </p:nvGrpSpPr>
        <p:grpSpPr>
          <a:xfrm>
            <a:off x="6248400" y="1031781"/>
            <a:ext cx="3697121" cy="3578319"/>
            <a:chOff x="2904" y="674"/>
            <a:chExt cx="2329" cy="2254"/>
          </a:xfrm>
        </p:grpSpPr>
        <p:sp>
          <p:nvSpPr>
            <p:cNvPr id="440" name="Google Shape;440;p14"/>
            <p:cNvSpPr/>
            <p:nvPr/>
          </p:nvSpPr>
          <p:spPr>
            <a:xfrm>
              <a:off x="3168" y="1008"/>
              <a:ext cx="2016" cy="1920"/>
            </a:xfrm>
            <a:custGeom>
              <a:rect b="b" l="l" r="r" t="t"/>
              <a:pathLst>
                <a:path extrusionOk="0" h="1920" w="2016">
                  <a:moveTo>
                    <a:pt x="0" y="1920"/>
                  </a:moveTo>
                  <a:cubicBezTo>
                    <a:pt x="16" y="1572"/>
                    <a:pt x="32" y="1224"/>
                    <a:pt x="288" y="1008"/>
                  </a:cubicBezTo>
                  <a:cubicBezTo>
                    <a:pt x="544" y="792"/>
                    <a:pt x="1248" y="792"/>
                    <a:pt x="1536" y="624"/>
                  </a:cubicBezTo>
                  <a:cubicBezTo>
                    <a:pt x="1824" y="456"/>
                    <a:pt x="1920" y="228"/>
                    <a:pt x="2016" y="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4"/>
            <p:cNvSpPr/>
            <p:nvPr/>
          </p:nvSpPr>
          <p:spPr>
            <a:xfrm>
              <a:off x="3144" y="984"/>
              <a:ext cx="2016" cy="1920"/>
            </a:xfrm>
            <a:custGeom>
              <a:rect b="b" l="l" r="r" t="t"/>
              <a:pathLst>
                <a:path extrusionOk="0" h="1920" w="2016">
                  <a:moveTo>
                    <a:pt x="0" y="1920"/>
                  </a:moveTo>
                  <a:cubicBezTo>
                    <a:pt x="16" y="1572"/>
                    <a:pt x="32" y="1224"/>
                    <a:pt x="288" y="1008"/>
                  </a:cubicBezTo>
                  <a:cubicBezTo>
                    <a:pt x="544" y="792"/>
                    <a:pt x="1248" y="792"/>
                    <a:pt x="1536" y="624"/>
                  </a:cubicBezTo>
                  <a:cubicBezTo>
                    <a:pt x="1824" y="456"/>
                    <a:pt x="1920" y="228"/>
                    <a:pt x="2016" y="0"/>
                  </a:cubicBezTo>
                </a:path>
              </a:pathLst>
            </a:custGeom>
            <a:noFill/>
            <a:ln cap="flat" cmpd="sng" w="762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4"/>
            <p:cNvSpPr/>
            <p:nvPr/>
          </p:nvSpPr>
          <p:spPr>
            <a:xfrm>
              <a:off x="3096" y="972"/>
              <a:ext cx="2016" cy="1920"/>
            </a:xfrm>
            <a:custGeom>
              <a:rect b="b" l="l" r="r" t="t"/>
              <a:pathLst>
                <a:path extrusionOk="0" h="1920" w="2016">
                  <a:moveTo>
                    <a:pt x="0" y="1920"/>
                  </a:moveTo>
                  <a:cubicBezTo>
                    <a:pt x="16" y="1572"/>
                    <a:pt x="32" y="1224"/>
                    <a:pt x="288" y="1008"/>
                  </a:cubicBezTo>
                  <a:cubicBezTo>
                    <a:pt x="544" y="792"/>
                    <a:pt x="1248" y="792"/>
                    <a:pt x="1536" y="624"/>
                  </a:cubicBezTo>
                  <a:cubicBezTo>
                    <a:pt x="1824" y="456"/>
                    <a:pt x="1920" y="228"/>
                    <a:pt x="2016" y="0"/>
                  </a:cubicBezTo>
                </a:path>
              </a:pathLst>
            </a:custGeom>
            <a:noFill/>
            <a:ln cap="flat" cmpd="sng" w="762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4"/>
            <p:cNvSpPr/>
            <p:nvPr/>
          </p:nvSpPr>
          <p:spPr>
            <a:xfrm>
              <a:off x="2928" y="780"/>
              <a:ext cx="2016" cy="1920"/>
            </a:xfrm>
            <a:custGeom>
              <a:rect b="b" l="l" r="r" t="t"/>
              <a:pathLst>
                <a:path extrusionOk="0" h="1920" w="2016">
                  <a:moveTo>
                    <a:pt x="0" y="1920"/>
                  </a:moveTo>
                  <a:cubicBezTo>
                    <a:pt x="16" y="1572"/>
                    <a:pt x="32" y="1224"/>
                    <a:pt x="288" y="1008"/>
                  </a:cubicBezTo>
                  <a:cubicBezTo>
                    <a:pt x="544" y="792"/>
                    <a:pt x="1248" y="792"/>
                    <a:pt x="1536" y="624"/>
                  </a:cubicBezTo>
                  <a:cubicBezTo>
                    <a:pt x="1824" y="456"/>
                    <a:pt x="1920" y="228"/>
                    <a:pt x="2016" y="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4"/>
            <p:cNvSpPr/>
            <p:nvPr/>
          </p:nvSpPr>
          <p:spPr>
            <a:xfrm>
              <a:off x="2952" y="804"/>
              <a:ext cx="2016" cy="1920"/>
            </a:xfrm>
            <a:custGeom>
              <a:rect b="b" l="l" r="r" t="t"/>
              <a:pathLst>
                <a:path extrusionOk="0" h="1920" w="2016">
                  <a:moveTo>
                    <a:pt x="0" y="1920"/>
                  </a:moveTo>
                  <a:cubicBezTo>
                    <a:pt x="16" y="1572"/>
                    <a:pt x="32" y="1224"/>
                    <a:pt x="288" y="1008"/>
                  </a:cubicBezTo>
                  <a:cubicBezTo>
                    <a:pt x="544" y="792"/>
                    <a:pt x="1248" y="792"/>
                    <a:pt x="1536" y="624"/>
                  </a:cubicBezTo>
                  <a:cubicBezTo>
                    <a:pt x="1824" y="456"/>
                    <a:pt x="1920" y="228"/>
                    <a:pt x="2016" y="0"/>
                  </a:cubicBezTo>
                </a:path>
              </a:pathLst>
            </a:custGeom>
            <a:noFill/>
            <a:ln cap="flat" cmpd="sng" w="762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4"/>
            <p:cNvSpPr/>
            <p:nvPr/>
          </p:nvSpPr>
          <p:spPr>
            <a:xfrm>
              <a:off x="2988" y="840"/>
              <a:ext cx="2016" cy="1920"/>
            </a:xfrm>
            <a:custGeom>
              <a:rect b="b" l="l" r="r" t="t"/>
              <a:pathLst>
                <a:path extrusionOk="0" h="1920" w="2016">
                  <a:moveTo>
                    <a:pt x="0" y="1920"/>
                  </a:moveTo>
                  <a:cubicBezTo>
                    <a:pt x="16" y="1572"/>
                    <a:pt x="32" y="1224"/>
                    <a:pt x="288" y="1008"/>
                  </a:cubicBezTo>
                  <a:cubicBezTo>
                    <a:pt x="544" y="792"/>
                    <a:pt x="1248" y="792"/>
                    <a:pt x="1536" y="624"/>
                  </a:cubicBezTo>
                  <a:cubicBezTo>
                    <a:pt x="1824" y="456"/>
                    <a:pt x="1920" y="228"/>
                    <a:pt x="2016" y="0"/>
                  </a:cubicBezTo>
                </a:path>
              </a:pathLst>
            </a:custGeom>
            <a:noFill/>
            <a:ln cap="flat" cmpd="sng" w="762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4"/>
            <p:cNvSpPr/>
            <p:nvPr/>
          </p:nvSpPr>
          <p:spPr>
            <a:xfrm>
              <a:off x="3024" y="864"/>
              <a:ext cx="2016" cy="1920"/>
            </a:xfrm>
            <a:custGeom>
              <a:rect b="b" l="l" r="r" t="t"/>
              <a:pathLst>
                <a:path extrusionOk="0" h="1920" w="2016">
                  <a:moveTo>
                    <a:pt x="0" y="1920"/>
                  </a:moveTo>
                  <a:cubicBezTo>
                    <a:pt x="16" y="1572"/>
                    <a:pt x="32" y="1224"/>
                    <a:pt x="288" y="1008"/>
                  </a:cubicBezTo>
                  <a:cubicBezTo>
                    <a:pt x="544" y="792"/>
                    <a:pt x="1248" y="792"/>
                    <a:pt x="1536" y="624"/>
                  </a:cubicBezTo>
                  <a:cubicBezTo>
                    <a:pt x="1824" y="456"/>
                    <a:pt x="1920" y="228"/>
                    <a:pt x="2016" y="0"/>
                  </a:cubicBezTo>
                </a:path>
              </a:pathLst>
            </a:custGeom>
            <a:noFill/>
            <a:ln cap="flat" cmpd="sng" w="762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4"/>
            <p:cNvSpPr/>
            <p:nvPr/>
          </p:nvSpPr>
          <p:spPr>
            <a:xfrm>
              <a:off x="3048" y="900"/>
              <a:ext cx="2016" cy="1920"/>
            </a:xfrm>
            <a:custGeom>
              <a:rect b="b" l="l" r="r" t="t"/>
              <a:pathLst>
                <a:path extrusionOk="0" h="1920" w="2016">
                  <a:moveTo>
                    <a:pt x="0" y="1920"/>
                  </a:moveTo>
                  <a:cubicBezTo>
                    <a:pt x="16" y="1572"/>
                    <a:pt x="32" y="1224"/>
                    <a:pt x="288" y="1008"/>
                  </a:cubicBezTo>
                  <a:cubicBezTo>
                    <a:pt x="544" y="792"/>
                    <a:pt x="1248" y="792"/>
                    <a:pt x="1536" y="624"/>
                  </a:cubicBezTo>
                  <a:cubicBezTo>
                    <a:pt x="1824" y="456"/>
                    <a:pt x="1920" y="228"/>
                    <a:pt x="2016" y="0"/>
                  </a:cubicBezTo>
                </a:path>
              </a:pathLst>
            </a:custGeom>
            <a:noFill/>
            <a:ln cap="flat" cmpd="sng" w="762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4"/>
            <p:cNvSpPr/>
            <p:nvPr/>
          </p:nvSpPr>
          <p:spPr>
            <a:xfrm>
              <a:off x="3108" y="912"/>
              <a:ext cx="2016" cy="1920"/>
            </a:xfrm>
            <a:custGeom>
              <a:rect b="b" l="l" r="r" t="t"/>
              <a:pathLst>
                <a:path extrusionOk="0" h="1920" w="2016">
                  <a:moveTo>
                    <a:pt x="0" y="1920"/>
                  </a:moveTo>
                  <a:cubicBezTo>
                    <a:pt x="16" y="1572"/>
                    <a:pt x="32" y="1224"/>
                    <a:pt x="288" y="1008"/>
                  </a:cubicBezTo>
                  <a:cubicBezTo>
                    <a:pt x="544" y="792"/>
                    <a:pt x="1248" y="792"/>
                    <a:pt x="1536" y="624"/>
                  </a:cubicBezTo>
                  <a:cubicBezTo>
                    <a:pt x="1824" y="456"/>
                    <a:pt x="1920" y="228"/>
                    <a:pt x="2016" y="0"/>
                  </a:cubicBezTo>
                </a:path>
              </a:pathLst>
            </a:custGeom>
            <a:noFill/>
            <a:ln cap="flat" cmpd="sng" w="762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4"/>
            <p:cNvSpPr/>
            <p:nvPr/>
          </p:nvSpPr>
          <p:spPr>
            <a:xfrm>
              <a:off x="3072" y="960"/>
              <a:ext cx="2016" cy="1920"/>
            </a:xfrm>
            <a:custGeom>
              <a:rect b="b" l="l" r="r" t="t"/>
              <a:pathLst>
                <a:path extrusionOk="0" h="1920" w="2016">
                  <a:moveTo>
                    <a:pt x="0" y="1920"/>
                  </a:moveTo>
                  <a:cubicBezTo>
                    <a:pt x="16" y="1572"/>
                    <a:pt x="32" y="1224"/>
                    <a:pt x="288" y="1008"/>
                  </a:cubicBezTo>
                  <a:cubicBezTo>
                    <a:pt x="544" y="792"/>
                    <a:pt x="1248" y="792"/>
                    <a:pt x="1536" y="624"/>
                  </a:cubicBezTo>
                  <a:cubicBezTo>
                    <a:pt x="1824" y="456"/>
                    <a:pt x="1920" y="228"/>
                    <a:pt x="2016" y="0"/>
                  </a:cubicBezTo>
                </a:path>
              </a:pathLst>
            </a:custGeom>
            <a:noFill/>
            <a:ln cap="flat" cmpd="sng" w="762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4"/>
            <p:cNvSpPr/>
            <p:nvPr/>
          </p:nvSpPr>
          <p:spPr>
            <a:xfrm rot="-1851654">
              <a:off x="4956" y="696"/>
              <a:ext cx="192" cy="384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4"/>
            <p:cNvSpPr/>
            <p:nvPr/>
          </p:nvSpPr>
          <p:spPr>
            <a:xfrm>
              <a:off x="2904" y="2616"/>
              <a:ext cx="288" cy="288"/>
            </a:xfrm>
            <a:custGeom>
              <a:rect b="b" l="l" r="r" t="t"/>
              <a:pathLst>
                <a:path extrusionOk="0" h="288" w="288">
                  <a:moveTo>
                    <a:pt x="264" y="264"/>
                  </a:moveTo>
                  <a:cubicBezTo>
                    <a:pt x="288" y="240"/>
                    <a:pt x="256" y="112"/>
                    <a:pt x="216" y="72"/>
                  </a:cubicBezTo>
                  <a:cubicBezTo>
                    <a:pt x="176" y="32"/>
                    <a:pt x="48" y="0"/>
                    <a:pt x="24" y="24"/>
                  </a:cubicBezTo>
                  <a:cubicBezTo>
                    <a:pt x="0" y="48"/>
                    <a:pt x="32" y="176"/>
                    <a:pt x="72" y="216"/>
                  </a:cubicBezTo>
                  <a:cubicBezTo>
                    <a:pt x="112" y="256"/>
                    <a:pt x="240" y="288"/>
                    <a:pt x="264" y="264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2" name="Google Shape;452;p14"/>
          <p:cNvGrpSpPr/>
          <p:nvPr/>
        </p:nvGrpSpPr>
        <p:grpSpPr>
          <a:xfrm>
            <a:off x="9372596" y="990600"/>
            <a:ext cx="796925" cy="838200"/>
            <a:chOff x="4848" y="3120"/>
            <a:chExt cx="502" cy="528"/>
          </a:xfrm>
        </p:grpSpPr>
        <p:cxnSp>
          <p:nvCxnSpPr>
            <p:cNvPr id="453" name="Google Shape;453;p14"/>
            <p:cNvCxnSpPr/>
            <p:nvPr/>
          </p:nvCxnSpPr>
          <p:spPr>
            <a:xfrm flipH="1" rot="10800000">
              <a:off x="4848" y="3120"/>
              <a:ext cx="384" cy="528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454" name="Google Shape;454;p14"/>
            <p:cNvSpPr txBox="1"/>
            <p:nvPr/>
          </p:nvSpPr>
          <p:spPr>
            <a:xfrm>
              <a:off x="5180" y="3311"/>
              <a:ext cx="17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</p:txBody>
        </p:sp>
      </p:grpSp>
      <p:grpSp>
        <p:nvGrpSpPr>
          <p:cNvPr id="455" name="Google Shape;455;p14"/>
          <p:cNvGrpSpPr/>
          <p:nvPr/>
        </p:nvGrpSpPr>
        <p:grpSpPr>
          <a:xfrm>
            <a:off x="6858002" y="2667005"/>
            <a:ext cx="1106488" cy="627063"/>
            <a:chOff x="3312" y="3216"/>
            <a:chExt cx="697" cy="395"/>
          </a:xfrm>
        </p:grpSpPr>
        <p:cxnSp>
          <p:nvCxnSpPr>
            <p:cNvPr id="456" name="Google Shape;456;p14"/>
            <p:cNvCxnSpPr/>
            <p:nvPr/>
          </p:nvCxnSpPr>
          <p:spPr>
            <a:xfrm flipH="1" rot="10800000">
              <a:off x="3312" y="3216"/>
              <a:ext cx="384" cy="384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457" name="Google Shape;457;p14"/>
            <p:cNvSpPr txBox="1"/>
            <p:nvPr/>
          </p:nvSpPr>
          <p:spPr>
            <a:xfrm>
              <a:off x="3688" y="3320"/>
              <a:ext cx="32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ds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5"/>
          <p:cNvSpPr/>
          <p:nvPr/>
        </p:nvSpPr>
        <p:spPr>
          <a:xfrm rot="1173750">
            <a:off x="7014859" y="561804"/>
            <a:ext cx="391133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grpSp>
        <p:nvGrpSpPr>
          <p:cNvPr id="464" name="Google Shape;464;p15"/>
          <p:cNvGrpSpPr/>
          <p:nvPr/>
        </p:nvGrpSpPr>
        <p:grpSpPr>
          <a:xfrm>
            <a:off x="5562600" y="685800"/>
            <a:ext cx="4114800" cy="1371600"/>
            <a:chOff x="2544" y="432"/>
            <a:chExt cx="2592" cy="864"/>
          </a:xfrm>
        </p:grpSpPr>
        <p:cxnSp>
          <p:nvCxnSpPr>
            <p:cNvPr id="465" name="Google Shape;465;p15"/>
            <p:cNvCxnSpPr/>
            <p:nvPr/>
          </p:nvCxnSpPr>
          <p:spPr>
            <a:xfrm>
              <a:off x="2544" y="432"/>
              <a:ext cx="2592" cy="864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6" name="Google Shape;466;p15"/>
            <p:cNvCxnSpPr/>
            <p:nvPr/>
          </p:nvCxnSpPr>
          <p:spPr>
            <a:xfrm>
              <a:off x="3840" y="864"/>
              <a:ext cx="84" cy="24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467" name="Google Shape;467;p15"/>
          <p:cNvGrpSpPr/>
          <p:nvPr/>
        </p:nvGrpSpPr>
        <p:grpSpPr>
          <a:xfrm>
            <a:off x="5334000" y="1143000"/>
            <a:ext cx="4114800" cy="1371600"/>
            <a:chOff x="2400" y="720"/>
            <a:chExt cx="2592" cy="864"/>
          </a:xfrm>
        </p:grpSpPr>
        <p:cxnSp>
          <p:nvCxnSpPr>
            <p:cNvPr id="468" name="Google Shape;468;p15"/>
            <p:cNvCxnSpPr/>
            <p:nvPr/>
          </p:nvCxnSpPr>
          <p:spPr>
            <a:xfrm>
              <a:off x="2400" y="720"/>
              <a:ext cx="2592" cy="864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9" name="Google Shape;469;p15"/>
            <p:cNvCxnSpPr/>
            <p:nvPr/>
          </p:nvCxnSpPr>
          <p:spPr>
            <a:xfrm>
              <a:off x="3696" y="1152"/>
              <a:ext cx="84" cy="24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470" name="Google Shape;470;p15"/>
          <p:cNvGrpSpPr/>
          <p:nvPr/>
        </p:nvGrpSpPr>
        <p:grpSpPr>
          <a:xfrm>
            <a:off x="5105400" y="1600200"/>
            <a:ext cx="4114800" cy="1371600"/>
            <a:chOff x="2256" y="1008"/>
            <a:chExt cx="2592" cy="864"/>
          </a:xfrm>
        </p:grpSpPr>
        <p:cxnSp>
          <p:nvCxnSpPr>
            <p:cNvPr id="471" name="Google Shape;471;p15"/>
            <p:cNvCxnSpPr/>
            <p:nvPr/>
          </p:nvCxnSpPr>
          <p:spPr>
            <a:xfrm>
              <a:off x="2256" y="1008"/>
              <a:ext cx="2592" cy="864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2" name="Google Shape;472;p15"/>
            <p:cNvCxnSpPr/>
            <p:nvPr/>
          </p:nvCxnSpPr>
          <p:spPr>
            <a:xfrm>
              <a:off x="3552" y="1440"/>
              <a:ext cx="84" cy="24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473" name="Google Shape;473;p15"/>
          <p:cNvGrpSpPr/>
          <p:nvPr/>
        </p:nvGrpSpPr>
        <p:grpSpPr>
          <a:xfrm>
            <a:off x="4800600" y="2057400"/>
            <a:ext cx="4114800" cy="1371600"/>
            <a:chOff x="2064" y="1296"/>
            <a:chExt cx="2592" cy="864"/>
          </a:xfrm>
        </p:grpSpPr>
        <p:cxnSp>
          <p:nvCxnSpPr>
            <p:cNvPr id="474" name="Google Shape;474;p15"/>
            <p:cNvCxnSpPr/>
            <p:nvPr/>
          </p:nvCxnSpPr>
          <p:spPr>
            <a:xfrm>
              <a:off x="2064" y="1296"/>
              <a:ext cx="2592" cy="864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5" name="Google Shape;475;p15"/>
            <p:cNvCxnSpPr/>
            <p:nvPr/>
          </p:nvCxnSpPr>
          <p:spPr>
            <a:xfrm>
              <a:off x="3360" y="1728"/>
              <a:ext cx="84" cy="24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476" name="Google Shape;476;p15"/>
          <p:cNvGrpSpPr/>
          <p:nvPr/>
        </p:nvGrpSpPr>
        <p:grpSpPr>
          <a:xfrm>
            <a:off x="4572000" y="2514600"/>
            <a:ext cx="4114800" cy="1371600"/>
            <a:chOff x="1920" y="1584"/>
            <a:chExt cx="2592" cy="864"/>
          </a:xfrm>
        </p:grpSpPr>
        <p:cxnSp>
          <p:nvCxnSpPr>
            <p:cNvPr id="477" name="Google Shape;477;p15"/>
            <p:cNvCxnSpPr/>
            <p:nvPr/>
          </p:nvCxnSpPr>
          <p:spPr>
            <a:xfrm>
              <a:off x="1920" y="1584"/>
              <a:ext cx="2592" cy="864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8" name="Google Shape;478;p15"/>
            <p:cNvCxnSpPr/>
            <p:nvPr/>
          </p:nvCxnSpPr>
          <p:spPr>
            <a:xfrm>
              <a:off x="3216" y="2016"/>
              <a:ext cx="84" cy="24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479" name="Google Shape;479;p15"/>
          <p:cNvGrpSpPr/>
          <p:nvPr/>
        </p:nvGrpSpPr>
        <p:grpSpPr>
          <a:xfrm>
            <a:off x="4343400" y="3048000"/>
            <a:ext cx="4114800" cy="1371600"/>
            <a:chOff x="1776" y="1920"/>
            <a:chExt cx="2592" cy="864"/>
          </a:xfrm>
        </p:grpSpPr>
        <p:cxnSp>
          <p:nvCxnSpPr>
            <p:cNvPr id="480" name="Google Shape;480;p15"/>
            <p:cNvCxnSpPr/>
            <p:nvPr/>
          </p:nvCxnSpPr>
          <p:spPr>
            <a:xfrm>
              <a:off x="1776" y="1920"/>
              <a:ext cx="2592" cy="864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1" name="Google Shape;481;p15"/>
            <p:cNvCxnSpPr/>
            <p:nvPr/>
          </p:nvCxnSpPr>
          <p:spPr>
            <a:xfrm>
              <a:off x="3072" y="2352"/>
              <a:ext cx="84" cy="24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482" name="Google Shape;482;p15"/>
          <p:cNvGrpSpPr/>
          <p:nvPr/>
        </p:nvGrpSpPr>
        <p:grpSpPr>
          <a:xfrm>
            <a:off x="4114800" y="3505200"/>
            <a:ext cx="4114800" cy="1371600"/>
            <a:chOff x="1632" y="2208"/>
            <a:chExt cx="2592" cy="864"/>
          </a:xfrm>
        </p:grpSpPr>
        <p:cxnSp>
          <p:nvCxnSpPr>
            <p:cNvPr id="483" name="Google Shape;483;p15"/>
            <p:cNvCxnSpPr/>
            <p:nvPr/>
          </p:nvCxnSpPr>
          <p:spPr>
            <a:xfrm>
              <a:off x="1632" y="2208"/>
              <a:ext cx="2592" cy="864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4" name="Google Shape;484;p15"/>
            <p:cNvCxnSpPr/>
            <p:nvPr/>
          </p:nvCxnSpPr>
          <p:spPr>
            <a:xfrm>
              <a:off x="2928" y="2640"/>
              <a:ext cx="84" cy="24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485" name="Google Shape;485;p15"/>
          <p:cNvGrpSpPr/>
          <p:nvPr/>
        </p:nvGrpSpPr>
        <p:grpSpPr>
          <a:xfrm>
            <a:off x="3962400" y="3962400"/>
            <a:ext cx="4114800" cy="1371600"/>
            <a:chOff x="1536" y="2496"/>
            <a:chExt cx="2592" cy="864"/>
          </a:xfrm>
        </p:grpSpPr>
        <p:cxnSp>
          <p:nvCxnSpPr>
            <p:cNvPr id="486" name="Google Shape;486;p15"/>
            <p:cNvCxnSpPr/>
            <p:nvPr/>
          </p:nvCxnSpPr>
          <p:spPr>
            <a:xfrm>
              <a:off x="1536" y="2496"/>
              <a:ext cx="2592" cy="864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7" name="Google Shape;487;p15"/>
            <p:cNvCxnSpPr/>
            <p:nvPr/>
          </p:nvCxnSpPr>
          <p:spPr>
            <a:xfrm>
              <a:off x="2832" y="2928"/>
              <a:ext cx="84" cy="24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488" name="Google Shape;488;p15"/>
          <p:cNvGrpSpPr/>
          <p:nvPr/>
        </p:nvGrpSpPr>
        <p:grpSpPr>
          <a:xfrm>
            <a:off x="3733800" y="4419600"/>
            <a:ext cx="4114800" cy="1371600"/>
            <a:chOff x="1392" y="2784"/>
            <a:chExt cx="2592" cy="864"/>
          </a:xfrm>
        </p:grpSpPr>
        <p:cxnSp>
          <p:nvCxnSpPr>
            <p:cNvPr id="489" name="Google Shape;489;p15"/>
            <p:cNvCxnSpPr/>
            <p:nvPr/>
          </p:nvCxnSpPr>
          <p:spPr>
            <a:xfrm>
              <a:off x="1392" y="2784"/>
              <a:ext cx="2592" cy="864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0" name="Google Shape;490;p15"/>
            <p:cNvCxnSpPr/>
            <p:nvPr/>
          </p:nvCxnSpPr>
          <p:spPr>
            <a:xfrm>
              <a:off x="2688" y="3216"/>
              <a:ext cx="84" cy="24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491" name="Google Shape;491;p15"/>
          <p:cNvGrpSpPr/>
          <p:nvPr/>
        </p:nvGrpSpPr>
        <p:grpSpPr>
          <a:xfrm>
            <a:off x="3505200" y="4876800"/>
            <a:ext cx="4114800" cy="1371600"/>
            <a:chOff x="1248" y="3072"/>
            <a:chExt cx="2592" cy="864"/>
          </a:xfrm>
        </p:grpSpPr>
        <p:cxnSp>
          <p:nvCxnSpPr>
            <p:cNvPr id="492" name="Google Shape;492;p15"/>
            <p:cNvCxnSpPr/>
            <p:nvPr/>
          </p:nvCxnSpPr>
          <p:spPr>
            <a:xfrm>
              <a:off x="1248" y="3072"/>
              <a:ext cx="2592" cy="864"/>
            </a:xfrm>
            <a:prstGeom prst="straightConnector1">
              <a:avLst/>
            </a:prstGeom>
            <a:noFill/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3" name="Google Shape;493;p15"/>
            <p:cNvCxnSpPr/>
            <p:nvPr/>
          </p:nvCxnSpPr>
          <p:spPr>
            <a:xfrm>
              <a:off x="2544" y="3504"/>
              <a:ext cx="84" cy="24"/>
            </a:xfrm>
            <a:prstGeom prst="straightConnector1">
              <a:avLst/>
            </a:prstGeom>
            <a:noFill/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494" name="Google Shape;494;p15"/>
          <p:cNvGrpSpPr/>
          <p:nvPr/>
        </p:nvGrpSpPr>
        <p:grpSpPr>
          <a:xfrm>
            <a:off x="4041776" y="4618037"/>
            <a:ext cx="485775" cy="461962"/>
            <a:chOff x="1586" y="2909"/>
            <a:chExt cx="306" cy="291"/>
          </a:xfrm>
        </p:grpSpPr>
        <p:sp>
          <p:nvSpPr>
            <p:cNvPr id="495" name="Google Shape;495;p15"/>
            <p:cNvSpPr/>
            <p:nvPr/>
          </p:nvSpPr>
          <p:spPr>
            <a:xfrm>
              <a:off x="1804" y="3088"/>
              <a:ext cx="88" cy="8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1586" y="2909"/>
              <a:ext cx="22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  <p:grpSp>
        <p:nvGrpSpPr>
          <p:cNvPr id="497" name="Google Shape;497;p15"/>
          <p:cNvGrpSpPr/>
          <p:nvPr/>
        </p:nvGrpSpPr>
        <p:grpSpPr>
          <a:xfrm>
            <a:off x="8007357" y="1474788"/>
            <a:ext cx="582613" cy="461962"/>
            <a:chOff x="4084" y="929"/>
            <a:chExt cx="367" cy="291"/>
          </a:xfrm>
        </p:grpSpPr>
        <p:sp>
          <p:nvSpPr>
            <p:cNvPr id="498" name="Google Shape;498;p15"/>
            <p:cNvSpPr/>
            <p:nvPr/>
          </p:nvSpPr>
          <p:spPr>
            <a:xfrm>
              <a:off x="4084" y="1132"/>
              <a:ext cx="88" cy="8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4226" y="929"/>
              <a:ext cx="225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</p:grpSp>
      <p:cxnSp>
        <p:nvCxnSpPr>
          <p:cNvPr id="500" name="Google Shape;500;p15"/>
          <p:cNvCxnSpPr/>
          <p:nvPr/>
        </p:nvCxnSpPr>
        <p:spPr>
          <a:xfrm flipH="1" rot="10800000">
            <a:off x="4419600" y="1885950"/>
            <a:ext cx="3657600" cy="310515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01" name="Google Shape;501;p15"/>
          <p:cNvSpPr/>
          <p:nvPr/>
        </p:nvSpPr>
        <p:spPr>
          <a:xfrm>
            <a:off x="6156326" y="2560639"/>
            <a:ext cx="339837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endParaRPr/>
          </a:p>
        </p:txBody>
      </p:sp>
      <p:grpSp>
        <p:nvGrpSpPr>
          <p:cNvPr id="502" name="Google Shape;502;p15"/>
          <p:cNvGrpSpPr/>
          <p:nvPr/>
        </p:nvGrpSpPr>
        <p:grpSpPr>
          <a:xfrm>
            <a:off x="4418014" y="1871664"/>
            <a:ext cx="3659187" cy="3157537"/>
            <a:chOff x="1823" y="1179"/>
            <a:chExt cx="2305" cy="1989"/>
          </a:xfrm>
        </p:grpSpPr>
        <p:grpSp>
          <p:nvGrpSpPr>
            <p:cNvPr id="503" name="Google Shape;503;p15"/>
            <p:cNvGrpSpPr/>
            <p:nvPr/>
          </p:nvGrpSpPr>
          <p:grpSpPr>
            <a:xfrm>
              <a:off x="1823" y="1179"/>
              <a:ext cx="2305" cy="1989"/>
              <a:chOff x="1823" y="1179"/>
              <a:chExt cx="2305" cy="1989"/>
            </a:xfrm>
          </p:grpSpPr>
          <p:sp>
            <p:nvSpPr>
              <p:cNvPr id="504" name="Google Shape;504;p15"/>
              <p:cNvSpPr/>
              <p:nvPr/>
            </p:nvSpPr>
            <p:spPr>
              <a:xfrm rot="10800000">
                <a:off x="1823" y="2352"/>
                <a:ext cx="925" cy="816"/>
              </a:xfrm>
              <a:custGeom>
                <a:rect b="b" l="l" r="r" t="t"/>
                <a:pathLst>
                  <a:path extrusionOk="0" fill="none" h="21600" w="24488">
                    <a:moveTo>
                      <a:pt x="24488" y="0"/>
                    </a:moveTo>
                    <a:cubicBezTo>
                      <a:pt x="24488" y="11929"/>
                      <a:pt x="14817" y="21600"/>
                      <a:pt x="2888" y="21600"/>
                    </a:cubicBezTo>
                    <a:cubicBezTo>
                      <a:pt x="1922" y="21600"/>
                      <a:pt x="957" y="21535"/>
                      <a:pt x="-1" y="21406"/>
                    </a:cubicBezTo>
                  </a:path>
                  <a:path extrusionOk="0" h="21600" w="24488">
                    <a:moveTo>
                      <a:pt x="24488" y="0"/>
                    </a:moveTo>
                    <a:cubicBezTo>
                      <a:pt x="24488" y="11929"/>
                      <a:pt x="14817" y="21600"/>
                      <a:pt x="2888" y="21600"/>
                    </a:cubicBezTo>
                    <a:cubicBezTo>
                      <a:pt x="1922" y="21600"/>
                      <a:pt x="957" y="21535"/>
                      <a:pt x="-1" y="21406"/>
                    </a:cubicBezTo>
                    <a:lnTo>
                      <a:pt x="2888" y="0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15"/>
              <p:cNvSpPr/>
              <p:nvPr/>
            </p:nvSpPr>
            <p:spPr>
              <a:xfrm>
                <a:off x="2768" y="1179"/>
                <a:ext cx="1360" cy="1222"/>
              </a:xfrm>
              <a:custGeom>
                <a:rect b="b" l="l" r="r" t="t"/>
                <a:pathLst>
                  <a:path extrusionOk="0" fill="none" h="24374" w="27954">
                    <a:moveTo>
                      <a:pt x="27775" y="-1"/>
                    </a:moveTo>
                    <a:cubicBezTo>
                      <a:pt x="27894" y="919"/>
                      <a:pt x="27954" y="1846"/>
                      <a:pt x="27954" y="2774"/>
                    </a:cubicBezTo>
                    <a:cubicBezTo>
                      <a:pt x="27954" y="14703"/>
                      <a:pt x="18283" y="24374"/>
                      <a:pt x="6354" y="24374"/>
                    </a:cubicBezTo>
                    <a:cubicBezTo>
                      <a:pt x="4200" y="24374"/>
                      <a:pt x="2058" y="24051"/>
                      <a:pt x="-1" y="23418"/>
                    </a:cubicBezTo>
                  </a:path>
                  <a:path extrusionOk="0" h="24374" w="27954">
                    <a:moveTo>
                      <a:pt x="27775" y="-1"/>
                    </a:moveTo>
                    <a:cubicBezTo>
                      <a:pt x="27894" y="919"/>
                      <a:pt x="27954" y="1846"/>
                      <a:pt x="27954" y="2774"/>
                    </a:cubicBezTo>
                    <a:cubicBezTo>
                      <a:pt x="27954" y="14703"/>
                      <a:pt x="18283" y="24374"/>
                      <a:pt x="6354" y="24374"/>
                    </a:cubicBezTo>
                    <a:cubicBezTo>
                      <a:pt x="4200" y="24374"/>
                      <a:pt x="2058" y="24051"/>
                      <a:pt x="-1" y="23418"/>
                    </a:cubicBezTo>
                    <a:lnTo>
                      <a:pt x="6354" y="2774"/>
                    </a:lnTo>
                    <a:close/>
                  </a:path>
                </a:pathLst>
              </a:custGeom>
              <a:noFill/>
              <a:ln cap="rnd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06" name="Google Shape;506;p15"/>
            <p:cNvCxnSpPr/>
            <p:nvPr/>
          </p:nvCxnSpPr>
          <p:spPr>
            <a:xfrm flipH="1" rot="10800000">
              <a:off x="1824" y="2904"/>
              <a:ext cx="48" cy="168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07" name="Google Shape;507;p15"/>
            <p:cNvCxnSpPr/>
            <p:nvPr/>
          </p:nvCxnSpPr>
          <p:spPr>
            <a:xfrm flipH="1" rot="10800000">
              <a:off x="1902" y="2712"/>
              <a:ext cx="60" cy="12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08" name="Google Shape;508;p15"/>
            <p:cNvCxnSpPr/>
            <p:nvPr/>
          </p:nvCxnSpPr>
          <p:spPr>
            <a:xfrm flipH="1" rot="10800000">
              <a:off x="2034" y="2538"/>
              <a:ext cx="72" cy="78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09" name="Google Shape;509;p15"/>
            <p:cNvCxnSpPr/>
            <p:nvPr/>
          </p:nvCxnSpPr>
          <p:spPr>
            <a:xfrm flipH="1" rot="10800000">
              <a:off x="2214" y="2424"/>
              <a:ext cx="72" cy="48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10" name="Google Shape;510;p15"/>
            <p:cNvCxnSpPr/>
            <p:nvPr/>
          </p:nvCxnSpPr>
          <p:spPr>
            <a:xfrm flipH="1" rot="10800000">
              <a:off x="2736" y="2358"/>
              <a:ext cx="90" cy="6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11" name="Google Shape;511;p15"/>
            <p:cNvCxnSpPr/>
            <p:nvPr/>
          </p:nvCxnSpPr>
          <p:spPr>
            <a:xfrm flipH="1" rot="10800000">
              <a:off x="2436" y="2346"/>
              <a:ext cx="108" cy="24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12" name="Google Shape;512;p15"/>
            <p:cNvCxnSpPr/>
            <p:nvPr/>
          </p:nvCxnSpPr>
          <p:spPr>
            <a:xfrm flipH="1" rot="10800000">
              <a:off x="3024" y="2400"/>
              <a:ext cx="102" cy="6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13" name="Google Shape;513;p15"/>
            <p:cNvCxnSpPr/>
            <p:nvPr/>
          </p:nvCxnSpPr>
          <p:spPr>
            <a:xfrm flipH="1" rot="10800000">
              <a:off x="3306" y="2340"/>
              <a:ext cx="102" cy="48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14" name="Google Shape;514;p15"/>
            <p:cNvCxnSpPr/>
            <p:nvPr/>
          </p:nvCxnSpPr>
          <p:spPr>
            <a:xfrm flipH="1" rot="10800000">
              <a:off x="3546" y="2226"/>
              <a:ext cx="102" cy="66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15" name="Google Shape;515;p15"/>
            <p:cNvCxnSpPr/>
            <p:nvPr/>
          </p:nvCxnSpPr>
          <p:spPr>
            <a:xfrm flipH="1" rot="10800000">
              <a:off x="3744" y="2076"/>
              <a:ext cx="90" cy="84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16" name="Google Shape;516;p15"/>
            <p:cNvCxnSpPr/>
            <p:nvPr/>
          </p:nvCxnSpPr>
          <p:spPr>
            <a:xfrm flipH="1" rot="10800000">
              <a:off x="3924" y="1884"/>
              <a:ext cx="54" cy="9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17" name="Google Shape;517;p15"/>
            <p:cNvCxnSpPr/>
            <p:nvPr/>
          </p:nvCxnSpPr>
          <p:spPr>
            <a:xfrm flipH="1" rot="10800000">
              <a:off x="4038" y="1680"/>
              <a:ext cx="24" cy="102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18" name="Google Shape;518;p15"/>
            <p:cNvCxnSpPr/>
            <p:nvPr/>
          </p:nvCxnSpPr>
          <p:spPr>
            <a:xfrm flipH="1" rot="10800000">
              <a:off x="4098" y="1470"/>
              <a:ext cx="24" cy="102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19" name="Google Shape;519;p15"/>
            <p:cNvCxnSpPr/>
            <p:nvPr/>
          </p:nvCxnSpPr>
          <p:spPr>
            <a:xfrm rot="10800000">
              <a:off x="4122" y="1236"/>
              <a:ext cx="0" cy="78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520" name="Google Shape;520;p15"/>
          <p:cNvSpPr/>
          <p:nvPr/>
        </p:nvSpPr>
        <p:spPr>
          <a:xfrm>
            <a:off x="7299325" y="3627439"/>
            <a:ext cx="270908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</p:txBody>
      </p:sp>
      <p:sp>
        <p:nvSpPr>
          <p:cNvPr id="521" name="Google Shape;521;p15"/>
          <p:cNvSpPr/>
          <p:nvPr/>
        </p:nvSpPr>
        <p:spPr>
          <a:xfrm>
            <a:off x="4406900" y="3535364"/>
            <a:ext cx="511358" cy="46230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ds</a:t>
            </a:r>
            <a:endParaRPr/>
          </a:p>
        </p:txBody>
      </p:sp>
      <p:sp>
        <p:nvSpPr>
          <p:cNvPr id="522" name="Google Shape;522;p15"/>
          <p:cNvSpPr txBox="1"/>
          <p:nvPr/>
        </p:nvSpPr>
        <p:spPr>
          <a:xfrm>
            <a:off x="1922464" y="227162"/>
            <a:ext cx="182614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EJEMPLOS</a:t>
            </a:r>
            <a:endParaRPr/>
          </a:p>
        </p:txBody>
      </p:sp>
      <p:sp>
        <p:nvSpPr>
          <p:cNvPr id="523" name="Google Shape;523;p15"/>
          <p:cNvSpPr txBox="1"/>
          <p:nvPr/>
        </p:nvSpPr>
        <p:spPr>
          <a:xfrm>
            <a:off x="1695451" y="908755"/>
            <a:ext cx="328327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1.- Fuerza sobre una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corriente dentro de un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campo constante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5"/>
          <p:cNvSpPr txBox="1"/>
          <p:nvPr/>
        </p:nvSpPr>
        <p:spPr>
          <a:xfrm>
            <a:off x="1812926" y="159876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5" name="Google Shape;525;p15"/>
          <p:cNvGrpSpPr/>
          <p:nvPr/>
        </p:nvGrpSpPr>
        <p:grpSpPr>
          <a:xfrm>
            <a:off x="1752600" y="2438399"/>
            <a:ext cx="1981200" cy="1066800"/>
            <a:chOff x="144" y="1536"/>
            <a:chExt cx="1248" cy="672"/>
          </a:xfrm>
        </p:grpSpPr>
        <p:sp>
          <p:nvSpPr>
            <p:cNvPr id="526" name="Google Shape;526;p15"/>
            <p:cNvSpPr/>
            <p:nvPr/>
          </p:nvSpPr>
          <p:spPr>
            <a:xfrm>
              <a:off x="144" y="1536"/>
              <a:ext cx="1248" cy="672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5"/>
            <p:cNvSpPr txBox="1"/>
            <p:nvPr/>
          </p:nvSpPr>
          <p:spPr>
            <a:xfrm>
              <a:off x="256" y="1611"/>
              <a:ext cx="677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Datos: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I, </a:t>
              </a:r>
              <a:r>
                <a:rPr b="1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’ , </a:t>
              </a:r>
              <a:r>
                <a:rPr b="1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8" name="Google Shape;528;p15"/>
          <p:cNvGrpSpPr/>
          <p:nvPr/>
        </p:nvGrpSpPr>
        <p:grpSpPr>
          <a:xfrm>
            <a:off x="1752600" y="3657602"/>
            <a:ext cx="1981200" cy="1066800"/>
            <a:chOff x="144" y="2304"/>
            <a:chExt cx="1248" cy="672"/>
          </a:xfrm>
        </p:grpSpPr>
        <p:sp>
          <p:nvSpPr>
            <p:cNvPr id="529" name="Google Shape;529;p15"/>
            <p:cNvSpPr/>
            <p:nvPr/>
          </p:nvSpPr>
          <p:spPr>
            <a:xfrm>
              <a:off x="144" y="2304"/>
              <a:ext cx="1248" cy="672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5"/>
            <p:cNvSpPr txBox="1"/>
            <p:nvPr/>
          </p:nvSpPr>
          <p:spPr>
            <a:xfrm>
              <a:off x="238" y="2331"/>
              <a:ext cx="957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Incógnita: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 = ?</a:t>
              </a:r>
              <a:endParaRPr/>
            </a:p>
          </p:txBody>
        </p:sp>
      </p:grpSp>
      <p:grpSp>
        <p:nvGrpSpPr>
          <p:cNvPr id="531" name="Google Shape;531;p15"/>
          <p:cNvGrpSpPr/>
          <p:nvPr/>
        </p:nvGrpSpPr>
        <p:grpSpPr>
          <a:xfrm>
            <a:off x="1676400" y="5486400"/>
            <a:ext cx="3505200" cy="1219200"/>
            <a:chOff x="96" y="3456"/>
            <a:chExt cx="2208" cy="768"/>
          </a:xfrm>
        </p:grpSpPr>
        <p:sp>
          <p:nvSpPr>
            <p:cNvPr id="532" name="Google Shape;532;p15"/>
            <p:cNvSpPr/>
            <p:nvPr/>
          </p:nvSpPr>
          <p:spPr>
            <a:xfrm>
              <a:off x="96" y="3504"/>
              <a:ext cx="2208" cy="720"/>
            </a:xfrm>
            <a:prstGeom prst="rect">
              <a:avLst/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15"/>
            <p:cNvSpPr txBox="1"/>
            <p:nvPr/>
          </p:nvSpPr>
          <p:spPr>
            <a:xfrm>
              <a:off x="1622" y="3887"/>
              <a:ext cx="11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4" name="Google Shape;53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4" y="3456"/>
              <a:ext cx="2064" cy="65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6"/>
          <p:cNvSpPr txBox="1"/>
          <p:nvPr/>
        </p:nvSpPr>
        <p:spPr>
          <a:xfrm>
            <a:off x="2552700" y="468313"/>
            <a:ext cx="42941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8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9.1	Ley de Biot-Savart</a:t>
            </a:r>
            <a:endParaRPr b="1" i="0" sz="2400" u="none" cap="none" strike="noStrike">
              <a:solidFill>
                <a:srgbClr val="008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BD14710_" id="540" name="Google Shape;54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887413"/>
            <a:ext cx="8305800" cy="138112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6"/>
          <p:cNvSpPr txBox="1"/>
          <p:nvPr/>
        </p:nvSpPr>
        <p:spPr>
          <a:xfrm>
            <a:off x="2514600" y="1306514"/>
            <a:ext cx="7543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C9900"/>
                </a:solidFill>
                <a:latin typeface="Arial"/>
                <a:ea typeface="Arial"/>
                <a:cs typeface="Arial"/>
                <a:sym typeface="Arial"/>
              </a:rPr>
              <a:t>Campo magnético creado por cargas puntuales en movimiento</a:t>
            </a:r>
            <a:endParaRPr b="0" i="0" sz="2000" u="none" cap="none" strike="noStrike">
              <a:solidFill>
                <a:srgbClr val="CC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29-01" id="542" name="Google Shape;5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0801" y="1865313"/>
            <a:ext cx="4016375" cy="15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0" y="2220913"/>
            <a:ext cx="16129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16"/>
          <p:cNvSpPr txBox="1"/>
          <p:nvPr/>
        </p:nvSpPr>
        <p:spPr>
          <a:xfrm>
            <a:off x="2590800" y="3440114"/>
            <a:ext cx="7543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96633"/>
                </a:solidFill>
                <a:latin typeface="Arial"/>
                <a:ea typeface="Arial"/>
                <a:cs typeface="Arial"/>
                <a:sym typeface="Arial"/>
              </a:rPr>
              <a:t>Campo magnético creado por un elemento de corriente</a:t>
            </a:r>
            <a:endParaRPr b="0" i="0" sz="2000" u="none" cap="none" strike="noStrike">
              <a:solidFill>
                <a:srgbClr val="99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29-03" id="545" name="Google Shape;54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16200" y="3897313"/>
            <a:ext cx="40132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19950" y="4646613"/>
            <a:ext cx="1803400" cy="673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7" name="Google Shape;547;p16"/>
          <p:cNvGrpSpPr/>
          <p:nvPr/>
        </p:nvGrpSpPr>
        <p:grpSpPr>
          <a:xfrm>
            <a:off x="6096000" y="4983164"/>
            <a:ext cx="2819400" cy="1493837"/>
            <a:chOff x="2880" y="3139"/>
            <a:chExt cx="1776" cy="941"/>
          </a:xfrm>
        </p:grpSpPr>
        <p:cxnSp>
          <p:nvCxnSpPr>
            <p:cNvPr id="548" name="Google Shape;548;p16"/>
            <p:cNvCxnSpPr/>
            <p:nvPr/>
          </p:nvCxnSpPr>
          <p:spPr>
            <a:xfrm>
              <a:off x="3504" y="3139"/>
              <a:ext cx="156" cy="509"/>
            </a:xfrm>
            <a:prstGeom prst="bentConnector4">
              <a:avLst>
                <a:gd fmla="val -2860182" name="adj1"/>
                <a:gd fmla="val -616267" name="adj2"/>
              </a:avLst>
            </a:prstGeom>
            <a:noFill/>
            <a:ln cap="flat" cmpd="sng" w="38100">
              <a:solidFill>
                <a:srgbClr val="FF66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549" name="Google Shape;549;p16"/>
            <p:cNvSpPr txBox="1"/>
            <p:nvPr/>
          </p:nvSpPr>
          <p:spPr>
            <a:xfrm>
              <a:off x="2880" y="3792"/>
              <a:ext cx="177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CC3399"/>
                  </a:solidFill>
                  <a:latin typeface="Arial"/>
                  <a:ea typeface="Arial"/>
                  <a:cs typeface="Arial"/>
                  <a:sym typeface="Arial"/>
                </a:rPr>
                <a:t>Ley de Biot-Savart</a:t>
              </a:r>
              <a:endParaRPr b="0" i="0" sz="2400" u="none" cap="none" strike="noStrike">
                <a:solidFill>
                  <a:srgbClr val="CC33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0" name="Google Shape;550;p16"/>
          <p:cNvSpPr txBox="1"/>
          <p:nvPr/>
        </p:nvSpPr>
        <p:spPr>
          <a:xfrm rot="-5393777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Autores Mar Artigao Castillo, Manuel Sánchez Martínez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Dpto de Física Aplicada, Escuela Politécnica Superior de Albacete (UCLM)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7"/>
          <p:cNvSpPr txBox="1"/>
          <p:nvPr/>
        </p:nvSpPr>
        <p:spPr>
          <a:xfrm>
            <a:off x="2743200" y="762001"/>
            <a:ext cx="6705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7"/>
          <p:cNvSpPr txBox="1"/>
          <p:nvPr/>
        </p:nvSpPr>
        <p:spPr>
          <a:xfrm>
            <a:off x="2801938" y="1371601"/>
            <a:ext cx="21510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Constantes de proporcionalidad</a:t>
            </a:r>
            <a:endParaRPr b="0" i="0" sz="2000" u="none" cap="none" strike="noStrik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7" name="Google Shape;557;p17"/>
          <p:cNvGrpSpPr/>
          <p:nvPr/>
        </p:nvGrpSpPr>
        <p:grpSpPr>
          <a:xfrm>
            <a:off x="4943476" y="762001"/>
            <a:ext cx="4657725" cy="2378075"/>
            <a:chOff x="2154" y="480"/>
            <a:chExt cx="2934" cy="1498"/>
          </a:xfrm>
        </p:grpSpPr>
        <p:sp>
          <p:nvSpPr>
            <p:cNvPr id="558" name="Google Shape;558;p17"/>
            <p:cNvSpPr/>
            <p:nvPr/>
          </p:nvSpPr>
          <p:spPr>
            <a:xfrm>
              <a:off x="2154" y="480"/>
              <a:ext cx="48" cy="1344"/>
            </a:xfrm>
            <a:prstGeom prst="leftBracket">
              <a:avLst>
                <a:gd fmla="val 233333" name="adj"/>
              </a:avLst>
            </a:prstGeom>
            <a:noFill/>
            <a:ln cap="flat" cmpd="sng" w="28575">
              <a:solidFill>
                <a:srgbClr val="33CC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17"/>
            <p:cNvSpPr txBox="1"/>
            <p:nvPr/>
          </p:nvSpPr>
          <p:spPr>
            <a:xfrm>
              <a:off x="2352" y="681"/>
              <a:ext cx="177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r>
                <a:rPr b="0" i="0" lang="en-US" sz="2000" u="none" cap="none" strike="noStrike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</a:rPr>
                <a:t> = 10</a:t>
              </a:r>
              <a:r>
                <a:rPr b="0" baseline="30000" i="0" lang="en-US" sz="2000" u="none" cap="none" strike="noStrike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</a:rPr>
                <a:t>-7</a:t>
              </a:r>
              <a:r>
                <a:rPr b="0" i="0" lang="en-US" sz="2000" u="none" cap="none" strike="noStrike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</a:rPr>
                <a:t> N/A</a:t>
              </a:r>
              <a:r>
                <a:rPr b="0" baseline="30000" i="0" lang="en-US" sz="2000" u="none" cap="none" strike="noStrike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baseline="30000" i="0" sz="20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17"/>
            <p:cNvSpPr txBox="1"/>
            <p:nvPr/>
          </p:nvSpPr>
          <p:spPr>
            <a:xfrm>
              <a:off x="2352" y="1104"/>
              <a:ext cx="177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66CC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μ</a:t>
              </a:r>
              <a:r>
                <a:rPr b="0" baseline="-25000" i="0" lang="en-US" sz="2000" u="none" cap="none" strike="noStrike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r>
                <a:rPr b="0" i="0" lang="en-US" sz="2000" u="none" cap="none" strike="noStrike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</a:rPr>
                <a:t> = 4</a:t>
              </a:r>
              <a:r>
                <a:rPr b="0" i="0" lang="en-US" sz="2000" u="none" cap="none" strike="noStrike">
                  <a:solidFill>
                    <a:srgbClr val="0066CC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π</a:t>
              </a:r>
              <a:r>
                <a:rPr b="0" i="0" lang="en-US" sz="2000" u="none" cap="none" strike="noStrike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</a:rPr>
                <a:t>·10</a:t>
              </a:r>
              <a:r>
                <a:rPr b="0" baseline="30000" i="0" lang="en-US" sz="2000" u="none" cap="none" strike="noStrike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</a:rPr>
                <a:t>-7</a:t>
              </a:r>
              <a:r>
                <a:rPr b="0" i="0" lang="en-US" sz="2000" u="none" cap="none" strike="noStrike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</a:rPr>
                <a:t> T m/A</a:t>
              </a:r>
              <a:endParaRPr b="0" baseline="30000" i="0" sz="20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1" name="Google Shape;561;p17"/>
            <p:cNvCxnSpPr/>
            <p:nvPr/>
          </p:nvCxnSpPr>
          <p:spPr>
            <a:xfrm flipH="1" rot="-5400000">
              <a:off x="2616" y="1464"/>
              <a:ext cx="240" cy="192"/>
            </a:xfrm>
            <a:prstGeom prst="bentConnector3">
              <a:avLst>
                <a:gd fmla="val -599591" name="adj1"/>
              </a:avLst>
            </a:prstGeom>
            <a:noFill/>
            <a:ln cap="flat" cmpd="sng" w="28575">
              <a:solidFill>
                <a:srgbClr val="FF3399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562" name="Google Shape;562;p17"/>
            <p:cNvSpPr txBox="1"/>
            <p:nvPr/>
          </p:nvSpPr>
          <p:spPr>
            <a:xfrm>
              <a:off x="2640" y="1728"/>
              <a:ext cx="244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FF9933"/>
                  </a:solidFill>
                  <a:latin typeface="Arial"/>
                  <a:ea typeface="Arial"/>
                  <a:cs typeface="Arial"/>
                  <a:sym typeface="Arial"/>
                </a:rPr>
                <a:t>Permeabilidad del vacío</a:t>
              </a:r>
              <a:endParaRPr b="0" i="0" sz="2000" u="none" cap="none" strike="noStrike">
                <a:solidFill>
                  <a:srgbClr val="FF9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3" name="Google Shape;563;p17"/>
          <p:cNvGrpSpPr/>
          <p:nvPr/>
        </p:nvGrpSpPr>
        <p:grpSpPr>
          <a:xfrm>
            <a:off x="2895600" y="4327526"/>
            <a:ext cx="7162800" cy="1006475"/>
            <a:chOff x="864" y="2726"/>
            <a:chExt cx="4512" cy="634"/>
          </a:xfrm>
        </p:grpSpPr>
        <p:sp>
          <p:nvSpPr>
            <p:cNvPr id="564" name="Google Shape;564;p17"/>
            <p:cNvSpPr txBox="1"/>
            <p:nvPr/>
          </p:nvSpPr>
          <p:spPr>
            <a:xfrm>
              <a:off x="864" y="2726"/>
              <a:ext cx="4512" cy="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CC3300"/>
                  </a:solidFill>
                  <a:latin typeface="Arial"/>
                  <a:ea typeface="Arial"/>
                  <a:cs typeface="Arial"/>
                  <a:sym typeface="Arial"/>
                </a:rPr>
                <a:t>La fuente de campo eléctrico es la carga puntual (q), mientras que, para el campo magnético, es la carga móvil (qv) o un elemento de corriente (      ).</a:t>
              </a:r>
              <a:endParaRPr b="0" i="0" sz="2000" u="none" cap="none" strike="noStrik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65" name="Google Shape;565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00" y="3158"/>
              <a:ext cx="232" cy="1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6" name="Google Shape;566;p17"/>
          <p:cNvSpPr txBox="1"/>
          <p:nvPr/>
        </p:nvSpPr>
        <p:spPr>
          <a:xfrm rot="-5393777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Autores Mar Artigao Castillo, Manuel Sánchez Martínez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Dpto de Física Aplicada, Escuela Politécnica Superior de Albacete (UCLM)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8"/>
          <p:cNvSpPr txBox="1"/>
          <p:nvPr/>
        </p:nvSpPr>
        <p:spPr>
          <a:xfrm>
            <a:off x="2552700" y="468313"/>
            <a:ext cx="811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8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9.2	Campo magnético de una espira de corriente</a:t>
            </a:r>
            <a:endParaRPr b="1" i="0" sz="2400" u="none" cap="none" strike="noStrike">
              <a:solidFill>
                <a:srgbClr val="008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BD14710_" id="572" name="Google Shape;5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887413"/>
            <a:ext cx="8305800" cy="1381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3" name="Google Shape;573;p18"/>
          <p:cNvGrpSpPr/>
          <p:nvPr/>
        </p:nvGrpSpPr>
        <p:grpSpPr>
          <a:xfrm>
            <a:off x="2598738" y="1177926"/>
            <a:ext cx="3213100" cy="3141663"/>
            <a:chOff x="677" y="742"/>
            <a:chExt cx="2024" cy="1979"/>
          </a:xfrm>
        </p:grpSpPr>
        <p:sp>
          <p:nvSpPr>
            <p:cNvPr id="574" name="Google Shape;574;p18"/>
            <p:cNvSpPr txBox="1"/>
            <p:nvPr/>
          </p:nvSpPr>
          <p:spPr>
            <a:xfrm>
              <a:off x="2486" y="1848"/>
              <a:ext cx="21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8"/>
            <p:cNvSpPr/>
            <p:nvPr/>
          </p:nvSpPr>
          <p:spPr>
            <a:xfrm>
              <a:off x="846" y="1156"/>
              <a:ext cx="1483" cy="1419"/>
            </a:xfrm>
            <a:prstGeom prst="ellipse">
              <a:avLst/>
            </a:prstGeom>
            <a:noFill/>
            <a:ln cap="flat" cmpd="sng" w="571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6" name="Google Shape;576;p18"/>
            <p:cNvCxnSpPr/>
            <p:nvPr/>
          </p:nvCxnSpPr>
          <p:spPr>
            <a:xfrm>
              <a:off x="1591" y="783"/>
              <a:ext cx="0" cy="1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77" name="Google Shape;577;p18"/>
            <p:cNvCxnSpPr/>
            <p:nvPr/>
          </p:nvCxnSpPr>
          <p:spPr>
            <a:xfrm>
              <a:off x="677" y="1866"/>
              <a:ext cx="199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78" name="Google Shape;578;p18"/>
            <p:cNvSpPr txBox="1"/>
            <p:nvPr/>
          </p:nvSpPr>
          <p:spPr>
            <a:xfrm>
              <a:off x="1620" y="742"/>
              <a:ext cx="3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9" name="Google Shape;579;p18"/>
            <p:cNvCxnSpPr/>
            <p:nvPr/>
          </p:nvCxnSpPr>
          <p:spPr>
            <a:xfrm>
              <a:off x="1811" y="1033"/>
              <a:ext cx="292" cy="323"/>
            </a:xfrm>
            <a:prstGeom prst="straightConnector1">
              <a:avLst/>
            </a:prstGeom>
            <a:noFill/>
            <a:ln cap="flat" cmpd="sng" w="28575">
              <a:solidFill>
                <a:srgbClr val="CC33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80" name="Google Shape;580;p18"/>
            <p:cNvCxnSpPr/>
            <p:nvPr/>
          </p:nvCxnSpPr>
          <p:spPr>
            <a:xfrm flipH="1">
              <a:off x="1585" y="1358"/>
              <a:ext cx="519" cy="51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18"/>
            <p:cNvCxnSpPr/>
            <p:nvPr/>
          </p:nvCxnSpPr>
          <p:spPr>
            <a:xfrm flipH="1">
              <a:off x="1867" y="1361"/>
              <a:ext cx="237" cy="237"/>
            </a:xfrm>
            <a:prstGeom prst="straightConnector1">
              <a:avLst/>
            </a:prstGeom>
            <a:noFill/>
            <a:ln cap="flat" cmpd="sng" w="28575">
              <a:solidFill>
                <a:srgbClr val="0066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82" name="Google Shape;582;p18"/>
            <p:cNvSpPr/>
            <p:nvPr/>
          </p:nvSpPr>
          <p:spPr>
            <a:xfrm>
              <a:off x="1678" y="1790"/>
              <a:ext cx="64" cy="86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cap="flat" cmpd="sng" w="9525">
              <a:solidFill>
                <a:srgbClr val="00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18"/>
            <p:cNvSpPr txBox="1"/>
            <p:nvPr/>
          </p:nvSpPr>
          <p:spPr>
            <a:xfrm>
              <a:off x="1697" y="1652"/>
              <a:ext cx="18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99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α</a:t>
              </a:r>
              <a:endParaRPr b="0" i="0" sz="1800" u="none" cap="none" strike="noStrike">
                <a:solidFill>
                  <a:srgbClr val="0099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cxnSp>
          <p:nvCxnSpPr>
            <p:cNvPr id="584" name="Google Shape;584;p18"/>
            <p:cNvCxnSpPr/>
            <p:nvPr/>
          </p:nvCxnSpPr>
          <p:spPr>
            <a:xfrm rot="10800000">
              <a:off x="1768" y="1361"/>
              <a:ext cx="63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585" name="Google Shape;585;p18"/>
            <p:cNvSpPr/>
            <p:nvPr/>
          </p:nvSpPr>
          <p:spPr>
            <a:xfrm rot="10800000">
              <a:off x="1982" y="1361"/>
              <a:ext cx="58" cy="58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cap="flat" cmpd="sng" w="9525">
              <a:solidFill>
                <a:srgbClr val="00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18"/>
            <p:cNvSpPr txBox="1"/>
            <p:nvPr/>
          </p:nvSpPr>
          <p:spPr>
            <a:xfrm>
              <a:off x="1824" y="1285"/>
              <a:ext cx="18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99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α</a:t>
              </a:r>
              <a:endParaRPr b="0" i="0" sz="1800" u="none" cap="none" strike="noStrike">
                <a:solidFill>
                  <a:srgbClr val="0099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cxnSp>
          <p:nvCxnSpPr>
            <p:cNvPr id="587" name="Google Shape;587;p18"/>
            <p:cNvCxnSpPr/>
            <p:nvPr/>
          </p:nvCxnSpPr>
          <p:spPr>
            <a:xfrm>
              <a:off x="2107" y="971"/>
              <a:ext cx="0" cy="76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588" name="Google Shape;588;p18"/>
            <p:cNvSpPr/>
            <p:nvPr/>
          </p:nvSpPr>
          <p:spPr>
            <a:xfrm flipH="1">
              <a:off x="2027" y="1227"/>
              <a:ext cx="83" cy="45"/>
            </a:xfrm>
            <a:custGeom>
              <a:rect b="b" l="l" r="r" t="t"/>
              <a:pathLst>
                <a:path extrusionOk="0" fill="none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extrusionOk="0" h="21600" w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cap="flat" cmpd="sng" w="9525">
              <a:solidFill>
                <a:srgbClr val="00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8"/>
            <p:cNvSpPr txBox="1"/>
            <p:nvPr/>
          </p:nvSpPr>
          <p:spPr>
            <a:xfrm>
              <a:off x="1940" y="1023"/>
              <a:ext cx="18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 u="none" cap="none" strike="noStrike">
                  <a:solidFill>
                    <a:srgbClr val="0099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α</a:t>
              </a:r>
              <a:endParaRPr b="0" i="0" sz="1800" u="none" cap="none" strike="noStrike">
                <a:solidFill>
                  <a:srgbClr val="0099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pic>
          <p:nvPicPr>
            <p:cNvPr id="590" name="Google Shape;590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41" y="926"/>
              <a:ext cx="186" cy="1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1" name="Google Shape;591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76" y="1451"/>
              <a:ext cx="134" cy="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2" name="Google Shape;592;p18"/>
          <p:cNvSpPr txBox="1"/>
          <p:nvPr/>
        </p:nvSpPr>
        <p:spPr>
          <a:xfrm>
            <a:off x="2746376" y="4573589"/>
            <a:ext cx="3101975" cy="131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En una espira circular el elemento de corriente siempre es perpendicular al vector unitario</a:t>
            </a:r>
            <a:endParaRPr b="0" i="0" sz="2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3" name="Google Shape;593;p18"/>
          <p:cNvGrpSpPr/>
          <p:nvPr/>
        </p:nvGrpSpPr>
        <p:grpSpPr>
          <a:xfrm>
            <a:off x="4860926" y="3127376"/>
            <a:ext cx="4627563" cy="3730625"/>
            <a:chOff x="2102" y="1970"/>
            <a:chExt cx="2915" cy="2350"/>
          </a:xfrm>
        </p:grpSpPr>
        <p:sp>
          <p:nvSpPr>
            <p:cNvPr id="594" name="Google Shape;594;p18"/>
            <p:cNvSpPr/>
            <p:nvPr/>
          </p:nvSpPr>
          <p:spPr>
            <a:xfrm>
              <a:off x="2102" y="3657"/>
              <a:ext cx="1024" cy="292"/>
            </a:xfrm>
            <a:prstGeom prst="curvedUpArrow">
              <a:avLst>
                <a:gd fmla="val 70137" name="adj1"/>
                <a:gd fmla="val 140274" name="adj2"/>
                <a:gd fmla="val 33333" name="adj3"/>
              </a:avLst>
            </a:prstGeom>
            <a:gradFill>
              <a:gsLst>
                <a:gs pos="0">
                  <a:srgbClr val="FF9933"/>
                </a:gs>
                <a:gs pos="100000">
                  <a:srgbClr val="F0F4A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F29-04" id="595" name="Google Shape;595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70" y="1970"/>
              <a:ext cx="1947" cy="2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6" name="Google Shape;596;p18"/>
          <p:cNvGrpSpPr/>
          <p:nvPr/>
        </p:nvGrpSpPr>
        <p:grpSpPr>
          <a:xfrm>
            <a:off x="6894514" y="1887539"/>
            <a:ext cx="2060575" cy="1044575"/>
            <a:chOff x="3383" y="1189"/>
            <a:chExt cx="1298" cy="658"/>
          </a:xfrm>
        </p:grpSpPr>
        <p:pic>
          <p:nvPicPr>
            <p:cNvPr id="597" name="Google Shape;597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614" y="1286"/>
              <a:ext cx="778" cy="4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18"/>
            <p:cNvSpPr/>
            <p:nvPr/>
          </p:nvSpPr>
          <p:spPr>
            <a:xfrm>
              <a:off x="3383" y="1189"/>
              <a:ext cx="1298" cy="658"/>
            </a:xfrm>
            <a:prstGeom prst="rect">
              <a:avLst/>
            </a:prstGeom>
            <a:noFill/>
            <a:ln cap="flat" cmpd="sng" w="28575">
              <a:solidFill>
                <a:srgbClr val="0066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9" name="Google Shape;599;p18"/>
          <p:cNvSpPr txBox="1"/>
          <p:nvPr/>
        </p:nvSpPr>
        <p:spPr>
          <a:xfrm rot="-5393777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Autores Mar Artigao Castillo, Manuel Sánchez Martínez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Dpto de Física Aplicada, Escuela Politécnica Superior de Albacete (UCLM)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9"/>
          <p:cNvSpPr txBox="1"/>
          <p:nvPr/>
        </p:nvSpPr>
        <p:spPr>
          <a:xfrm>
            <a:off x="2743200" y="481013"/>
            <a:ext cx="71707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C0000"/>
                </a:solidFill>
                <a:latin typeface="Arial Narrow"/>
                <a:ea typeface="Arial Narrow"/>
                <a:cs typeface="Arial Narrow"/>
                <a:sym typeface="Arial Narrow"/>
              </a:rPr>
              <a:t>Líneas de campo magnético de una espira de corriente circular</a:t>
            </a:r>
            <a:endParaRPr b="1" i="0" sz="1800" u="none" cap="none" strike="noStrike">
              <a:solidFill>
                <a:srgbClr val="CC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descr="F29-06" id="605" name="Google Shape;6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8551" y="4129089"/>
            <a:ext cx="2479675" cy="247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29-20b" id="606" name="Google Shape;60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4801" y="1063625"/>
            <a:ext cx="4067175" cy="5335588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19"/>
          <p:cNvSpPr txBox="1"/>
          <p:nvPr/>
        </p:nvSpPr>
        <p:spPr>
          <a:xfrm rot="-5393777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Autores Mar Artigao Castillo, Manuel Sánchez Martínez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Dpto de Física Aplicada, Escuela Politécnica Superior de Albacete (UCLM)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0"/>
          <p:cNvSpPr txBox="1"/>
          <p:nvPr/>
        </p:nvSpPr>
        <p:spPr>
          <a:xfrm>
            <a:off x="4551364" y="565151"/>
            <a:ext cx="606742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Campo magnético creado por un arco de circunferencia en un punto de su eje.</a:t>
            </a:r>
            <a:endParaRPr b="1" i="0" sz="2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0"/>
          <p:cNvSpPr txBox="1"/>
          <p:nvPr/>
        </p:nvSpPr>
        <p:spPr>
          <a:xfrm>
            <a:off x="2554288" y="5224464"/>
            <a:ext cx="3251200" cy="100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Campo magnético creado por una espira circular en un punto de su eje (ϕ=2</a:t>
            </a:r>
            <a:r>
              <a:rPr b="0" i="0" lang="en-US" sz="2000" u="none" cap="none" strike="noStrike">
                <a:solidFill>
                  <a:srgbClr val="0099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b="0" i="0" lang="en-US" sz="2000" u="none" cap="none" strike="noStrike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 cap="none" strike="noStrike">
              <a:solidFill>
                <a:srgbClr val="00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0"/>
          <p:cNvSpPr txBox="1"/>
          <p:nvPr/>
        </p:nvSpPr>
        <p:spPr>
          <a:xfrm rot="-5393777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Autores Mar Artigao Castillo, Manuel Sánchez Martínez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Dpto de Física Aplicada, Escuela Politécnica Superior de Albacete (UCLM)</a:t>
            </a:r>
            <a:endParaRPr/>
          </a:p>
        </p:txBody>
      </p:sp>
      <p:grpSp>
        <p:nvGrpSpPr>
          <p:cNvPr id="615" name="Google Shape;615;p20"/>
          <p:cNvGrpSpPr/>
          <p:nvPr/>
        </p:nvGrpSpPr>
        <p:grpSpPr>
          <a:xfrm>
            <a:off x="4498976" y="3948113"/>
            <a:ext cx="5675313" cy="1103312"/>
            <a:chOff x="1874" y="2487"/>
            <a:chExt cx="3575" cy="695"/>
          </a:xfrm>
        </p:grpSpPr>
        <p:pic>
          <p:nvPicPr>
            <p:cNvPr id="616" name="Google Shape;616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15" y="2585"/>
              <a:ext cx="3304" cy="5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20"/>
            <p:cNvSpPr/>
            <p:nvPr/>
          </p:nvSpPr>
          <p:spPr>
            <a:xfrm>
              <a:off x="1874" y="2487"/>
              <a:ext cx="3575" cy="695"/>
            </a:xfrm>
            <a:prstGeom prst="rect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8" name="Google Shape;618;p20"/>
          <p:cNvGrpSpPr/>
          <p:nvPr/>
        </p:nvGrpSpPr>
        <p:grpSpPr>
          <a:xfrm>
            <a:off x="5819775" y="5226050"/>
            <a:ext cx="3862388" cy="1390650"/>
            <a:chOff x="2706" y="3292"/>
            <a:chExt cx="2433" cy="876"/>
          </a:xfrm>
        </p:grpSpPr>
        <p:sp>
          <p:nvSpPr>
            <p:cNvPr id="619" name="Google Shape;619;p20"/>
            <p:cNvSpPr/>
            <p:nvPr/>
          </p:nvSpPr>
          <p:spPr>
            <a:xfrm>
              <a:off x="2706" y="3903"/>
              <a:ext cx="603" cy="265"/>
            </a:xfrm>
            <a:prstGeom prst="curvedUpArrow">
              <a:avLst>
                <a:gd fmla="val 45509" name="adj1"/>
                <a:gd fmla="val 91019" name="adj2"/>
                <a:gd fmla="val 33333" name="adj3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0" name="Google Shape;620;p20"/>
            <p:cNvGrpSpPr/>
            <p:nvPr/>
          </p:nvGrpSpPr>
          <p:grpSpPr>
            <a:xfrm>
              <a:off x="3402" y="3292"/>
              <a:ext cx="1737" cy="695"/>
              <a:chOff x="3109" y="3255"/>
              <a:chExt cx="1737" cy="695"/>
            </a:xfrm>
          </p:grpSpPr>
          <p:pic>
            <p:nvPicPr>
              <p:cNvPr id="621" name="Google Shape;621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247" y="3314"/>
                <a:ext cx="1416" cy="53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2" name="Google Shape;622;p20"/>
              <p:cNvSpPr/>
              <p:nvPr/>
            </p:nvSpPr>
            <p:spPr>
              <a:xfrm>
                <a:off x="3109" y="3255"/>
                <a:ext cx="1737" cy="695"/>
              </a:xfrm>
              <a:prstGeom prst="rect">
                <a:avLst/>
              </a:prstGeom>
              <a:noFill/>
              <a:ln cap="flat" cmpd="sng" w="28575">
                <a:solidFill>
                  <a:srgbClr val="00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623" name="Google Shape;62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30463" y="531813"/>
            <a:ext cx="4565650" cy="3656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1"/>
          <p:cNvSpPr txBox="1"/>
          <p:nvPr/>
        </p:nvSpPr>
        <p:spPr>
          <a:xfrm>
            <a:off x="2638426" y="754064"/>
            <a:ext cx="73453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Campo magnético creado por una corriente rectilínea</a:t>
            </a:r>
            <a:endParaRPr b="1" i="0" sz="2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9" name="Google Shape;629;p21"/>
          <p:cNvGrpSpPr/>
          <p:nvPr/>
        </p:nvGrpSpPr>
        <p:grpSpPr>
          <a:xfrm>
            <a:off x="2733675" y="4148138"/>
            <a:ext cx="4013200" cy="2559050"/>
            <a:chOff x="762" y="2613"/>
            <a:chExt cx="2528" cy="1612"/>
          </a:xfrm>
        </p:grpSpPr>
        <p:pic>
          <p:nvPicPr>
            <p:cNvPr descr="F29-13b" id="630" name="Google Shape;63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" y="2613"/>
              <a:ext cx="2528" cy="136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31" name="Google Shape;631;p21"/>
            <p:cNvCxnSpPr/>
            <p:nvPr/>
          </p:nvCxnSpPr>
          <p:spPr>
            <a:xfrm>
              <a:off x="878" y="3989"/>
              <a:ext cx="22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632" name="Google Shape;632;p21"/>
            <p:cNvSpPr txBox="1"/>
            <p:nvPr/>
          </p:nvSpPr>
          <p:spPr>
            <a:xfrm>
              <a:off x="1780" y="3975"/>
              <a:ext cx="41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3" name="Google Shape;633;p21"/>
          <p:cNvSpPr txBox="1"/>
          <p:nvPr/>
        </p:nvSpPr>
        <p:spPr>
          <a:xfrm rot="-5393777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Autores Mar Artigao Castillo, Manuel Sánchez Martínez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Dpto de Física Aplicada, Escuela Politécnica Superior de Albacete (UCLM)</a:t>
            </a:r>
            <a:endParaRPr/>
          </a:p>
        </p:txBody>
      </p:sp>
      <p:grpSp>
        <p:nvGrpSpPr>
          <p:cNvPr id="634" name="Google Shape;634;p21"/>
          <p:cNvGrpSpPr/>
          <p:nvPr/>
        </p:nvGrpSpPr>
        <p:grpSpPr>
          <a:xfrm>
            <a:off x="7038975" y="4891088"/>
            <a:ext cx="2889250" cy="1204912"/>
            <a:chOff x="3474" y="3081"/>
            <a:chExt cx="1820" cy="759"/>
          </a:xfrm>
        </p:grpSpPr>
        <p:pic>
          <p:nvPicPr>
            <p:cNvPr id="635" name="Google Shape;635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83" y="3223"/>
              <a:ext cx="1592" cy="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6" name="Google Shape;636;p21"/>
            <p:cNvSpPr/>
            <p:nvPr/>
          </p:nvSpPr>
          <p:spPr>
            <a:xfrm>
              <a:off x="3474" y="3081"/>
              <a:ext cx="1820" cy="759"/>
            </a:xfrm>
            <a:prstGeom prst="rect">
              <a:avLst/>
            </a:prstGeom>
            <a:noFill/>
            <a:ln cap="flat" cmpd="sng" w="28575">
              <a:solidFill>
                <a:srgbClr val="0033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37" name="Google Shape;637;p21"/>
          <p:cNvCxnSpPr/>
          <p:nvPr/>
        </p:nvCxnSpPr>
        <p:spPr>
          <a:xfrm>
            <a:off x="4724400" y="3943350"/>
            <a:ext cx="141605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38" name="Google Shape;638;p21"/>
          <p:cNvSpPr txBox="1"/>
          <p:nvPr/>
        </p:nvSpPr>
        <p:spPr>
          <a:xfrm>
            <a:off x="5111750" y="3994151"/>
            <a:ext cx="5207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9" name="Google Shape;639;p21"/>
          <p:cNvGrpSpPr/>
          <p:nvPr/>
        </p:nvGrpSpPr>
        <p:grpSpPr>
          <a:xfrm>
            <a:off x="1335900" y="1396200"/>
            <a:ext cx="5347975" cy="2994825"/>
            <a:chOff x="608" y="560"/>
            <a:chExt cx="3636" cy="2561"/>
          </a:xfrm>
        </p:grpSpPr>
        <p:pic>
          <p:nvPicPr>
            <p:cNvPr descr="F29-13a" id="640" name="Google Shape;640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08" y="560"/>
              <a:ext cx="3636" cy="25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1" name="Google Shape;641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272" y="2460"/>
              <a:ext cx="216" cy="3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2"/>
          <p:cNvSpPr txBox="1"/>
          <p:nvPr/>
        </p:nvSpPr>
        <p:spPr>
          <a:xfrm>
            <a:off x="2844801" y="638175"/>
            <a:ext cx="46005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C0000"/>
                </a:solidFill>
                <a:latin typeface="Arial Narrow"/>
                <a:ea typeface="Arial Narrow"/>
                <a:cs typeface="Arial Narrow"/>
                <a:sym typeface="Arial Narrow"/>
              </a:rPr>
              <a:t>Casos particulares</a:t>
            </a:r>
            <a:endParaRPr b="1" i="0" sz="1800" u="none" cap="none" strike="noStrike">
              <a:solidFill>
                <a:srgbClr val="CC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47" name="Google Shape;647;p22"/>
          <p:cNvSpPr txBox="1"/>
          <p:nvPr/>
        </p:nvSpPr>
        <p:spPr>
          <a:xfrm>
            <a:off x="2921001" y="1985964"/>
            <a:ext cx="18716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En este caso</a:t>
            </a:r>
            <a:endParaRPr b="0" i="0" sz="2000" u="none" cap="none" strike="noStrik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8" name="Google Shape;6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1263" y="1897063"/>
            <a:ext cx="2755900" cy="10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22"/>
          <p:cNvSpPr txBox="1"/>
          <p:nvPr/>
        </p:nvSpPr>
        <p:spPr>
          <a:xfrm>
            <a:off x="2921001" y="5057776"/>
            <a:ext cx="18716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En este caso</a:t>
            </a:r>
            <a:endParaRPr b="0" i="0" sz="2000" u="none" cap="none" strike="noStrik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0" name="Google Shape;65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7275" y="4818063"/>
            <a:ext cx="749300" cy="11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22"/>
          <p:cNvSpPr txBox="1"/>
          <p:nvPr/>
        </p:nvSpPr>
        <p:spPr>
          <a:xfrm rot="-5393777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Autores Mar Artigao Castillo, Manuel Sánchez Martínez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Dpto de Física Aplicada, Escuela Politécnica Superior de Albacete (UCLM)</a:t>
            </a:r>
            <a:endParaRPr/>
          </a:p>
        </p:txBody>
      </p:sp>
      <p:pic>
        <p:nvPicPr>
          <p:cNvPr descr="a046" id="652" name="Google Shape;65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0789" y="776289"/>
            <a:ext cx="3311525" cy="384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3" name="Google Shape;653;p22"/>
          <p:cNvGrpSpPr/>
          <p:nvPr/>
        </p:nvGrpSpPr>
        <p:grpSpPr>
          <a:xfrm>
            <a:off x="2473325" y="1362076"/>
            <a:ext cx="6540500" cy="396875"/>
            <a:chOff x="598" y="858"/>
            <a:chExt cx="4120" cy="250"/>
          </a:xfrm>
        </p:grpSpPr>
        <p:sp>
          <p:nvSpPr>
            <p:cNvPr id="654" name="Google Shape;654;p22"/>
            <p:cNvSpPr txBox="1"/>
            <p:nvPr/>
          </p:nvSpPr>
          <p:spPr>
            <a:xfrm>
              <a:off x="640" y="858"/>
              <a:ext cx="407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000" u="none" cap="none" strike="noStrike">
                  <a:solidFill>
                    <a:srgbClr val="336600"/>
                  </a:solidFill>
                  <a:latin typeface="Arial"/>
                  <a:ea typeface="Arial"/>
                  <a:cs typeface="Arial"/>
                  <a:sym typeface="Arial"/>
                </a:rPr>
                <a:t>Campo magnético en un punto de la mediatriz</a:t>
              </a:r>
              <a:endParaRPr b="1" i="1" sz="2000" u="none" cap="none" strike="noStrike">
                <a:solidFill>
                  <a:srgbClr val="3366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bgred02" id="655" name="Google Shape;655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8" y="929"/>
              <a:ext cx="86" cy="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56" name="Google Shape;656;p22"/>
          <p:cNvGrpSpPr/>
          <p:nvPr/>
        </p:nvGrpSpPr>
        <p:grpSpPr>
          <a:xfrm>
            <a:off x="4862514" y="3076575"/>
            <a:ext cx="2365375" cy="1176338"/>
            <a:chOff x="2103" y="1938"/>
            <a:chExt cx="1490" cy="741"/>
          </a:xfrm>
        </p:grpSpPr>
        <p:pic>
          <p:nvPicPr>
            <p:cNvPr id="657" name="Google Shape;657;p2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60" y="2016"/>
              <a:ext cx="1144" cy="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8" name="Google Shape;658;p22"/>
            <p:cNvSpPr/>
            <p:nvPr/>
          </p:nvSpPr>
          <p:spPr>
            <a:xfrm>
              <a:off x="2103" y="1938"/>
              <a:ext cx="1490" cy="741"/>
            </a:xfrm>
            <a:prstGeom prst="rect">
              <a:avLst/>
            </a:prstGeom>
            <a:noFill/>
            <a:ln cap="flat" cmpd="sng" w="28575">
              <a:solidFill>
                <a:srgbClr val="0033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9" name="Google Shape;659;p22"/>
          <p:cNvGrpSpPr/>
          <p:nvPr/>
        </p:nvGrpSpPr>
        <p:grpSpPr>
          <a:xfrm>
            <a:off x="2473325" y="4413251"/>
            <a:ext cx="7646988" cy="396875"/>
            <a:chOff x="598" y="2780"/>
            <a:chExt cx="4817" cy="250"/>
          </a:xfrm>
        </p:grpSpPr>
        <p:sp>
          <p:nvSpPr>
            <p:cNvPr id="660" name="Google Shape;660;p22"/>
            <p:cNvSpPr txBox="1"/>
            <p:nvPr/>
          </p:nvSpPr>
          <p:spPr>
            <a:xfrm>
              <a:off x="640" y="2780"/>
              <a:ext cx="477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000" u="none" cap="none" strike="noStrike">
                  <a:solidFill>
                    <a:srgbClr val="336600"/>
                  </a:solidFill>
                  <a:latin typeface="Arial"/>
                  <a:ea typeface="Arial"/>
                  <a:cs typeface="Arial"/>
                  <a:sym typeface="Arial"/>
                </a:rPr>
                <a:t>Campo magnético creado por una corriente infinita</a:t>
              </a:r>
              <a:endParaRPr b="1" i="1" sz="2000" u="none" cap="none" strike="noStrike">
                <a:solidFill>
                  <a:srgbClr val="3366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bgred02" id="661" name="Google Shape;661;p2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98" y="2853"/>
              <a:ext cx="86" cy="8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2" name="Google Shape;662;p22"/>
          <p:cNvGrpSpPr/>
          <p:nvPr/>
        </p:nvGrpSpPr>
        <p:grpSpPr>
          <a:xfrm>
            <a:off x="7170738" y="5283201"/>
            <a:ext cx="1566862" cy="885825"/>
            <a:chOff x="3557" y="3328"/>
            <a:chExt cx="987" cy="558"/>
          </a:xfrm>
        </p:grpSpPr>
        <p:pic>
          <p:nvPicPr>
            <p:cNvPr id="663" name="Google Shape;663;p2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638" y="3393"/>
              <a:ext cx="792" cy="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22"/>
            <p:cNvSpPr/>
            <p:nvPr/>
          </p:nvSpPr>
          <p:spPr>
            <a:xfrm>
              <a:off x="3557" y="3328"/>
              <a:ext cx="987" cy="558"/>
            </a:xfrm>
            <a:prstGeom prst="rect">
              <a:avLst/>
            </a:prstGeom>
            <a:noFill/>
            <a:ln cap="flat" cmpd="sng" w="28575">
              <a:solidFill>
                <a:srgbClr val="0033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3"/>
          <p:cNvSpPr txBox="1"/>
          <p:nvPr/>
        </p:nvSpPr>
        <p:spPr>
          <a:xfrm>
            <a:off x="2166939" y="501650"/>
            <a:ext cx="81867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C3300"/>
                </a:solidFill>
                <a:latin typeface="Arial Narrow"/>
                <a:ea typeface="Arial Narrow"/>
                <a:cs typeface="Arial Narrow"/>
                <a:sym typeface="Arial Narrow"/>
              </a:rPr>
              <a:t>Cálculo de campos magnéticos debidos a segmentos semiinfinitos</a:t>
            </a:r>
            <a:endParaRPr b="1" i="0" sz="1800" u="none" cap="none" strike="noStrike">
              <a:solidFill>
                <a:srgbClr val="CC33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670" name="Google Shape;670;p23"/>
          <p:cNvGrpSpPr/>
          <p:nvPr/>
        </p:nvGrpSpPr>
        <p:grpSpPr>
          <a:xfrm>
            <a:off x="3292476" y="1050925"/>
            <a:ext cx="5280025" cy="660400"/>
            <a:chOff x="1114" y="662"/>
            <a:chExt cx="3326" cy="416"/>
          </a:xfrm>
        </p:grpSpPr>
        <p:sp>
          <p:nvSpPr>
            <p:cNvPr id="671" name="Google Shape;671;p23"/>
            <p:cNvSpPr txBox="1"/>
            <p:nvPr/>
          </p:nvSpPr>
          <p:spPr>
            <a:xfrm>
              <a:off x="1114" y="728"/>
              <a:ext cx="1761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folHlink"/>
                  </a:solidFill>
                  <a:latin typeface="Arial"/>
                  <a:ea typeface="Arial"/>
                  <a:cs typeface="Arial"/>
                  <a:sym typeface="Arial"/>
                </a:rPr>
                <a:t>Expresión general</a:t>
              </a:r>
              <a:endParaRPr b="1" i="0" sz="20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72" name="Google Shape;672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48" y="662"/>
              <a:ext cx="1592" cy="4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3" name="Google Shape;673;p23"/>
          <p:cNvSpPr txBox="1"/>
          <p:nvPr/>
        </p:nvSpPr>
        <p:spPr>
          <a:xfrm>
            <a:off x="4656139" y="3511551"/>
            <a:ext cx="39528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="0" i="0" sz="1800" u="none" cap="none" strike="noStrike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4" name="Google Shape;674;p23"/>
          <p:cNvSpPr txBox="1"/>
          <p:nvPr/>
        </p:nvSpPr>
        <p:spPr>
          <a:xfrm>
            <a:off x="2744789" y="1854201"/>
            <a:ext cx="1087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Caso </a:t>
            </a:r>
            <a:r>
              <a:rPr b="0" i="0" lang="en-US" sz="20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="0" i="0" sz="2000" u="none" cap="none" strike="noStrike">
              <a:solidFill>
                <a:srgbClr val="0033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5" name="Google Shape;67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8151" y="3300413"/>
            <a:ext cx="3101975" cy="12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23"/>
          <p:cNvSpPr/>
          <p:nvPr/>
        </p:nvSpPr>
        <p:spPr>
          <a:xfrm>
            <a:off x="3979863" y="2124075"/>
            <a:ext cx="88900" cy="88900"/>
          </a:xfrm>
          <a:prstGeom prst="ellipse">
            <a:avLst/>
          </a:prstGeom>
          <a:solidFill>
            <a:srgbClr val="BF43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7" name="Google Shape;677;p23"/>
          <p:cNvCxnSpPr/>
          <p:nvPr/>
        </p:nvCxnSpPr>
        <p:spPr>
          <a:xfrm>
            <a:off x="4027488" y="2190751"/>
            <a:ext cx="0" cy="1114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23"/>
          <p:cNvCxnSpPr/>
          <p:nvPr/>
        </p:nvCxnSpPr>
        <p:spPr>
          <a:xfrm flipH="1">
            <a:off x="2984501" y="2181225"/>
            <a:ext cx="1038225" cy="11239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9" name="Google Shape;679;p23"/>
          <p:cNvSpPr/>
          <p:nvPr/>
        </p:nvSpPr>
        <p:spPr>
          <a:xfrm rot="10800000">
            <a:off x="3884614" y="2320925"/>
            <a:ext cx="142875" cy="889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0" name="Google Shape;680;p23"/>
          <p:cNvCxnSpPr/>
          <p:nvPr/>
        </p:nvCxnSpPr>
        <p:spPr>
          <a:xfrm>
            <a:off x="4027488" y="2176463"/>
            <a:ext cx="12001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23"/>
          <p:cNvCxnSpPr/>
          <p:nvPr/>
        </p:nvCxnSpPr>
        <p:spPr>
          <a:xfrm>
            <a:off x="4322763" y="3490913"/>
            <a:ext cx="914400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2" name="Google Shape;682;p23"/>
          <p:cNvSpPr txBox="1"/>
          <p:nvPr/>
        </p:nvSpPr>
        <p:spPr>
          <a:xfrm>
            <a:off x="3746501" y="2324100"/>
            <a:ext cx="4810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3" name="Google Shape;683;p23"/>
          <p:cNvCxnSpPr/>
          <p:nvPr/>
        </p:nvCxnSpPr>
        <p:spPr>
          <a:xfrm>
            <a:off x="4032250" y="2305050"/>
            <a:ext cx="1714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23"/>
          <p:cNvCxnSpPr/>
          <p:nvPr/>
        </p:nvCxnSpPr>
        <p:spPr>
          <a:xfrm rot="10800000">
            <a:off x="4203700" y="2171700"/>
            <a:ext cx="0" cy="133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85" name="Google Shape;68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44863" y="3784600"/>
            <a:ext cx="1816100" cy="59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23"/>
          <p:cNvSpPr txBox="1"/>
          <p:nvPr/>
        </p:nvSpPr>
        <p:spPr>
          <a:xfrm>
            <a:off x="8780464" y="3429001"/>
            <a:ext cx="39528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="0" i="0" sz="1800" u="none" cap="none" strike="noStrike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7" name="Google Shape;687;p23"/>
          <p:cNvSpPr txBox="1"/>
          <p:nvPr/>
        </p:nvSpPr>
        <p:spPr>
          <a:xfrm>
            <a:off x="6045200" y="1854201"/>
            <a:ext cx="1087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Caso </a:t>
            </a:r>
            <a:r>
              <a:rPr b="0" i="0" lang="en-US" sz="20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</a:t>
            </a:r>
            <a:endParaRPr b="0" i="0" sz="2000" u="none" cap="none" strike="noStrike">
              <a:solidFill>
                <a:srgbClr val="0033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8" name="Google Shape;68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72339" y="3221038"/>
            <a:ext cx="3101975" cy="12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23"/>
          <p:cNvSpPr/>
          <p:nvPr/>
        </p:nvSpPr>
        <p:spPr>
          <a:xfrm>
            <a:off x="7234238" y="2062163"/>
            <a:ext cx="88900" cy="88900"/>
          </a:xfrm>
          <a:prstGeom prst="ellipse">
            <a:avLst/>
          </a:prstGeom>
          <a:solidFill>
            <a:srgbClr val="BF43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0" name="Google Shape;690;p23"/>
          <p:cNvCxnSpPr/>
          <p:nvPr/>
        </p:nvCxnSpPr>
        <p:spPr>
          <a:xfrm>
            <a:off x="7281863" y="2128839"/>
            <a:ext cx="0" cy="1114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23"/>
          <p:cNvCxnSpPr/>
          <p:nvPr/>
        </p:nvCxnSpPr>
        <p:spPr>
          <a:xfrm>
            <a:off x="7281863" y="2114550"/>
            <a:ext cx="12001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" name="Google Shape;692;p23"/>
          <p:cNvCxnSpPr/>
          <p:nvPr/>
        </p:nvCxnSpPr>
        <p:spPr>
          <a:xfrm>
            <a:off x="8401050" y="3409950"/>
            <a:ext cx="914400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3" name="Google Shape;693;p23"/>
          <p:cNvSpPr txBox="1"/>
          <p:nvPr/>
        </p:nvSpPr>
        <p:spPr>
          <a:xfrm>
            <a:off x="7362825" y="2557463"/>
            <a:ext cx="11001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4" name="Google Shape;694;p23"/>
          <p:cNvCxnSpPr/>
          <p:nvPr/>
        </p:nvCxnSpPr>
        <p:spPr>
          <a:xfrm>
            <a:off x="7286625" y="2243138"/>
            <a:ext cx="1714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23"/>
          <p:cNvCxnSpPr/>
          <p:nvPr/>
        </p:nvCxnSpPr>
        <p:spPr>
          <a:xfrm rot="10800000">
            <a:off x="7458075" y="2109788"/>
            <a:ext cx="0" cy="133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96" name="Google Shape;69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4750" y="3784600"/>
            <a:ext cx="22225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45400" y="4918075"/>
            <a:ext cx="1816100" cy="59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23"/>
          <p:cNvSpPr txBox="1"/>
          <p:nvPr/>
        </p:nvSpPr>
        <p:spPr>
          <a:xfrm>
            <a:off x="5400675" y="4041776"/>
            <a:ext cx="1327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Caso </a:t>
            </a:r>
            <a:r>
              <a:rPr b="0" i="0" lang="en-US" sz="20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</a:t>
            </a:r>
            <a:endParaRPr b="0" i="0" sz="2000" u="none" cap="none" strike="noStrike">
              <a:solidFill>
                <a:srgbClr val="0033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9" name="Google Shape;699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6601" y="5845175"/>
            <a:ext cx="3101975" cy="12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23"/>
          <p:cNvSpPr/>
          <p:nvPr/>
        </p:nvSpPr>
        <p:spPr>
          <a:xfrm>
            <a:off x="5053013" y="4560888"/>
            <a:ext cx="88900" cy="88900"/>
          </a:xfrm>
          <a:prstGeom prst="ellipse">
            <a:avLst/>
          </a:prstGeom>
          <a:solidFill>
            <a:srgbClr val="BF43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1" name="Google Shape;701;p23"/>
          <p:cNvCxnSpPr/>
          <p:nvPr/>
        </p:nvCxnSpPr>
        <p:spPr>
          <a:xfrm>
            <a:off x="5106988" y="4659314"/>
            <a:ext cx="0" cy="12350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23"/>
          <p:cNvCxnSpPr/>
          <p:nvPr/>
        </p:nvCxnSpPr>
        <p:spPr>
          <a:xfrm>
            <a:off x="5108576" y="4630738"/>
            <a:ext cx="720725" cy="121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23"/>
          <p:cNvCxnSpPr/>
          <p:nvPr/>
        </p:nvCxnSpPr>
        <p:spPr>
          <a:xfrm>
            <a:off x="5126038" y="4619625"/>
            <a:ext cx="12001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23"/>
          <p:cNvCxnSpPr/>
          <p:nvPr/>
        </p:nvCxnSpPr>
        <p:spPr>
          <a:xfrm>
            <a:off x="7161213" y="6035675"/>
            <a:ext cx="914400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5" name="Google Shape;705;p23"/>
          <p:cNvSpPr txBox="1"/>
          <p:nvPr/>
        </p:nvSpPr>
        <p:spPr>
          <a:xfrm>
            <a:off x="7494589" y="6076951"/>
            <a:ext cx="39528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b="0" i="0" sz="1800" u="none" cap="none" strike="noStrike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6" name="Google Shape;706;p23"/>
          <p:cNvSpPr txBox="1"/>
          <p:nvPr/>
        </p:nvSpPr>
        <p:spPr>
          <a:xfrm>
            <a:off x="5067301" y="4862513"/>
            <a:ext cx="4810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7" name="Google Shape;707;p23"/>
          <p:cNvCxnSpPr/>
          <p:nvPr/>
        </p:nvCxnSpPr>
        <p:spPr>
          <a:xfrm>
            <a:off x="5194300" y="4760913"/>
            <a:ext cx="1714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23"/>
          <p:cNvCxnSpPr/>
          <p:nvPr/>
        </p:nvCxnSpPr>
        <p:spPr>
          <a:xfrm rot="10800000">
            <a:off x="5365750" y="4614863"/>
            <a:ext cx="0" cy="133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23"/>
          <p:cNvCxnSpPr/>
          <p:nvPr/>
        </p:nvCxnSpPr>
        <p:spPr>
          <a:xfrm rot="10800000">
            <a:off x="5081588" y="5902325"/>
            <a:ext cx="7429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10" name="Google Shape;710;p23"/>
          <p:cNvSpPr/>
          <p:nvPr/>
        </p:nvSpPr>
        <p:spPr>
          <a:xfrm flipH="1" rot="10800000">
            <a:off x="5113338" y="4860925"/>
            <a:ext cx="146050" cy="88900"/>
          </a:xfrm>
          <a:custGeom>
            <a:rect b="b" l="l" r="r" t="t"/>
            <a:pathLst>
              <a:path extrusionOk="0" fill="none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extrusionOk="0" h="21600" w="2160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3"/>
          <p:cNvSpPr txBox="1"/>
          <p:nvPr/>
        </p:nvSpPr>
        <p:spPr>
          <a:xfrm rot="-5393777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Autores Mar Artigao Castillo, Manuel Sánchez Martínez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Dpto de Física Aplicada, Escuela Politécnica Superior de Albacete (UCLM)</a:t>
            </a:r>
            <a:endParaRPr/>
          </a:p>
        </p:txBody>
      </p:sp>
      <p:pic>
        <p:nvPicPr>
          <p:cNvPr id="712" name="Google Shape;712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165600" y="2127250"/>
            <a:ext cx="609600" cy="5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93000" y="2038350"/>
            <a:ext cx="609600" cy="5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97500" y="4552950"/>
            <a:ext cx="609600" cy="54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24"/>
          <p:cNvSpPr txBox="1"/>
          <p:nvPr/>
        </p:nvSpPr>
        <p:spPr>
          <a:xfrm>
            <a:off x="2552701" y="468313"/>
            <a:ext cx="6848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8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9.3	Fuerza entre corrientes paralelas</a:t>
            </a:r>
            <a:endParaRPr b="1" i="0" sz="2400" u="none" cap="none" strike="noStrike">
              <a:solidFill>
                <a:srgbClr val="008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BD14710_" id="720" name="Google Shape;72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887413"/>
            <a:ext cx="8305800" cy="1381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1" name="Google Shape;721;p24"/>
          <p:cNvGrpSpPr/>
          <p:nvPr/>
        </p:nvGrpSpPr>
        <p:grpSpPr>
          <a:xfrm>
            <a:off x="2344738" y="1420813"/>
            <a:ext cx="3414712" cy="2868612"/>
            <a:chOff x="517" y="895"/>
            <a:chExt cx="2151" cy="1807"/>
          </a:xfrm>
        </p:grpSpPr>
        <p:grpSp>
          <p:nvGrpSpPr>
            <p:cNvPr id="722" name="Google Shape;722;p24"/>
            <p:cNvGrpSpPr/>
            <p:nvPr/>
          </p:nvGrpSpPr>
          <p:grpSpPr>
            <a:xfrm>
              <a:off x="517" y="895"/>
              <a:ext cx="2151" cy="1807"/>
              <a:chOff x="517" y="895"/>
              <a:chExt cx="2151" cy="1807"/>
            </a:xfrm>
          </p:grpSpPr>
          <p:pic>
            <p:nvPicPr>
              <p:cNvPr id="723" name="Google Shape;723;p2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17" y="895"/>
                <a:ext cx="2151" cy="1807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724" name="Google Shape;724;p24"/>
              <p:cNvCxnSpPr/>
              <p:nvPr/>
            </p:nvCxnSpPr>
            <p:spPr>
              <a:xfrm flipH="1">
                <a:off x="1564" y="1756"/>
                <a:ext cx="424" cy="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25" name="Google Shape;725;p24"/>
            <p:cNvGrpSpPr/>
            <p:nvPr/>
          </p:nvGrpSpPr>
          <p:grpSpPr>
            <a:xfrm>
              <a:off x="608" y="1240"/>
              <a:ext cx="1852" cy="1196"/>
              <a:chOff x="608" y="1240"/>
              <a:chExt cx="1852" cy="1196"/>
            </a:xfrm>
          </p:grpSpPr>
          <p:grpSp>
            <p:nvGrpSpPr>
              <p:cNvPr id="726" name="Google Shape;726;p24"/>
              <p:cNvGrpSpPr/>
              <p:nvPr/>
            </p:nvGrpSpPr>
            <p:grpSpPr>
              <a:xfrm>
                <a:off x="608" y="1240"/>
                <a:ext cx="1852" cy="1196"/>
                <a:chOff x="608" y="1240"/>
                <a:chExt cx="1852" cy="1196"/>
              </a:xfrm>
            </p:grpSpPr>
            <p:sp>
              <p:nvSpPr>
                <p:cNvPr id="727" name="Google Shape;727;p24"/>
                <p:cNvSpPr/>
                <p:nvPr/>
              </p:nvSpPr>
              <p:spPr>
                <a:xfrm>
                  <a:off x="608" y="1640"/>
                  <a:ext cx="1852" cy="42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0066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28" name="Google Shape;728;p24"/>
                <p:cNvCxnSpPr/>
                <p:nvPr/>
              </p:nvCxnSpPr>
              <p:spPr>
                <a:xfrm rot="10800000">
                  <a:off x="1468" y="1432"/>
                  <a:ext cx="0" cy="36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729" name="Google Shape;729;p24"/>
                <p:cNvCxnSpPr/>
                <p:nvPr/>
              </p:nvCxnSpPr>
              <p:spPr>
                <a:xfrm rot="10800000">
                  <a:off x="2412" y="1240"/>
                  <a:ext cx="0" cy="228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730" name="Google Shape;730;p24"/>
                <p:cNvCxnSpPr/>
                <p:nvPr/>
              </p:nvCxnSpPr>
              <p:spPr>
                <a:xfrm flipH="1">
                  <a:off x="1544" y="2340"/>
                  <a:ext cx="364" cy="9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731" name="Google Shape;731;p24"/>
                <p:cNvCxnSpPr/>
                <p:nvPr/>
              </p:nvCxnSpPr>
              <p:spPr>
                <a:xfrm flipH="1" rot="10800000">
                  <a:off x="1968" y="2244"/>
                  <a:ext cx="288" cy="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pic>
            <p:nvPicPr>
              <p:cNvPr id="732" name="Google Shape;732;p2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11" y="1586"/>
                <a:ext cx="52" cy="8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733" name="Google Shape;733;p24"/>
          <p:cNvSpPr txBox="1"/>
          <p:nvPr/>
        </p:nvSpPr>
        <p:spPr>
          <a:xfrm>
            <a:off x="6064250" y="1295401"/>
            <a:ext cx="416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96633"/>
                </a:solidFill>
                <a:latin typeface="Arial"/>
                <a:ea typeface="Arial"/>
                <a:cs typeface="Arial"/>
                <a:sym typeface="Arial"/>
              </a:rPr>
              <a:t>Tomando el sistema de referencia habitual</a:t>
            </a:r>
            <a:endParaRPr b="0" i="0" sz="2000" u="none" cap="none" strike="noStrike">
              <a:solidFill>
                <a:srgbClr val="99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4" name="Google Shape;73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75475" y="2173288"/>
            <a:ext cx="15621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94525" y="2781300"/>
            <a:ext cx="14859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24"/>
          <p:cNvSpPr txBox="1"/>
          <p:nvPr/>
        </p:nvSpPr>
        <p:spPr>
          <a:xfrm>
            <a:off x="2647950" y="4343401"/>
            <a:ext cx="7391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Veamos cuál es la fuerza que ejerce una corriente sobre la otra</a:t>
            </a:r>
            <a:endParaRPr b="0" i="0" sz="2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7" name="Google Shape;737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92425" y="4802188"/>
            <a:ext cx="42418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92425" y="5507038"/>
            <a:ext cx="3886200" cy="609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9" name="Google Shape;739;p24"/>
          <p:cNvGrpSpPr/>
          <p:nvPr/>
        </p:nvGrpSpPr>
        <p:grpSpPr>
          <a:xfrm>
            <a:off x="7467600" y="4819650"/>
            <a:ext cx="2514601" cy="1524000"/>
            <a:chOff x="3744" y="3036"/>
            <a:chExt cx="1584" cy="960"/>
          </a:xfrm>
        </p:grpSpPr>
        <p:sp>
          <p:nvSpPr>
            <p:cNvPr id="740" name="Google Shape;740;p24"/>
            <p:cNvSpPr/>
            <p:nvPr/>
          </p:nvSpPr>
          <p:spPr>
            <a:xfrm>
              <a:off x="3744" y="3036"/>
              <a:ext cx="56" cy="960"/>
            </a:xfrm>
            <a:prstGeom prst="rightBracket">
              <a:avLst>
                <a:gd fmla="val 142857" name="adj"/>
              </a:avLst>
            </a:prstGeom>
            <a:noFill/>
            <a:ln cap="flat" cmpd="sng" w="19050">
              <a:solidFill>
                <a:srgbClr val="6600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24"/>
            <p:cNvSpPr txBox="1"/>
            <p:nvPr/>
          </p:nvSpPr>
          <p:spPr>
            <a:xfrm>
              <a:off x="4008" y="3228"/>
              <a:ext cx="1320" cy="442"/>
            </a:xfrm>
            <a:prstGeom prst="rect">
              <a:avLst/>
            </a:prstGeom>
            <a:solidFill>
              <a:srgbClr val="D6D172">
                <a:alpha val="49803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Iguales y de sentido contrario</a:t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2" name="Google Shape;742;p24"/>
          <p:cNvSpPr txBox="1"/>
          <p:nvPr/>
        </p:nvSpPr>
        <p:spPr>
          <a:xfrm rot="-5393777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Autores Mar Artigao Castillo, Manuel Sánchez Martínez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Dpto de Física Aplicada, Escuela Politécnica Superior de Albacete (UCLM)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" name="Google Shape;747;p25"/>
          <p:cNvGrpSpPr/>
          <p:nvPr/>
        </p:nvGrpSpPr>
        <p:grpSpPr>
          <a:xfrm>
            <a:off x="2533650" y="571501"/>
            <a:ext cx="7753350" cy="1882775"/>
            <a:chOff x="636" y="360"/>
            <a:chExt cx="4884" cy="1186"/>
          </a:xfrm>
        </p:grpSpPr>
        <p:sp>
          <p:nvSpPr>
            <p:cNvPr id="748" name="Google Shape;748;p25"/>
            <p:cNvSpPr txBox="1"/>
            <p:nvPr/>
          </p:nvSpPr>
          <p:spPr>
            <a:xfrm>
              <a:off x="636" y="768"/>
              <a:ext cx="1020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Conclusión</a:t>
              </a:r>
              <a:endParaRPr b="0" i="0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25"/>
            <p:cNvSpPr/>
            <p:nvPr/>
          </p:nvSpPr>
          <p:spPr>
            <a:xfrm>
              <a:off x="1584" y="360"/>
              <a:ext cx="456" cy="384"/>
            </a:xfrm>
            <a:prstGeom prst="curvedDownArrow">
              <a:avLst>
                <a:gd fmla="val 23750" name="adj1"/>
                <a:gd fmla="val 47500" name="adj2"/>
                <a:gd fmla="val 33333" name="adj3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25"/>
            <p:cNvSpPr txBox="1"/>
            <p:nvPr/>
          </p:nvSpPr>
          <p:spPr>
            <a:xfrm>
              <a:off x="2136" y="528"/>
              <a:ext cx="3384" cy="1018"/>
            </a:xfrm>
            <a:prstGeom prst="rect">
              <a:avLst/>
            </a:prstGeom>
            <a:solidFill>
              <a:srgbClr val="0033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Dos corrientes paralelas por las que circula una corriente se atraerán si las corrientes circulan en el mismo sentido, mientras que si las corrientes circulan en sentidos opuestos se repelen.</a:t>
              </a:r>
              <a:endParaRPr b="0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1" name="Google Shape;751;p25"/>
          <p:cNvGrpSpPr/>
          <p:nvPr/>
        </p:nvGrpSpPr>
        <p:grpSpPr>
          <a:xfrm>
            <a:off x="2667000" y="2857501"/>
            <a:ext cx="7410450" cy="1882775"/>
            <a:chOff x="720" y="1800"/>
            <a:chExt cx="4668" cy="1186"/>
          </a:xfrm>
        </p:grpSpPr>
        <p:sp>
          <p:nvSpPr>
            <p:cNvPr id="752" name="Google Shape;752;p25"/>
            <p:cNvSpPr txBox="1"/>
            <p:nvPr/>
          </p:nvSpPr>
          <p:spPr>
            <a:xfrm>
              <a:off x="1560" y="1800"/>
              <a:ext cx="260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sng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Definición de amperio</a:t>
              </a:r>
              <a:endParaRPr b="0" i="0" sz="2000" u="sng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25"/>
            <p:cNvSpPr txBox="1"/>
            <p:nvPr/>
          </p:nvSpPr>
          <p:spPr>
            <a:xfrm>
              <a:off x="720" y="2160"/>
              <a:ext cx="4668" cy="826"/>
            </a:xfrm>
            <a:prstGeom prst="rect">
              <a:avLst/>
            </a:prstGeom>
            <a:solidFill>
              <a:srgbClr val="800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Un amperio es la intensidad de corriente que, circulando en el mismo sentido por dos conductores paralelos muy largos separados por un metro (R=1 m), producen una fuerza atractiva mutua de 2·10</a:t>
              </a:r>
              <a:r>
                <a:rPr b="0" baseline="30000" i="0" lang="en-US" sz="2000" u="none" cap="none" strike="noStrik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-7</a:t>
              </a:r>
              <a:r>
                <a:rPr b="0" i="0" lang="en-US" sz="2000" u="none" cap="none" strike="noStrike">
                  <a:solidFill>
                    <a:schemeClr val="accent1"/>
                  </a:solidFill>
                  <a:latin typeface="Arial"/>
                  <a:ea typeface="Arial"/>
                  <a:cs typeface="Arial"/>
                  <a:sym typeface="Arial"/>
                </a:rPr>
                <a:t> N por cada metro de conductor.</a:t>
              </a:r>
              <a:endParaRPr b="0" i="0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4" name="Google Shape;754;p25"/>
          <p:cNvSpPr txBox="1"/>
          <p:nvPr/>
        </p:nvSpPr>
        <p:spPr>
          <a:xfrm rot="-5393777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Autores Mar Artigao Castillo, Manuel Sánchez Martínez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Dpto de Física Aplicada, Escuela Politécnica Superior de Albacete (UCLM)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9" name="Google Shape;759;p26"/>
          <p:cNvGrpSpPr/>
          <p:nvPr/>
        </p:nvGrpSpPr>
        <p:grpSpPr>
          <a:xfrm>
            <a:off x="2362200" y="468313"/>
            <a:ext cx="8305800" cy="557212"/>
            <a:chOff x="528" y="295"/>
            <a:chExt cx="5232" cy="351"/>
          </a:xfrm>
        </p:grpSpPr>
        <p:sp>
          <p:nvSpPr>
            <p:cNvPr id="760" name="Google Shape;760;p26"/>
            <p:cNvSpPr txBox="1"/>
            <p:nvPr/>
          </p:nvSpPr>
          <p:spPr>
            <a:xfrm>
              <a:off x="648" y="295"/>
              <a:ext cx="431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008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9.4	Ley de Ampère</a:t>
              </a:r>
              <a:endParaRPr b="1" i="0" sz="2400" u="none" cap="none" strike="noStrike">
                <a:solidFill>
                  <a:srgbClr val="008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pic>
          <p:nvPicPr>
            <p:cNvPr descr="BD14710_" id="761" name="Google Shape;761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8" y="559"/>
              <a:ext cx="5232" cy="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2" name="Google Shape;762;p26"/>
          <p:cNvSpPr txBox="1"/>
          <p:nvPr/>
        </p:nvSpPr>
        <p:spPr>
          <a:xfrm>
            <a:off x="2552700" y="1238251"/>
            <a:ext cx="7772400" cy="100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La ley de Ampère, relaciona la componente tangencial del campo magnético, alrededor de una curva cerrada C, con la corriente </a:t>
            </a:r>
            <a:r>
              <a:rPr b="0" i="0" lang="en-US" sz="2000" u="none" cap="none" strike="noStrike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baseline="-25000" i="0" lang="en-US" sz="2000" u="none" cap="none" strike="noStrik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0" i="0" lang="en-US" sz="2000" u="none" cap="none" strike="noStrik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 que atraviesa dicha curva.</a:t>
            </a:r>
            <a:endParaRPr b="0" i="0" sz="2000" u="none" cap="none" strike="noStrike">
              <a:solidFill>
                <a:srgbClr val="8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3" name="Google Shape;763;p26"/>
          <p:cNvGrpSpPr/>
          <p:nvPr/>
        </p:nvGrpSpPr>
        <p:grpSpPr>
          <a:xfrm>
            <a:off x="5384800" y="2355850"/>
            <a:ext cx="5035550" cy="698500"/>
            <a:chOff x="2432" y="1484"/>
            <a:chExt cx="3172" cy="440"/>
          </a:xfrm>
        </p:grpSpPr>
        <p:pic>
          <p:nvPicPr>
            <p:cNvPr id="764" name="Google Shape;764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32" y="1484"/>
              <a:ext cx="904" cy="4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5" name="Google Shape;765;p26"/>
            <p:cNvSpPr txBox="1"/>
            <p:nvPr/>
          </p:nvSpPr>
          <p:spPr>
            <a:xfrm>
              <a:off x="3552" y="1512"/>
              <a:ext cx="205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800080"/>
                  </a:solidFill>
                  <a:latin typeface="Arial"/>
                  <a:ea typeface="Arial"/>
                  <a:cs typeface="Arial"/>
                  <a:sym typeface="Arial"/>
                </a:rPr>
                <a:t>C: cualquier curva cerrada</a:t>
              </a:r>
              <a:endParaRPr b="0" i="0" sz="2000" u="none" cap="none" strike="noStrik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6" name="Google Shape;766;p26"/>
          <p:cNvSpPr txBox="1"/>
          <p:nvPr/>
        </p:nvSpPr>
        <p:spPr>
          <a:xfrm>
            <a:off x="2647950" y="3429001"/>
            <a:ext cx="75057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428750" lvl="0" marL="142875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Ejemplo 1</a:t>
            </a:r>
            <a:r>
              <a:rPr b="0" i="0" lang="en-US" sz="20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Campo magnético creado por un hilo infinitamente largo y rectilíneo por el que circula una corriente.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7" name="Google Shape;767;p26"/>
          <p:cNvGrpSpPr/>
          <p:nvPr/>
        </p:nvGrpSpPr>
        <p:grpSpPr>
          <a:xfrm>
            <a:off x="2514600" y="3962400"/>
            <a:ext cx="2667000" cy="2667000"/>
            <a:chOff x="624" y="2496"/>
            <a:chExt cx="1680" cy="1680"/>
          </a:xfrm>
        </p:grpSpPr>
        <p:pic>
          <p:nvPicPr>
            <p:cNvPr descr="F29-21" id="768" name="Google Shape;768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4" y="2496"/>
              <a:ext cx="1680" cy="168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69" name="Google Shape;769;p26"/>
            <p:cNvCxnSpPr/>
            <p:nvPr/>
          </p:nvCxnSpPr>
          <p:spPr>
            <a:xfrm flipH="1" rot="10800000">
              <a:off x="1080" y="3388"/>
              <a:ext cx="362" cy="5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70" name="Google Shape;770;p26"/>
            <p:cNvCxnSpPr/>
            <p:nvPr/>
          </p:nvCxnSpPr>
          <p:spPr>
            <a:xfrm>
              <a:off x="1452" y="3490"/>
              <a:ext cx="500" cy="11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771" name="Google Shape;771;p26"/>
          <p:cNvGrpSpPr/>
          <p:nvPr/>
        </p:nvGrpSpPr>
        <p:grpSpPr>
          <a:xfrm>
            <a:off x="5514975" y="4340226"/>
            <a:ext cx="4789488" cy="396875"/>
            <a:chOff x="2514" y="2734"/>
            <a:chExt cx="3017" cy="250"/>
          </a:xfrm>
        </p:grpSpPr>
        <p:grpSp>
          <p:nvGrpSpPr>
            <p:cNvPr id="772" name="Google Shape;772;p26"/>
            <p:cNvGrpSpPr/>
            <p:nvPr/>
          </p:nvGrpSpPr>
          <p:grpSpPr>
            <a:xfrm>
              <a:off x="2514" y="2734"/>
              <a:ext cx="3017" cy="250"/>
              <a:chOff x="2514" y="2734"/>
              <a:chExt cx="3017" cy="250"/>
            </a:xfrm>
          </p:grpSpPr>
          <p:sp>
            <p:nvSpPr>
              <p:cNvPr id="773" name="Google Shape;773;p26"/>
              <p:cNvSpPr txBox="1"/>
              <p:nvPr/>
            </p:nvSpPr>
            <p:spPr>
              <a:xfrm>
                <a:off x="2514" y="2734"/>
                <a:ext cx="3017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000" u="none" cap="none" strike="noStrike">
                    <a:solidFill>
                      <a:srgbClr val="CC6600"/>
                    </a:solidFill>
                    <a:latin typeface="Arial"/>
                    <a:ea typeface="Arial"/>
                    <a:cs typeface="Arial"/>
                    <a:sym typeface="Arial"/>
                  </a:rPr>
                  <a:t>Si la curva es una circunferencia </a:t>
                </a:r>
                <a:endParaRPr b="0" i="0" sz="2000" u="none" cap="none" strike="noStrike">
                  <a:solidFill>
                    <a:srgbClr val="CC66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74" name="Google Shape;774;p2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4935" y="2758"/>
                <a:ext cx="352" cy="17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775" name="Google Shape;775;p26"/>
            <p:cNvCxnSpPr/>
            <p:nvPr/>
          </p:nvCxnSpPr>
          <p:spPr>
            <a:xfrm>
              <a:off x="5067" y="2781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CC66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6" name="Google Shape;776;p26"/>
            <p:cNvCxnSpPr/>
            <p:nvPr/>
          </p:nvCxnSpPr>
          <p:spPr>
            <a:xfrm>
              <a:off x="5103" y="2781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CC66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777" name="Google Shape;777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84850" y="4802188"/>
            <a:ext cx="3886200" cy="698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26"/>
          <p:cNvSpPr txBox="1"/>
          <p:nvPr/>
        </p:nvSpPr>
        <p:spPr>
          <a:xfrm rot="-5393777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Autores Mar Artigao Castillo, Manuel Sánchez Martínez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Dpto de Física Aplicada, Escuela Politécnica Superior de Albacete (UCLM)</a:t>
            </a:r>
            <a:endParaRPr/>
          </a:p>
        </p:txBody>
      </p:sp>
      <p:grpSp>
        <p:nvGrpSpPr>
          <p:cNvPr id="779" name="Google Shape;779;p26"/>
          <p:cNvGrpSpPr/>
          <p:nvPr/>
        </p:nvGrpSpPr>
        <p:grpSpPr>
          <a:xfrm>
            <a:off x="7073900" y="5613400"/>
            <a:ext cx="1524000" cy="838200"/>
            <a:chOff x="3496" y="3440"/>
            <a:chExt cx="960" cy="528"/>
          </a:xfrm>
        </p:grpSpPr>
        <p:pic>
          <p:nvPicPr>
            <p:cNvPr id="780" name="Google Shape;780;p2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574" y="3479"/>
              <a:ext cx="824" cy="3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1" name="Google Shape;781;p26"/>
            <p:cNvSpPr/>
            <p:nvPr/>
          </p:nvSpPr>
          <p:spPr>
            <a:xfrm>
              <a:off x="3496" y="3440"/>
              <a:ext cx="960" cy="528"/>
            </a:xfrm>
            <a:prstGeom prst="rect">
              <a:avLst/>
            </a:prstGeom>
            <a:noFill/>
            <a:ln cap="flat" cmpd="sng" w="28575">
              <a:solidFill>
                <a:srgbClr val="CC33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7"/>
          <p:cNvSpPr txBox="1"/>
          <p:nvPr/>
        </p:nvSpPr>
        <p:spPr>
          <a:xfrm>
            <a:off x="2763838" y="642939"/>
            <a:ext cx="75057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428750" lvl="0" marL="142875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Ejemplo 2: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800080"/>
                </a:solidFill>
                <a:latin typeface="Arial"/>
                <a:ea typeface="Arial"/>
                <a:cs typeface="Arial"/>
                <a:sym typeface="Arial"/>
              </a:rPr>
              <a:t>Campo magnético creado por un toroide. </a:t>
            </a:r>
            <a:endParaRPr b="0" i="0" sz="2000" u="none" cap="none" strike="noStrike">
              <a:solidFill>
                <a:srgbClr val="800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7"/>
          <p:cNvSpPr txBox="1"/>
          <p:nvPr/>
        </p:nvSpPr>
        <p:spPr>
          <a:xfrm>
            <a:off x="5803900" y="1206501"/>
            <a:ext cx="4552950" cy="131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Como curva de integración tomamos una circunferencia de radio r centrada en el toroide. Como B es constante en todo el círculo:</a:t>
            </a:r>
            <a:endParaRPr b="0" i="0" sz="2000" u="none" cap="none" strike="noStrik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8" name="Google Shape;78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2350" y="2730500"/>
            <a:ext cx="3886200" cy="698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9" name="Google Shape;789;p27"/>
          <p:cNvGrpSpPr/>
          <p:nvPr/>
        </p:nvGrpSpPr>
        <p:grpSpPr>
          <a:xfrm>
            <a:off x="2501901" y="3695701"/>
            <a:ext cx="3586163" cy="434975"/>
            <a:chOff x="616" y="2328"/>
            <a:chExt cx="2259" cy="274"/>
          </a:xfrm>
        </p:grpSpPr>
        <p:sp>
          <p:nvSpPr>
            <p:cNvPr id="790" name="Google Shape;790;p27"/>
            <p:cNvSpPr txBox="1"/>
            <p:nvPr/>
          </p:nvSpPr>
          <p:spPr>
            <a:xfrm>
              <a:off x="616" y="2328"/>
              <a:ext cx="115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Para </a:t>
              </a:r>
              <a:r>
                <a:rPr b="0" i="0" lang="en-US" sz="2000" u="none" cap="none" strike="noStrike">
                  <a:solidFill>
                    <a:srgbClr val="008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&lt; r &lt; b</a:t>
              </a:r>
              <a:endParaRPr b="0" i="0" sz="2000" u="none" cap="none" strike="noStrike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1" name="Google Shape;791;p27"/>
            <p:cNvSpPr/>
            <p:nvPr/>
          </p:nvSpPr>
          <p:spPr>
            <a:xfrm>
              <a:off x="1792" y="2384"/>
              <a:ext cx="289" cy="144"/>
            </a:xfrm>
            <a:custGeom>
              <a:rect b="b" l="l" r="r" t="t"/>
              <a:pathLst>
                <a:path extrusionOk="0" h="21600" w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extrusionOk="0" h="21600" w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extrusionOk="0" h="21600" w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gradFill>
              <a:gsLst>
                <a:gs pos="0">
                  <a:srgbClr val="0033CC"/>
                </a:gs>
                <a:gs pos="100000">
                  <a:schemeClr val="hlink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27"/>
            <p:cNvSpPr txBox="1"/>
            <p:nvPr/>
          </p:nvSpPr>
          <p:spPr>
            <a:xfrm>
              <a:off x="2232" y="2352"/>
              <a:ext cx="643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="0" baseline="-25000" i="0" lang="en-US" sz="2000" u="none" cap="none" strike="noStrik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0" i="0" lang="en-US" sz="2000" u="none" cap="none" strike="noStrike">
                  <a:solidFill>
                    <a:srgbClr val="00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= NI</a:t>
              </a:r>
              <a:endParaRPr b="0" i="0" sz="20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793" name="Google Shape;793;p27"/>
          <p:cNvSpPr txBox="1"/>
          <p:nvPr/>
        </p:nvSpPr>
        <p:spPr>
          <a:xfrm>
            <a:off x="2336800" y="5003801"/>
            <a:ext cx="2387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C3399"/>
                </a:solidFill>
                <a:latin typeface="Arial"/>
                <a:ea typeface="Arial"/>
                <a:cs typeface="Arial"/>
                <a:sym typeface="Arial"/>
              </a:rPr>
              <a:t>Casos particulares</a:t>
            </a:r>
            <a:endParaRPr b="0" i="0" sz="2000" u="none" cap="none" strike="noStrike">
              <a:solidFill>
                <a:srgbClr val="CC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4" name="Google Shape;794;p27"/>
          <p:cNvGrpSpPr/>
          <p:nvPr/>
        </p:nvGrpSpPr>
        <p:grpSpPr>
          <a:xfrm>
            <a:off x="4800600" y="4406900"/>
            <a:ext cx="5867400" cy="1638300"/>
            <a:chOff x="2064" y="2776"/>
            <a:chExt cx="3696" cy="1032"/>
          </a:xfrm>
        </p:grpSpPr>
        <p:sp>
          <p:nvSpPr>
            <p:cNvPr id="795" name="Google Shape;795;p27"/>
            <p:cNvSpPr/>
            <p:nvPr/>
          </p:nvSpPr>
          <p:spPr>
            <a:xfrm>
              <a:off x="2064" y="2776"/>
              <a:ext cx="56" cy="1032"/>
            </a:xfrm>
            <a:prstGeom prst="leftBrace">
              <a:avLst>
                <a:gd fmla="val 153571" name="adj1"/>
                <a:gd fmla="val 50000" name="adj2"/>
              </a:avLst>
            </a:prstGeom>
            <a:noFill/>
            <a:ln cap="flat" cmpd="sng" w="28575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27"/>
            <p:cNvSpPr/>
            <p:nvPr/>
          </p:nvSpPr>
          <p:spPr>
            <a:xfrm>
              <a:off x="3156" y="2912"/>
              <a:ext cx="289" cy="144"/>
            </a:xfrm>
            <a:prstGeom prst="notchedRightArrow">
              <a:avLst>
                <a:gd fmla="val 50000" name="adj1"/>
                <a:gd fmla="val 50174" name="adj2"/>
              </a:avLst>
            </a:prstGeom>
            <a:gradFill>
              <a:gsLst>
                <a:gs pos="0">
                  <a:srgbClr val="D6D172"/>
                </a:gs>
                <a:gs pos="100000">
                  <a:schemeClr val="lt1"/>
                </a:gs>
              </a:gsLst>
              <a:lin ang="5400000" scaled="0"/>
            </a:gradFill>
            <a:ln cap="flat" cmpd="sng" w="9525">
              <a:solidFill>
                <a:srgbClr val="FF66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27"/>
            <p:cNvSpPr txBox="1"/>
            <p:nvPr/>
          </p:nvSpPr>
          <p:spPr>
            <a:xfrm>
              <a:off x="3568" y="2816"/>
              <a:ext cx="2192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6666FF"/>
                  </a:solidFill>
                  <a:latin typeface="Arial"/>
                  <a:ea typeface="Arial"/>
                  <a:cs typeface="Arial"/>
                  <a:sym typeface="Arial"/>
                </a:rPr>
                <a:t>No existe corriente a través del circulo de radio r.</a:t>
              </a:r>
              <a:endParaRPr b="0" i="0" sz="2000" u="none" cap="none" strike="noStrike">
                <a:solidFill>
                  <a:srgbClr val="6666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8" name="Google Shape;798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116" y="2880"/>
              <a:ext cx="888" cy="1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99" name="Google Shape;799;p27"/>
          <p:cNvGrpSpPr/>
          <p:nvPr/>
        </p:nvGrpSpPr>
        <p:grpSpPr>
          <a:xfrm>
            <a:off x="2730500" y="6032501"/>
            <a:ext cx="7658100" cy="422275"/>
            <a:chOff x="760" y="3800"/>
            <a:chExt cx="4824" cy="266"/>
          </a:xfrm>
        </p:grpSpPr>
        <p:sp>
          <p:nvSpPr>
            <p:cNvPr id="800" name="Google Shape;800;p27"/>
            <p:cNvSpPr txBox="1"/>
            <p:nvPr/>
          </p:nvSpPr>
          <p:spPr>
            <a:xfrm>
              <a:off x="760" y="3816"/>
              <a:ext cx="173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Si (b-a)&lt;&lt; radio medio</a:t>
              </a:r>
              <a:endParaRPr b="0" i="0" sz="20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27"/>
            <p:cNvSpPr/>
            <p:nvPr/>
          </p:nvSpPr>
          <p:spPr>
            <a:xfrm>
              <a:off x="2560" y="3896"/>
              <a:ext cx="544" cy="128"/>
            </a:xfrm>
            <a:prstGeom prst="chevron">
              <a:avLst>
                <a:gd fmla="val 106250" name="adj"/>
              </a:avLst>
            </a:prstGeom>
            <a:gradFill>
              <a:gsLst>
                <a:gs pos="0">
                  <a:srgbClr val="800080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2" name="Google Shape;802;p27"/>
            <p:cNvGrpSpPr/>
            <p:nvPr/>
          </p:nvGrpSpPr>
          <p:grpSpPr>
            <a:xfrm>
              <a:off x="3248" y="3800"/>
              <a:ext cx="2336" cy="250"/>
              <a:chOff x="3248" y="3800"/>
              <a:chExt cx="2336" cy="250"/>
            </a:xfrm>
          </p:grpSpPr>
          <p:sp>
            <p:nvSpPr>
              <p:cNvPr id="803" name="Google Shape;803;p27"/>
              <p:cNvSpPr txBox="1"/>
              <p:nvPr/>
            </p:nvSpPr>
            <p:spPr>
              <a:xfrm>
                <a:off x="3248" y="3800"/>
                <a:ext cx="2336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000" u="none" cap="none" strike="noStrike">
                    <a:solidFill>
                      <a:srgbClr val="0033CC"/>
                    </a:solidFill>
                    <a:latin typeface="Arial"/>
                    <a:ea typeface="Arial"/>
                    <a:cs typeface="Arial"/>
                    <a:sym typeface="Arial"/>
                  </a:rPr>
                  <a:t>   es uniforme en el interior.</a:t>
                </a:r>
                <a:endParaRPr b="0" i="0" sz="2000" u="none" cap="none" strike="noStrike">
                  <a:solidFill>
                    <a:srgbClr val="0033C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04" name="Google Shape;804;p2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264" y="3836"/>
                <a:ext cx="128" cy="16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805" name="Google Shape;805;p27"/>
          <p:cNvSpPr txBox="1"/>
          <p:nvPr/>
        </p:nvSpPr>
        <p:spPr>
          <a:xfrm rot="-5393777">
            <a:off x="-601662" y="4265614"/>
            <a:ext cx="4727575" cy="47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Autores Mar Artigao Castillo, Manuel Sánchez Martínez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Dpto de Física Aplicada, Escuela Politécnica Superior de Albacete (UCLM)</a:t>
            </a:r>
            <a:endParaRPr/>
          </a:p>
        </p:txBody>
      </p:sp>
      <p:grpSp>
        <p:nvGrpSpPr>
          <p:cNvPr id="806" name="Google Shape;806;p27"/>
          <p:cNvGrpSpPr/>
          <p:nvPr/>
        </p:nvGrpSpPr>
        <p:grpSpPr>
          <a:xfrm>
            <a:off x="5905500" y="3632200"/>
            <a:ext cx="2413000" cy="787400"/>
            <a:chOff x="2760" y="2288"/>
            <a:chExt cx="1520" cy="496"/>
          </a:xfrm>
        </p:grpSpPr>
        <p:sp>
          <p:nvSpPr>
            <p:cNvPr id="807" name="Google Shape;807;p27"/>
            <p:cNvSpPr/>
            <p:nvPr/>
          </p:nvSpPr>
          <p:spPr>
            <a:xfrm>
              <a:off x="2760" y="2600"/>
              <a:ext cx="496" cy="176"/>
            </a:xfrm>
            <a:prstGeom prst="curvedUpArrow">
              <a:avLst>
                <a:gd fmla="val 56364" name="adj1"/>
                <a:gd fmla="val 112727" name="adj2"/>
                <a:gd fmla="val 33333" name="adj3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8" name="Google Shape;808;p27"/>
            <p:cNvGrpSpPr/>
            <p:nvPr/>
          </p:nvGrpSpPr>
          <p:grpSpPr>
            <a:xfrm>
              <a:off x="3280" y="2288"/>
              <a:ext cx="1000" cy="496"/>
              <a:chOff x="3280" y="2288"/>
              <a:chExt cx="1000" cy="496"/>
            </a:xfrm>
          </p:grpSpPr>
          <p:pic>
            <p:nvPicPr>
              <p:cNvPr id="809" name="Google Shape;809;p2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54" y="2335"/>
                <a:ext cx="864" cy="38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0" name="Google Shape;810;p27"/>
              <p:cNvSpPr/>
              <p:nvPr/>
            </p:nvSpPr>
            <p:spPr>
              <a:xfrm>
                <a:off x="3280" y="2288"/>
                <a:ext cx="1000" cy="496"/>
              </a:xfrm>
              <a:prstGeom prst="rect">
                <a:avLst/>
              </a:prstGeom>
              <a:noFill/>
              <a:ln cap="flat" cmpd="sng" w="28575">
                <a:solidFill>
                  <a:srgbClr val="CC33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11" name="Google Shape;811;p27"/>
          <p:cNvGrpSpPr/>
          <p:nvPr/>
        </p:nvGrpSpPr>
        <p:grpSpPr>
          <a:xfrm>
            <a:off x="4953000" y="5232401"/>
            <a:ext cx="5715000" cy="701675"/>
            <a:chOff x="2160" y="3296"/>
            <a:chExt cx="3600" cy="442"/>
          </a:xfrm>
        </p:grpSpPr>
        <p:pic>
          <p:nvPicPr>
            <p:cNvPr id="812" name="Google Shape;812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160" y="3344"/>
              <a:ext cx="896" cy="1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3" name="Google Shape;813;p27"/>
            <p:cNvSpPr txBox="1"/>
            <p:nvPr/>
          </p:nvSpPr>
          <p:spPr>
            <a:xfrm>
              <a:off x="3568" y="3296"/>
              <a:ext cx="2192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La corriente que entra es igual a la que sale.</a:t>
              </a:r>
              <a:endParaRPr b="0" i="0" sz="2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27"/>
            <p:cNvSpPr/>
            <p:nvPr/>
          </p:nvSpPr>
          <p:spPr>
            <a:xfrm>
              <a:off x="3156" y="3368"/>
              <a:ext cx="289" cy="144"/>
            </a:xfrm>
            <a:prstGeom prst="notchedRightArrow">
              <a:avLst>
                <a:gd fmla="val 50000" name="adj1"/>
                <a:gd fmla="val 50174" name="adj2"/>
              </a:avLst>
            </a:prstGeom>
            <a:gradFill>
              <a:gsLst>
                <a:gs pos="0">
                  <a:srgbClr val="D6D172"/>
                </a:gs>
                <a:gs pos="100000">
                  <a:schemeClr val="lt1"/>
                </a:gs>
              </a:gsLst>
              <a:lin ang="5400000" scaled="0"/>
            </a:gradFill>
            <a:ln cap="flat" cmpd="sng" w="9525">
              <a:solidFill>
                <a:srgbClr val="FF66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5" name="Google Shape;815;p27"/>
          <p:cNvGrpSpPr/>
          <p:nvPr/>
        </p:nvGrpSpPr>
        <p:grpSpPr>
          <a:xfrm>
            <a:off x="2439988" y="1112838"/>
            <a:ext cx="3181350" cy="2455862"/>
            <a:chOff x="577" y="701"/>
            <a:chExt cx="2004" cy="1547"/>
          </a:xfrm>
        </p:grpSpPr>
        <p:pic>
          <p:nvPicPr>
            <p:cNvPr id="816" name="Google Shape;816;p2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77" y="701"/>
              <a:ext cx="2004" cy="154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817" name="Google Shape;817;p27"/>
            <p:cNvCxnSpPr/>
            <p:nvPr/>
          </p:nvCxnSpPr>
          <p:spPr>
            <a:xfrm flipH="1" rot="10800000">
              <a:off x="1822" y="958"/>
              <a:ext cx="204" cy="4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18" name="Google Shape;818;p27"/>
            <p:cNvCxnSpPr/>
            <p:nvPr/>
          </p:nvCxnSpPr>
          <p:spPr>
            <a:xfrm flipH="1" rot="10800000">
              <a:off x="1814" y="1270"/>
              <a:ext cx="408" cy="19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19" name="Google Shape;819;p27"/>
            <p:cNvCxnSpPr/>
            <p:nvPr/>
          </p:nvCxnSpPr>
          <p:spPr>
            <a:xfrm>
              <a:off x="1814" y="1462"/>
              <a:ext cx="624" cy="12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20" name="Google Shape;820;p27"/>
            <p:cNvCxnSpPr/>
            <p:nvPr/>
          </p:nvCxnSpPr>
          <p:spPr>
            <a:xfrm rot="10800000">
              <a:off x="816" y="1318"/>
              <a:ext cx="19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21" name="Google Shape;821;p27"/>
            <p:cNvCxnSpPr/>
            <p:nvPr/>
          </p:nvCxnSpPr>
          <p:spPr>
            <a:xfrm>
              <a:off x="844" y="1551"/>
              <a:ext cx="21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2021-11-21T16:37:08Z</dcterms:created>
  <dc:creator>Leonardo Daniel Bennun Torres</dc:creator>
</cp:coreProperties>
</file>