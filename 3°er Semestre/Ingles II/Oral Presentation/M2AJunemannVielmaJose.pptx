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Cardo" panose="020B0604020202020204" charset="-79"/>
      <p:regular r:id="rId10"/>
    </p:embeddedFont>
    <p:embeddedFont>
      <p:font typeface="Open Sans" panose="020B0606030504020204" pitchFamily="34" charset="0"/>
      <p:regular r:id="rId11"/>
      <p:bold r:id="rId12"/>
      <p:italic r:id="rId13"/>
      <p:boldItalic r:id="rId14"/>
    </p:embeddedFont>
    <p:embeddedFont>
      <p:font typeface="Open Sans Bold" panose="020B0806030504020204" pitchFamily="34" charset="0"/>
      <p:regular r:id="rId15"/>
      <p:bold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0" d="100"/>
          <a:sy n="40" d="100"/>
        </p:scale>
        <p:origin x="78" y="10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5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e Benjamin Junemann Vielma" userId="d6b0ba9c-06b8-4797-bfd6-bdeafbf7e124" providerId="ADAL" clId="{0978A079-036B-48F2-8597-5B23A9648FCB}"/>
    <pc:docChg chg="custSel modSld">
      <pc:chgData name="Jose Benjamin Junemann Vielma" userId="d6b0ba9c-06b8-4797-bfd6-bdeafbf7e124" providerId="ADAL" clId="{0978A079-036B-48F2-8597-5B23A9648FCB}" dt="2025-05-30T04:24:49.611" v="184" actId="14100"/>
      <pc:docMkLst>
        <pc:docMk/>
      </pc:docMkLst>
      <pc:sldChg chg="modSp mod">
        <pc:chgData name="Jose Benjamin Junemann Vielma" userId="d6b0ba9c-06b8-4797-bfd6-bdeafbf7e124" providerId="ADAL" clId="{0978A079-036B-48F2-8597-5B23A9648FCB}" dt="2025-05-30T04:16:45.468" v="22" actId="1076"/>
        <pc:sldMkLst>
          <pc:docMk/>
          <pc:sldMk cId="0" sldId="256"/>
        </pc:sldMkLst>
        <pc:spChg chg="mod">
          <ac:chgData name="Jose Benjamin Junemann Vielma" userId="d6b0ba9c-06b8-4797-bfd6-bdeafbf7e124" providerId="ADAL" clId="{0978A079-036B-48F2-8597-5B23A9648FCB}" dt="2025-05-30T04:16:45.468" v="22" actId="1076"/>
          <ac:spMkLst>
            <pc:docMk/>
            <pc:sldMk cId="0" sldId="256"/>
            <ac:spMk id="7" creationId="{00000000-0000-0000-0000-000000000000}"/>
          </ac:spMkLst>
        </pc:spChg>
      </pc:sldChg>
      <pc:sldChg chg="modSp mod">
        <pc:chgData name="Jose Benjamin Junemann Vielma" userId="d6b0ba9c-06b8-4797-bfd6-bdeafbf7e124" providerId="ADAL" clId="{0978A079-036B-48F2-8597-5B23A9648FCB}" dt="2025-05-30T04:17:25.207" v="60" actId="20577"/>
        <pc:sldMkLst>
          <pc:docMk/>
          <pc:sldMk cId="0" sldId="257"/>
        </pc:sldMkLst>
        <pc:spChg chg="mod">
          <ac:chgData name="Jose Benjamin Junemann Vielma" userId="d6b0ba9c-06b8-4797-bfd6-bdeafbf7e124" providerId="ADAL" clId="{0978A079-036B-48F2-8597-5B23A9648FCB}" dt="2025-05-30T04:17:25.207" v="60" actId="20577"/>
          <ac:spMkLst>
            <pc:docMk/>
            <pc:sldMk cId="0" sldId="257"/>
            <ac:spMk id="3" creationId="{00000000-0000-0000-0000-000000000000}"/>
          </ac:spMkLst>
        </pc:spChg>
      </pc:sldChg>
      <pc:sldChg chg="delSp modSp mod">
        <pc:chgData name="Jose Benjamin Junemann Vielma" userId="d6b0ba9c-06b8-4797-bfd6-bdeafbf7e124" providerId="ADAL" clId="{0978A079-036B-48F2-8597-5B23A9648FCB}" dt="2025-05-30T04:23:27.325" v="176" actId="1076"/>
        <pc:sldMkLst>
          <pc:docMk/>
          <pc:sldMk cId="0" sldId="259"/>
        </pc:sldMkLst>
        <pc:spChg chg="del mod">
          <ac:chgData name="Jose Benjamin Junemann Vielma" userId="d6b0ba9c-06b8-4797-bfd6-bdeafbf7e124" providerId="ADAL" clId="{0978A079-036B-48F2-8597-5B23A9648FCB}" dt="2025-05-30T04:17:55.552" v="76" actId="478"/>
          <ac:spMkLst>
            <pc:docMk/>
            <pc:sldMk cId="0" sldId="259"/>
            <ac:spMk id="2" creationId="{00000000-0000-0000-0000-000000000000}"/>
          </ac:spMkLst>
        </pc:spChg>
        <pc:spChg chg="mod">
          <ac:chgData name="Jose Benjamin Junemann Vielma" userId="d6b0ba9c-06b8-4797-bfd6-bdeafbf7e124" providerId="ADAL" clId="{0978A079-036B-48F2-8597-5B23A9648FCB}" dt="2025-05-30T04:17:40.480" v="73" actId="1076"/>
          <ac:spMkLst>
            <pc:docMk/>
            <pc:sldMk cId="0" sldId="259"/>
            <ac:spMk id="5" creationId="{00000000-0000-0000-0000-000000000000}"/>
          </ac:spMkLst>
        </pc:spChg>
        <pc:spChg chg="mod">
          <ac:chgData name="Jose Benjamin Junemann Vielma" userId="d6b0ba9c-06b8-4797-bfd6-bdeafbf7e124" providerId="ADAL" clId="{0978A079-036B-48F2-8597-5B23A9648FCB}" dt="2025-05-30T04:23:27.325" v="176" actId="1076"/>
          <ac:spMkLst>
            <pc:docMk/>
            <pc:sldMk cId="0" sldId="259"/>
            <ac:spMk id="7" creationId="{00000000-0000-0000-0000-000000000000}"/>
          </ac:spMkLst>
        </pc:spChg>
      </pc:sldChg>
      <pc:sldChg chg="modSp mod">
        <pc:chgData name="Jose Benjamin Junemann Vielma" userId="d6b0ba9c-06b8-4797-bfd6-bdeafbf7e124" providerId="ADAL" clId="{0978A079-036B-48F2-8597-5B23A9648FCB}" dt="2025-05-30T04:24:49.611" v="184" actId="14100"/>
        <pc:sldMkLst>
          <pc:docMk/>
          <pc:sldMk cId="0" sldId="260"/>
        </pc:sldMkLst>
        <pc:spChg chg="mod">
          <ac:chgData name="Jose Benjamin Junemann Vielma" userId="d6b0ba9c-06b8-4797-bfd6-bdeafbf7e124" providerId="ADAL" clId="{0978A079-036B-48F2-8597-5B23A9648FCB}" dt="2025-05-30T04:19:42.242" v="83" actId="1076"/>
          <ac:spMkLst>
            <pc:docMk/>
            <pc:sldMk cId="0" sldId="260"/>
            <ac:spMk id="8" creationId="{00000000-0000-0000-0000-000000000000}"/>
          </ac:spMkLst>
        </pc:spChg>
        <pc:spChg chg="mod">
          <ac:chgData name="Jose Benjamin Junemann Vielma" userId="d6b0ba9c-06b8-4797-bfd6-bdeafbf7e124" providerId="ADAL" clId="{0978A079-036B-48F2-8597-5B23A9648FCB}" dt="2025-05-30T04:24:49.611" v="184" actId="14100"/>
          <ac:spMkLst>
            <pc:docMk/>
            <pc:sldMk cId="0" sldId="260"/>
            <ac:spMk id="10" creationId="{00000000-0000-0000-0000-000000000000}"/>
          </ac:spMkLst>
        </pc:spChg>
      </pc:sldChg>
      <pc:sldChg chg="modSp mod">
        <pc:chgData name="Jose Benjamin Junemann Vielma" userId="d6b0ba9c-06b8-4797-bfd6-bdeafbf7e124" providerId="ADAL" clId="{0978A079-036B-48F2-8597-5B23A9648FCB}" dt="2025-05-30T04:21:05.618" v="141" actId="1076"/>
        <pc:sldMkLst>
          <pc:docMk/>
          <pc:sldMk cId="0" sldId="261"/>
        </pc:sldMkLst>
        <pc:spChg chg="mod">
          <ac:chgData name="Jose Benjamin Junemann Vielma" userId="d6b0ba9c-06b8-4797-bfd6-bdeafbf7e124" providerId="ADAL" clId="{0978A079-036B-48F2-8597-5B23A9648FCB}" dt="2025-05-30T04:21:05.618" v="141" actId="1076"/>
          <ac:spMkLst>
            <pc:docMk/>
            <pc:sldMk cId="0" sldId="261"/>
            <ac:spMk id="13" creationId="{00000000-0000-0000-0000-000000000000}"/>
          </ac:spMkLst>
        </pc:spChg>
      </pc:sldChg>
      <pc:sldChg chg="modSp mod">
        <pc:chgData name="Jose Benjamin Junemann Vielma" userId="d6b0ba9c-06b8-4797-bfd6-bdeafbf7e124" providerId="ADAL" clId="{0978A079-036B-48F2-8597-5B23A9648FCB}" dt="2025-05-30T04:21:25.699" v="149" actId="20577"/>
        <pc:sldMkLst>
          <pc:docMk/>
          <pc:sldMk cId="0" sldId="262"/>
        </pc:sldMkLst>
        <pc:spChg chg="mod">
          <ac:chgData name="Jose Benjamin Junemann Vielma" userId="d6b0ba9c-06b8-4797-bfd6-bdeafbf7e124" providerId="ADAL" clId="{0978A079-036B-48F2-8597-5B23A9648FCB}" dt="2025-05-30T04:21:25.699" v="149" actId="20577"/>
          <ac:spMkLst>
            <pc:docMk/>
            <pc:sldMk cId="0" sldId="262"/>
            <ac:spMk id="6" creationId="{00000000-0000-0000-0000-000000000000}"/>
          </ac:spMkLst>
        </pc:spChg>
      </pc:sldChg>
      <pc:sldChg chg="modSp mod">
        <pc:chgData name="Jose Benjamin Junemann Vielma" userId="d6b0ba9c-06b8-4797-bfd6-bdeafbf7e124" providerId="ADAL" clId="{0978A079-036B-48F2-8597-5B23A9648FCB}" dt="2025-05-30T04:24:22.532" v="177" actId="1076"/>
        <pc:sldMkLst>
          <pc:docMk/>
          <pc:sldMk cId="0" sldId="263"/>
        </pc:sldMkLst>
        <pc:spChg chg="mod">
          <ac:chgData name="Jose Benjamin Junemann Vielma" userId="d6b0ba9c-06b8-4797-bfd6-bdeafbf7e124" providerId="ADAL" clId="{0978A079-036B-48F2-8597-5B23A9648FCB}" dt="2025-05-30T04:24:22.532" v="177" actId="1076"/>
          <ac:spMkLst>
            <pc:docMk/>
            <pc:sldMk cId="0" sldId="263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891405" y="5389385"/>
            <a:ext cx="8552816" cy="5858679"/>
          </a:xfrm>
          <a:custGeom>
            <a:avLst/>
            <a:gdLst/>
            <a:ahLst/>
            <a:cxnLst/>
            <a:rect l="l" t="t" r="r" b="b"/>
            <a:pathLst>
              <a:path w="8552816" h="5858679">
                <a:moveTo>
                  <a:pt x="0" y="0"/>
                </a:moveTo>
                <a:lnTo>
                  <a:pt x="8552816" y="0"/>
                </a:lnTo>
                <a:lnTo>
                  <a:pt x="8552816" y="5858679"/>
                </a:lnTo>
                <a:lnTo>
                  <a:pt x="0" y="58586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9518687" y="3676743"/>
            <a:ext cx="1092359" cy="1121375"/>
          </a:xfrm>
          <a:custGeom>
            <a:avLst/>
            <a:gdLst/>
            <a:ahLst/>
            <a:cxnLst/>
            <a:rect l="l" t="t" r="r" b="b"/>
            <a:pathLst>
              <a:path w="1092359" h="1121375">
                <a:moveTo>
                  <a:pt x="0" y="0"/>
                </a:moveTo>
                <a:lnTo>
                  <a:pt x="1092359" y="0"/>
                </a:lnTo>
                <a:lnTo>
                  <a:pt x="1092359" y="1121375"/>
                </a:lnTo>
                <a:lnTo>
                  <a:pt x="0" y="11213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5321965" y="2933700"/>
            <a:ext cx="7178823" cy="4706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976"/>
              </a:lnSpc>
            </a:pPr>
            <a:r>
              <a:rPr lang="en-US" sz="13554" spc="-338" dirty="0">
                <a:solidFill>
                  <a:srgbClr val="000000"/>
                </a:solidFill>
                <a:latin typeface="Cardo"/>
                <a:ea typeface="Cardo"/>
                <a:cs typeface="Cardo"/>
                <a:sym typeface="Cardo"/>
              </a:rPr>
              <a:t>Cardi   </a:t>
            </a:r>
            <a:r>
              <a:rPr lang="en-US" sz="13554" spc="-338" dirty="0" err="1">
                <a:solidFill>
                  <a:srgbClr val="000000"/>
                </a:solidFill>
                <a:latin typeface="Cardo"/>
                <a:ea typeface="Cardo"/>
                <a:cs typeface="Cardo"/>
                <a:sym typeface="Cardo"/>
              </a:rPr>
              <a:t>als</a:t>
            </a:r>
            <a:r>
              <a:rPr lang="en-US" sz="13554" spc="-338" dirty="0">
                <a:solidFill>
                  <a:srgbClr val="000000"/>
                </a:solidFill>
                <a:latin typeface="Cardo"/>
                <a:ea typeface="Cardo"/>
                <a:cs typeface="Cardo"/>
                <a:sym typeface="Cardo"/>
              </a:rPr>
              <a:t> </a:t>
            </a:r>
          </a:p>
          <a:p>
            <a:pPr algn="ctr">
              <a:lnSpc>
                <a:spcPts val="18976"/>
              </a:lnSpc>
            </a:pPr>
            <a:endParaRPr lang="en-US" sz="13554" spc="-338" dirty="0">
              <a:solidFill>
                <a:srgbClr val="000000"/>
              </a:solidFill>
              <a:latin typeface="Cardo"/>
              <a:ea typeface="Cardo"/>
              <a:cs typeface="Cardo"/>
              <a:sym typeface="Cardo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9139238" y="4652327"/>
            <a:ext cx="9525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7458660" y="4914687"/>
            <a:ext cx="4120053" cy="5741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 Mathematics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068163" y="1942979"/>
            <a:ext cx="6053399" cy="6053399"/>
          </a:xfrm>
          <a:custGeom>
            <a:avLst/>
            <a:gdLst/>
            <a:ahLst/>
            <a:cxnLst/>
            <a:rect l="l" t="t" r="r" b="b"/>
            <a:pathLst>
              <a:path w="6053399" h="6053399">
                <a:moveTo>
                  <a:pt x="0" y="0"/>
                </a:moveTo>
                <a:lnTo>
                  <a:pt x="6053399" y="0"/>
                </a:lnTo>
                <a:lnTo>
                  <a:pt x="6053399" y="6053399"/>
                </a:lnTo>
                <a:lnTo>
                  <a:pt x="0" y="60533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2523455" y="2854253"/>
            <a:ext cx="6925345" cy="62417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50288" lvl="1" indent="-375144" algn="l">
              <a:lnSpc>
                <a:spcPts val="4865"/>
              </a:lnSpc>
              <a:buFont typeface="Arial"/>
              <a:buChar char="•"/>
            </a:pPr>
            <a:r>
              <a:rPr lang="en-US" sz="3475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Finite Sets</a:t>
            </a:r>
          </a:p>
          <a:p>
            <a:pPr algn="l">
              <a:lnSpc>
                <a:spcPts val="4865"/>
              </a:lnSpc>
            </a:pPr>
            <a:endParaRPr lang="en-US" sz="3475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750288" lvl="1" indent="-375144" algn="l">
              <a:lnSpc>
                <a:spcPts val="4865"/>
              </a:lnSpc>
              <a:buFont typeface="Arial"/>
              <a:buChar char="•"/>
            </a:pPr>
            <a:r>
              <a:rPr lang="en-US" sz="3475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Infinite Sets</a:t>
            </a:r>
          </a:p>
          <a:p>
            <a:pPr algn="l">
              <a:lnSpc>
                <a:spcPts val="4865"/>
              </a:lnSpc>
            </a:pPr>
            <a:endParaRPr lang="en-US" sz="3475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750288" lvl="1" indent="-375144" algn="l">
              <a:lnSpc>
                <a:spcPts val="4865"/>
              </a:lnSpc>
              <a:buFont typeface="Arial"/>
              <a:buChar char="•"/>
            </a:pPr>
            <a:r>
              <a:rPr lang="en-US" sz="3475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Important Mathematicians</a:t>
            </a:r>
          </a:p>
          <a:p>
            <a:pPr algn="l">
              <a:lnSpc>
                <a:spcPts val="4865"/>
              </a:lnSpc>
            </a:pPr>
            <a:endParaRPr lang="en-US" sz="3475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750288" lvl="1" indent="-375144" algn="l">
              <a:lnSpc>
                <a:spcPts val="4865"/>
              </a:lnSpc>
              <a:buFont typeface="Arial"/>
              <a:buChar char="•"/>
            </a:pPr>
            <a:r>
              <a:rPr lang="en-US" sz="3475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Cardinal Numbers</a:t>
            </a:r>
          </a:p>
          <a:p>
            <a:pPr algn="l">
              <a:lnSpc>
                <a:spcPts val="4865"/>
              </a:lnSpc>
            </a:pPr>
            <a:endParaRPr lang="en-US" sz="3475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750288" lvl="1" indent="-375144" algn="l">
              <a:lnSpc>
                <a:spcPts val="4865"/>
              </a:lnSpc>
              <a:buFont typeface="Arial"/>
              <a:buChar char="•"/>
            </a:pPr>
            <a:r>
              <a:rPr lang="en-US" sz="3475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Conclusion</a:t>
            </a:r>
          </a:p>
          <a:p>
            <a:pPr algn="l">
              <a:lnSpc>
                <a:spcPts val="4865"/>
              </a:lnSpc>
            </a:pPr>
            <a:endParaRPr lang="en-US" sz="3475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028700" y="933450"/>
            <a:ext cx="3543300" cy="8870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Contents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152111" y="4316024"/>
            <a:ext cx="4107189" cy="2415074"/>
          </a:xfrm>
          <a:custGeom>
            <a:avLst/>
            <a:gdLst/>
            <a:ahLst/>
            <a:cxnLst/>
            <a:rect l="l" t="t" r="r" b="b"/>
            <a:pathLst>
              <a:path w="4107189" h="2415074">
                <a:moveTo>
                  <a:pt x="0" y="0"/>
                </a:moveTo>
                <a:lnTo>
                  <a:pt x="4107189" y="0"/>
                </a:lnTo>
                <a:lnTo>
                  <a:pt x="4107189" y="2415074"/>
                </a:lnTo>
                <a:lnTo>
                  <a:pt x="0" y="24150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80" b="-88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642194" y="3889039"/>
            <a:ext cx="4457700" cy="3269043"/>
          </a:xfrm>
          <a:custGeom>
            <a:avLst/>
            <a:gdLst/>
            <a:ahLst/>
            <a:cxnLst/>
            <a:rect l="l" t="t" r="r" b="b"/>
            <a:pathLst>
              <a:path w="4670062" h="3269043">
                <a:moveTo>
                  <a:pt x="0" y="0"/>
                </a:moveTo>
                <a:lnTo>
                  <a:pt x="4670062" y="0"/>
                </a:lnTo>
                <a:lnTo>
                  <a:pt x="4670062" y="3269043"/>
                </a:lnTo>
                <a:lnTo>
                  <a:pt x="0" y="32690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7391400" y="3889039"/>
            <a:ext cx="3844206" cy="3431097"/>
          </a:xfrm>
          <a:custGeom>
            <a:avLst/>
            <a:gdLst/>
            <a:ahLst/>
            <a:cxnLst/>
            <a:rect l="l" t="t" r="r" b="b"/>
            <a:pathLst>
              <a:path w="3844206" h="3431097">
                <a:moveTo>
                  <a:pt x="0" y="0"/>
                </a:moveTo>
                <a:lnTo>
                  <a:pt x="3844206" y="0"/>
                </a:lnTo>
                <a:lnTo>
                  <a:pt x="3844206" y="3431098"/>
                </a:lnTo>
                <a:lnTo>
                  <a:pt x="0" y="34310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-152400" y="935993"/>
            <a:ext cx="6591300" cy="18110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Finite Sets</a:t>
            </a:r>
          </a:p>
          <a:p>
            <a:pPr algn="ctr">
              <a:lnSpc>
                <a:spcPts val="7279"/>
              </a:lnSpc>
            </a:pPr>
            <a:endParaRPr lang="en-US" sz="5199" b="1" dirty="0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028700" y="1819910"/>
            <a:ext cx="9334500" cy="18053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How do we count the elements of a set?</a:t>
            </a:r>
          </a:p>
          <a:p>
            <a:pPr algn="ctr">
              <a:lnSpc>
                <a:spcPts val="4759"/>
              </a:lnSpc>
            </a:pPr>
            <a:endParaRPr lang="en-US" sz="3399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ctr">
              <a:lnSpc>
                <a:spcPts val="4759"/>
              </a:lnSpc>
            </a:pPr>
            <a:r>
              <a:rPr lang="en-US" sz="33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3672608" y="4474323"/>
            <a:ext cx="1426376" cy="1506253"/>
          </a:xfrm>
          <a:custGeom>
            <a:avLst/>
            <a:gdLst/>
            <a:ahLst/>
            <a:cxnLst/>
            <a:rect l="l" t="t" r="r" b="b"/>
            <a:pathLst>
              <a:path w="1426376" h="1506253">
                <a:moveTo>
                  <a:pt x="0" y="0"/>
                </a:moveTo>
                <a:lnTo>
                  <a:pt x="1426376" y="0"/>
                </a:lnTo>
                <a:lnTo>
                  <a:pt x="1426376" y="1506254"/>
                </a:lnTo>
                <a:lnTo>
                  <a:pt x="0" y="15062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8481963" y="4306423"/>
            <a:ext cx="1409220" cy="1674154"/>
          </a:xfrm>
          <a:custGeom>
            <a:avLst/>
            <a:gdLst/>
            <a:ahLst/>
            <a:cxnLst/>
            <a:rect l="l" t="t" r="r" b="b"/>
            <a:pathLst>
              <a:path w="1409220" h="1674154">
                <a:moveTo>
                  <a:pt x="0" y="0"/>
                </a:moveTo>
                <a:lnTo>
                  <a:pt x="1409220" y="0"/>
                </a:lnTo>
                <a:lnTo>
                  <a:pt x="1409220" y="1674154"/>
                </a:lnTo>
                <a:lnTo>
                  <a:pt x="0" y="16741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0" y="900112"/>
            <a:ext cx="5697364" cy="18110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Infinite Sets</a:t>
            </a:r>
          </a:p>
          <a:p>
            <a:pPr algn="ctr">
              <a:lnSpc>
                <a:spcPts val="7279"/>
              </a:lnSpc>
            </a:pPr>
            <a:endParaRPr lang="en-US" sz="5199" b="1" dirty="0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3189016" y="4392606"/>
            <a:ext cx="1507677" cy="1501788"/>
          </a:xfrm>
          <a:custGeom>
            <a:avLst/>
            <a:gdLst/>
            <a:ahLst/>
            <a:cxnLst/>
            <a:rect l="l" t="t" r="r" b="b"/>
            <a:pathLst>
              <a:path w="1507677" h="1501788">
                <a:moveTo>
                  <a:pt x="0" y="0"/>
                </a:moveTo>
                <a:lnTo>
                  <a:pt x="1507677" y="0"/>
                </a:lnTo>
                <a:lnTo>
                  <a:pt x="1507677" y="1501788"/>
                </a:lnTo>
                <a:lnTo>
                  <a:pt x="0" y="15017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619832" y="1781171"/>
            <a:ext cx="4457700" cy="11804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Some examples:</a:t>
            </a:r>
          </a:p>
          <a:p>
            <a:pPr algn="ctr">
              <a:lnSpc>
                <a:spcPts val="4759"/>
              </a:lnSpc>
            </a:pPr>
            <a:endParaRPr lang="en-US" sz="3399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077089" y="570686"/>
            <a:ext cx="2857349" cy="3745588"/>
          </a:xfrm>
          <a:custGeom>
            <a:avLst/>
            <a:gdLst/>
            <a:ahLst/>
            <a:cxnLst/>
            <a:rect l="l" t="t" r="r" b="b"/>
            <a:pathLst>
              <a:path w="2857349" h="3745588">
                <a:moveTo>
                  <a:pt x="0" y="0"/>
                </a:moveTo>
                <a:lnTo>
                  <a:pt x="2857349" y="0"/>
                </a:lnTo>
                <a:lnTo>
                  <a:pt x="2857349" y="3745588"/>
                </a:lnTo>
                <a:lnTo>
                  <a:pt x="0" y="37455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2825764" y="2762538"/>
            <a:ext cx="3345251" cy="4761923"/>
          </a:xfrm>
          <a:custGeom>
            <a:avLst/>
            <a:gdLst/>
            <a:ahLst/>
            <a:cxnLst/>
            <a:rect l="l" t="t" r="r" b="b"/>
            <a:pathLst>
              <a:path w="3345251" h="4761923">
                <a:moveTo>
                  <a:pt x="0" y="0"/>
                </a:moveTo>
                <a:lnTo>
                  <a:pt x="3345251" y="0"/>
                </a:lnTo>
                <a:lnTo>
                  <a:pt x="3345251" y="4761924"/>
                </a:lnTo>
                <a:lnTo>
                  <a:pt x="0" y="47619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1123776" y="6191475"/>
            <a:ext cx="2746300" cy="3362817"/>
          </a:xfrm>
          <a:custGeom>
            <a:avLst/>
            <a:gdLst/>
            <a:ahLst/>
            <a:cxnLst/>
            <a:rect l="l" t="t" r="r" b="b"/>
            <a:pathLst>
              <a:path w="2746300" h="3362817">
                <a:moveTo>
                  <a:pt x="0" y="0"/>
                </a:moveTo>
                <a:lnTo>
                  <a:pt x="2746300" y="0"/>
                </a:lnTo>
                <a:lnTo>
                  <a:pt x="2746300" y="3362817"/>
                </a:lnTo>
                <a:lnTo>
                  <a:pt x="0" y="33628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0" y="951518"/>
            <a:ext cx="7311777" cy="18110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George Cantor</a:t>
            </a:r>
          </a:p>
          <a:p>
            <a:pPr algn="ctr">
              <a:lnSpc>
                <a:spcPts val="7279"/>
              </a:lnSpc>
            </a:pPr>
            <a:endParaRPr lang="en-US" sz="5199" b="1" dirty="0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035219" y="1784047"/>
            <a:ext cx="8475911" cy="11804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The idea of different sizes of infinities</a:t>
            </a:r>
          </a:p>
          <a:p>
            <a:pPr algn="ctr">
              <a:lnSpc>
                <a:spcPts val="4759"/>
              </a:lnSpc>
            </a:pPr>
            <a:endParaRPr lang="en-US" sz="3399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0" y="4038027"/>
            <a:ext cx="7048500" cy="8870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Ernst </a:t>
            </a:r>
            <a:r>
              <a:rPr lang="en-US" sz="5199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Zermelo</a:t>
            </a:r>
            <a:endParaRPr lang="en-US" sz="5199" b="1" dirty="0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173414" y="4818172"/>
            <a:ext cx="5961311" cy="11804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The well-ordering principle</a:t>
            </a:r>
          </a:p>
          <a:p>
            <a:pPr algn="ctr">
              <a:lnSpc>
                <a:spcPts val="4759"/>
              </a:lnSpc>
            </a:pPr>
            <a:r>
              <a:rPr lang="en-US" sz="33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01488" y="7087706"/>
            <a:ext cx="5185023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Felix </a:t>
            </a:r>
            <a:r>
              <a:rPr lang="en-US" sz="5199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Hausdorff</a:t>
            </a:r>
            <a:r>
              <a:rPr lang="en-US" sz="5199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00200" y="7974801"/>
            <a:ext cx="8991600" cy="11897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759"/>
              </a:lnSpc>
            </a:pPr>
            <a:r>
              <a:rPr lang="en-US" sz="33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He formalized operations involving cardinal numbers.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585069" y="1731355"/>
            <a:ext cx="683378" cy="701531"/>
          </a:xfrm>
          <a:custGeom>
            <a:avLst/>
            <a:gdLst/>
            <a:ahLst/>
            <a:cxnLst/>
            <a:rect l="l" t="t" r="r" b="b"/>
            <a:pathLst>
              <a:path w="683378" h="701531">
                <a:moveTo>
                  <a:pt x="0" y="0"/>
                </a:moveTo>
                <a:lnTo>
                  <a:pt x="683379" y="0"/>
                </a:lnTo>
                <a:lnTo>
                  <a:pt x="683379" y="701531"/>
                </a:lnTo>
                <a:lnTo>
                  <a:pt x="0" y="7015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0" y="1236496"/>
            <a:ext cx="10352006" cy="29611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871"/>
              </a:lnSpc>
            </a:pPr>
            <a:r>
              <a:rPr lang="en-US" sz="8479" spc="-211" dirty="0">
                <a:solidFill>
                  <a:srgbClr val="000000"/>
                </a:solidFill>
                <a:latin typeface="Cardo"/>
                <a:ea typeface="Cardo"/>
                <a:cs typeface="Cardo"/>
                <a:sym typeface="Cardo"/>
              </a:rPr>
              <a:t>Cardi   al Numbers</a:t>
            </a:r>
          </a:p>
          <a:p>
            <a:pPr algn="ctr">
              <a:lnSpc>
                <a:spcPts val="11871"/>
              </a:lnSpc>
            </a:pPr>
            <a:endParaRPr lang="en-US" sz="8479" spc="-211" dirty="0">
              <a:solidFill>
                <a:srgbClr val="000000"/>
              </a:solidFill>
              <a:latin typeface="Cardo"/>
              <a:ea typeface="Cardo"/>
              <a:cs typeface="Cardo"/>
              <a:sym typeface="Cardo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5371837" y="4909076"/>
            <a:ext cx="768851" cy="1120083"/>
          </a:xfrm>
          <a:custGeom>
            <a:avLst/>
            <a:gdLst/>
            <a:ahLst/>
            <a:cxnLst/>
            <a:rect l="l" t="t" r="r" b="b"/>
            <a:pathLst>
              <a:path w="768851" h="1120083">
                <a:moveTo>
                  <a:pt x="0" y="0"/>
                </a:moveTo>
                <a:lnTo>
                  <a:pt x="768851" y="0"/>
                </a:lnTo>
                <a:lnTo>
                  <a:pt x="768851" y="1120083"/>
                </a:lnTo>
                <a:lnTo>
                  <a:pt x="0" y="11200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42076" b="-11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4115234" y="5524820"/>
            <a:ext cx="4305300" cy="118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0</a:t>
            </a:r>
          </a:p>
          <a:p>
            <a:pPr algn="ctr">
              <a:lnSpc>
                <a:spcPts val="4759"/>
              </a:lnSpc>
            </a:pPr>
            <a:endParaRPr lang="en-US" sz="3399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7018798" y="4909076"/>
            <a:ext cx="768851" cy="1120083"/>
          </a:xfrm>
          <a:custGeom>
            <a:avLst/>
            <a:gdLst/>
            <a:ahLst/>
            <a:cxnLst/>
            <a:rect l="l" t="t" r="r" b="b"/>
            <a:pathLst>
              <a:path w="768851" h="1120083">
                <a:moveTo>
                  <a:pt x="0" y="0"/>
                </a:moveTo>
                <a:lnTo>
                  <a:pt x="768851" y="0"/>
                </a:lnTo>
                <a:lnTo>
                  <a:pt x="768851" y="1120083"/>
                </a:lnTo>
                <a:lnTo>
                  <a:pt x="0" y="11200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42076" b="-11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8879049" y="4909076"/>
            <a:ext cx="768851" cy="1120083"/>
          </a:xfrm>
          <a:custGeom>
            <a:avLst/>
            <a:gdLst/>
            <a:ahLst/>
            <a:cxnLst/>
            <a:rect l="l" t="t" r="r" b="b"/>
            <a:pathLst>
              <a:path w="768851" h="1120083">
                <a:moveTo>
                  <a:pt x="0" y="0"/>
                </a:moveTo>
                <a:lnTo>
                  <a:pt x="768851" y="0"/>
                </a:lnTo>
                <a:lnTo>
                  <a:pt x="768851" y="1120083"/>
                </a:lnTo>
                <a:lnTo>
                  <a:pt x="0" y="11200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42076" b="-11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2027167" y="4909076"/>
            <a:ext cx="768851" cy="1120083"/>
          </a:xfrm>
          <a:custGeom>
            <a:avLst/>
            <a:gdLst/>
            <a:ahLst/>
            <a:cxnLst/>
            <a:rect l="l" t="t" r="r" b="b"/>
            <a:pathLst>
              <a:path w="768851" h="1120083">
                <a:moveTo>
                  <a:pt x="0" y="0"/>
                </a:moveTo>
                <a:lnTo>
                  <a:pt x="768851" y="0"/>
                </a:lnTo>
                <a:lnTo>
                  <a:pt x="768851" y="1120083"/>
                </a:lnTo>
                <a:lnTo>
                  <a:pt x="0" y="11200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42076" b="-11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7511685" y="5524820"/>
            <a:ext cx="768851" cy="118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</a:p>
          <a:p>
            <a:pPr algn="ctr">
              <a:lnSpc>
                <a:spcPts val="4759"/>
              </a:lnSpc>
            </a:pPr>
            <a:endParaRPr lang="en-US" sz="3399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9647900" y="5524820"/>
            <a:ext cx="246906" cy="118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</a:p>
          <a:p>
            <a:pPr algn="ctr">
              <a:lnSpc>
                <a:spcPts val="4759"/>
              </a:lnSpc>
            </a:pPr>
            <a:endParaRPr lang="en-US" sz="3399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0352006" y="5267962"/>
            <a:ext cx="1579729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 . .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891268" y="5568000"/>
            <a:ext cx="333821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ω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66800" y="2677863"/>
            <a:ext cx="3599480" cy="5803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Aleph Notation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352800" y="2937006"/>
            <a:ext cx="3734144" cy="5604719"/>
          </a:xfrm>
          <a:custGeom>
            <a:avLst/>
            <a:gdLst/>
            <a:ahLst/>
            <a:cxnLst/>
            <a:rect l="l" t="t" r="r" b="b"/>
            <a:pathLst>
              <a:path w="3734144" h="5604719">
                <a:moveTo>
                  <a:pt x="0" y="0"/>
                </a:moveTo>
                <a:lnTo>
                  <a:pt x="3734144" y="0"/>
                </a:lnTo>
                <a:lnTo>
                  <a:pt x="3734144" y="5604719"/>
                </a:lnTo>
                <a:lnTo>
                  <a:pt x="0" y="56047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Freeform 3"/>
          <p:cNvSpPr/>
          <p:nvPr/>
        </p:nvSpPr>
        <p:spPr>
          <a:xfrm>
            <a:off x="10135531" y="3100451"/>
            <a:ext cx="5205661" cy="5277830"/>
          </a:xfrm>
          <a:custGeom>
            <a:avLst/>
            <a:gdLst/>
            <a:ahLst/>
            <a:cxnLst/>
            <a:rect l="l" t="t" r="r" b="b"/>
            <a:pathLst>
              <a:path w="5205661" h="5277830">
                <a:moveTo>
                  <a:pt x="0" y="0"/>
                </a:moveTo>
                <a:lnTo>
                  <a:pt x="5205661" y="0"/>
                </a:lnTo>
                <a:lnTo>
                  <a:pt x="5205661" y="5277830"/>
                </a:lnTo>
                <a:lnTo>
                  <a:pt x="0" y="52778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138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028700" y="923925"/>
            <a:ext cx="3783900" cy="1902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27"/>
              </a:lnSpc>
            </a:pPr>
            <a:r>
              <a:rPr lang="en-US" sz="5448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Conclusion</a:t>
            </a:r>
          </a:p>
          <a:p>
            <a:pPr algn="ctr">
              <a:lnSpc>
                <a:spcPts val="7627"/>
              </a:lnSpc>
            </a:pPr>
            <a:endParaRPr lang="en-US" sz="5448" b="1" dirty="0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9139238" y="4652327"/>
            <a:ext cx="9525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endParaRPr/>
          </a:p>
        </p:txBody>
      </p:sp>
      <p:sp>
        <p:nvSpPr>
          <p:cNvPr id="6" name="TextBox 6"/>
          <p:cNvSpPr txBox="1"/>
          <p:nvPr/>
        </p:nvSpPr>
        <p:spPr>
          <a:xfrm>
            <a:off x="555107" y="1875159"/>
            <a:ext cx="6099687" cy="5803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Why is this important?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052677" y="4936489"/>
            <a:ext cx="4235323" cy="6356958"/>
          </a:xfrm>
          <a:custGeom>
            <a:avLst/>
            <a:gdLst/>
            <a:ahLst/>
            <a:cxnLst/>
            <a:rect l="l" t="t" r="r" b="b"/>
            <a:pathLst>
              <a:path w="4235323" h="6356958">
                <a:moveTo>
                  <a:pt x="0" y="0"/>
                </a:moveTo>
                <a:lnTo>
                  <a:pt x="4235323" y="0"/>
                </a:lnTo>
                <a:lnTo>
                  <a:pt x="4235323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3505200" y="3086100"/>
            <a:ext cx="10287000" cy="48538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Thank you for your attention</a:t>
            </a:r>
          </a:p>
          <a:p>
            <a:pPr algn="ctr">
              <a:lnSpc>
                <a:spcPts val="12880"/>
              </a:lnSpc>
            </a:pPr>
            <a:endParaRPr lang="en-US" sz="9200" b="1" dirty="0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79</Words>
  <Application>Microsoft Office PowerPoint</Application>
  <PresentationFormat>Personalizado</PresentationFormat>
  <Paragraphs>35</Paragraphs>
  <Slides>8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9" baseType="lpstr"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Cardinals</dc:title>
  <cp:lastModifiedBy>Jose Benjamin Junemann Vielma</cp:lastModifiedBy>
  <cp:revision>6</cp:revision>
  <dcterms:created xsi:type="dcterms:W3CDTF">2006-08-16T00:00:00Z</dcterms:created>
  <dcterms:modified xsi:type="dcterms:W3CDTF">2025-06-25T23:27:35Z</dcterms:modified>
  <dc:identifier>DAGoA5RVlSI</dc:identifier>
</cp:coreProperties>
</file>