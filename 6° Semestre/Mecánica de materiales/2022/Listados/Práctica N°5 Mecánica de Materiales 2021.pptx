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sldIdLst>
    <p:sldId id="257" r:id="rId5"/>
    <p:sldId id="312" r:id="rId6"/>
    <p:sldId id="343" r:id="rId7"/>
    <p:sldId id="293" r:id="rId8"/>
    <p:sldId id="342" r:id="rId9"/>
    <p:sldId id="309" r:id="rId10"/>
    <p:sldId id="345" r:id="rId11"/>
    <p:sldId id="322" r:id="rId12"/>
    <p:sldId id="336" r:id="rId13"/>
    <p:sldId id="338" r:id="rId14"/>
    <p:sldId id="339" r:id="rId15"/>
    <p:sldId id="34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6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5AC8A-2ED4-C796-8746-A521092267C7}" v="10" dt="2021-10-11T04:53:30.209"/>
    <p1510:client id="{327775B2-9FA4-490E-8C1A-2FC3D40ECEF7}" v="11" dt="2021-10-15T02:50:56.809"/>
    <p1510:client id="{83014B6A-CC89-4632-BCDD-AC2409996D8E}" v="1" dt="2021-10-12T15:40:29.799"/>
    <p1510:client id="{BF25DB21-E108-4DEF-9FA7-05AD056B509D}" v="6" dt="2021-10-15T02:59:57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 Alejandra Maril Millan" userId="S::yasminmaril@udec.cl::4b8a4c84-1dbf-494d-9bc3-e61415828b6b" providerId="AD" clId="Web-{BF25DB21-E108-4DEF-9FA7-05AD056B509D}"/>
    <pc:docChg chg="modSld">
      <pc:chgData name="Yasmin Alejandra Maril Millan" userId="S::yasminmaril@udec.cl::4b8a4c84-1dbf-494d-9bc3-e61415828b6b" providerId="AD" clId="Web-{BF25DB21-E108-4DEF-9FA7-05AD056B509D}" dt="2021-10-15T02:59:57.805" v="4" actId="14100"/>
      <pc:docMkLst>
        <pc:docMk/>
      </pc:docMkLst>
      <pc:sldChg chg="addSp delSp modSp">
        <pc:chgData name="Yasmin Alejandra Maril Millan" userId="S::yasminmaril@udec.cl::4b8a4c84-1dbf-494d-9bc3-e61415828b6b" providerId="AD" clId="Web-{BF25DB21-E108-4DEF-9FA7-05AD056B509D}" dt="2021-10-15T02:59:57.805" v="4" actId="14100"/>
        <pc:sldMkLst>
          <pc:docMk/>
          <pc:sldMk cId="1853133937" sldId="344"/>
        </pc:sldMkLst>
        <pc:spChg chg="del">
          <ac:chgData name="Yasmin Alejandra Maril Millan" userId="S::yasminmaril@udec.cl::4b8a4c84-1dbf-494d-9bc3-e61415828b6b" providerId="AD" clId="Web-{BF25DB21-E108-4DEF-9FA7-05AD056B509D}" dt="2021-10-15T02:59:47.727" v="0"/>
          <ac:spMkLst>
            <pc:docMk/>
            <pc:sldMk cId="1853133937" sldId="344"/>
            <ac:spMk id="4" creationId="{36198C26-93EE-4AF7-9C3B-C49E89702DE4}"/>
          </ac:spMkLst>
        </pc:spChg>
        <pc:picChg chg="add mod">
          <ac:chgData name="Yasmin Alejandra Maril Millan" userId="S::yasminmaril@udec.cl::4b8a4c84-1dbf-494d-9bc3-e61415828b6b" providerId="AD" clId="Web-{BF25DB21-E108-4DEF-9FA7-05AD056B509D}" dt="2021-10-15T02:59:57.805" v="4" actId="14100"/>
          <ac:picMkLst>
            <pc:docMk/>
            <pc:sldMk cId="1853133937" sldId="344"/>
            <ac:picMk id="5" creationId="{D5E1590B-CB4E-4AE9-8F5A-863518A25522}"/>
          </ac:picMkLst>
        </pc:picChg>
      </pc:sldChg>
    </pc:docChg>
  </pc:docChgLst>
  <pc:docChgLst>
    <pc:chgData clId="Web-{1485AC8A-2ED4-C796-8746-A521092267C7}"/>
    <pc:docChg chg="modSld">
      <pc:chgData name="" userId="" providerId="" clId="Web-{1485AC8A-2ED4-C796-8746-A521092267C7}" dt="2021-10-11T04:41:34.528" v="0"/>
      <pc:docMkLst>
        <pc:docMk/>
      </pc:docMkLst>
      <pc:sldChg chg="addSp">
        <pc:chgData name="" userId="" providerId="" clId="Web-{1485AC8A-2ED4-C796-8746-A521092267C7}" dt="2021-10-11T04:41:34.528" v="0"/>
        <pc:sldMkLst>
          <pc:docMk/>
          <pc:sldMk cId="3528282379" sldId="312"/>
        </pc:sldMkLst>
        <pc:inkChg chg="add">
          <ac:chgData name="" userId="" providerId="" clId="Web-{1485AC8A-2ED4-C796-8746-A521092267C7}" dt="2021-10-11T04:41:34.528" v="0"/>
          <ac:inkMkLst>
            <pc:docMk/>
            <pc:sldMk cId="3528282379" sldId="312"/>
            <ac:inkMk id="3" creationId="{55740880-03E0-48AF-A30B-8CBB095FB2D4}"/>
          </ac:inkMkLst>
        </pc:inkChg>
      </pc:sldChg>
    </pc:docChg>
  </pc:docChgLst>
  <pc:docChgLst>
    <pc:chgData name="Martin Alonso Miranda Henriquez" userId="S::mmiranda2017@udec.cl::50058ff7-fe3a-4eb5-83dc-fa17cfde9c44" providerId="AD" clId="Web-{1485AC8A-2ED4-C796-8746-A521092267C7}"/>
    <pc:docChg chg="modSld">
      <pc:chgData name="Martin Alonso Miranda Henriquez" userId="S::mmiranda2017@udec.cl::50058ff7-fe3a-4eb5-83dc-fa17cfde9c44" providerId="AD" clId="Web-{1485AC8A-2ED4-C796-8746-A521092267C7}" dt="2021-10-11T04:53:30.209" v="8"/>
      <pc:docMkLst>
        <pc:docMk/>
      </pc:docMkLst>
      <pc:sldChg chg="addSp delSp">
        <pc:chgData name="Martin Alonso Miranda Henriquez" userId="S::mmiranda2017@udec.cl::50058ff7-fe3a-4eb5-83dc-fa17cfde9c44" providerId="AD" clId="Web-{1485AC8A-2ED4-C796-8746-A521092267C7}" dt="2021-10-11T04:46:56.437" v="2"/>
        <pc:sldMkLst>
          <pc:docMk/>
          <pc:sldMk cId="2373733428" sldId="309"/>
        </pc:sldMkLst>
        <pc:inkChg chg="add del">
          <ac:chgData name="Martin Alonso Miranda Henriquez" userId="S::mmiranda2017@udec.cl::50058ff7-fe3a-4eb5-83dc-fa17cfde9c44" providerId="AD" clId="Web-{1485AC8A-2ED4-C796-8746-A521092267C7}" dt="2021-10-11T04:46:56.437" v="2"/>
          <ac:inkMkLst>
            <pc:docMk/>
            <pc:sldMk cId="2373733428" sldId="309"/>
            <ac:inkMk id="7" creationId="{D7BAC064-74DC-44A3-B134-50F9D10E733C}"/>
          </ac:inkMkLst>
        </pc:inkChg>
      </pc:sldChg>
      <pc:sldChg chg="delSp">
        <pc:chgData name="Martin Alonso Miranda Henriquez" userId="S::mmiranda2017@udec.cl::50058ff7-fe3a-4eb5-83dc-fa17cfde9c44" providerId="AD" clId="Web-{1485AC8A-2ED4-C796-8746-A521092267C7}" dt="2021-10-11T04:41:36.559" v="0"/>
        <pc:sldMkLst>
          <pc:docMk/>
          <pc:sldMk cId="3528282379" sldId="312"/>
        </pc:sldMkLst>
        <pc:inkChg chg="del">
          <ac:chgData name="Martin Alonso Miranda Henriquez" userId="S::mmiranda2017@udec.cl::50058ff7-fe3a-4eb5-83dc-fa17cfde9c44" providerId="AD" clId="Web-{1485AC8A-2ED4-C796-8746-A521092267C7}" dt="2021-10-11T04:41:36.559" v="0"/>
          <ac:inkMkLst>
            <pc:docMk/>
            <pc:sldMk cId="3528282379" sldId="312"/>
            <ac:inkMk id="3" creationId="{55740880-03E0-48AF-A30B-8CBB095FB2D4}"/>
          </ac:inkMkLst>
        </pc:inkChg>
      </pc:sldChg>
      <pc:sldChg chg="addSp delSp">
        <pc:chgData name="Martin Alonso Miranda Henriquez" userId="S::mmiranda2017@udec.cl::50058ff7-fe3a-4eb5-83dc-fa17cfde9c44" providerId="AD" clId="Web-{1485AC8A-2ED4-C796-8746-A521092267C7}" dt="2021-10-11T04:53:30.209" v="8"/>
        <pc:sldMkLst>
          <pc:docMk/>
          <pc:sldMk cId="2319321234" sldId="338"/>
        </pc:sldMkLst>
        <pc:inkChg chg="add del">
          <ac:chgData name="Martin Alonso Miranda Henriquez" userId="S::mmiranda2017@udec.cl::50058ff7-fe3a-4eb5-83dc-fa17cfde9c44" providerId="AD" clId="Web-{1485AC8A-2ED4-C796-8746-A521092267C7}" dt="2021-10-11T04:51:50.512" v="6"/>
          <ac:inkMkLst>
            <pc:docMk/>
            <pc:sldMk cId="2319321234" sldId="338"/>
            <ac:inkMk id="3" creationId="{83BF7935-FE21-483A-A2F2-4E4FC9C43EB2}"/>
          </ac:inkMkLst>
        </pc:inkChg>
        <pc:inkChg chg="add del">
          <ac:chgData name="Martin Alonso Miranda Henriquez" userId="S::mmiranda2017@udec.cl::50058ff7-fe3a-4eb5-83dc-fa17cfde9c44" providerId="AD" clId="Web-{1485AC8A-2ED4-C796-8746-A521092267C7}" dt="2021-10-11T04:51:48.246" v="5"/>
          <ac:inkMkLst>
            <pc:docMk/>
            <pc:sldMk cId="2319321234" sldId="338"/>
            <ac:inkMk id="4" creationId="{7B2D1D92-99D6-4D42-A5A7-25CE69E9394C}"/>
          </ac:inkMkLst>
        </pc:inkChg>
        <pc:inkChg chg="add del">
          <ac:chgData name="Martin Alonso Miranda Henriquez" userId="S::mmiranda2017@udec.cl::50058ff7-fe3a-4eb5-83dc-fa17cfde9c44" providerId="AD" clId="Web-{1485AC8A-2ED4-C796-8746-A521092267C7}" dt="2021-10-11T04:53:30.209" v="8"/>
          <ac:inkMkLst>
            <pc:docMk/>
            <pc:sldMk cId="2319321234" sldId="338"/>
            <ac:inkMk id="5" creationId="{E7598EF6-6B37-428E-9D40-585A01B7BCB8}"/>
          </ac:inkMkLst>
        </pc:inkChg>
      </pc:sldChg>
    </pc:docChg>
  </pc:docChgLst>
  <pc:docChgLst>
    <pc:chgData name="Carolina Elizabeth Valenzuela Carrasco" userId="S::cvalenzue2016@udec.cl::f46ef4a5-fe66-40bf-b055-48e2ce8059a5" providerId="AD" clId="Web-{83014B6A-CC89-4632-BCDD-AC2409996D8E}"/>
    <pc:docChg chg="addSld">
      <pc:chgData name="Carolina Elizabeth Valenzuela Carrasco" userId="S::cvalenzue2016@udec.cl::f46ef4a5-fe66-40bf-b055-48e2ce8059a5" providerId="AD" clId="Web-{83014B6A-CC89-4632-BCDD-AC2409996D8E}" dt="2021-10-12T15:40:29.799" v="0"/>
      <pc:docMkLst>
        <pc:docMk/>
      </pc:docMkLst>
      <pc:sldChg chg="new">
        <pc:chgData name="Carolina Elizabeth Valenzuela Carrasco" userId="S::cvalenzue2016@udec.cl::f46ef4a5-fe66-40bf-b055-48e2ce8059a5" providerId="AD" clId="Web-{83014B6A-CC89-4632-BCDD-AC2409996D8E}" dt="2021-10-12T15:40:29.799" v="0"/>
        <pc:sldMkLst>
          <pc:docMk/>
          <pc:sldMk cId="1551331005" sldId="345"/>
        </pc:sldMkLst>
      </pc:sldChg>
    </pc:docChg>
  </pc:docChgLst>
  <pc:docChgLst>
    <pc:chgData name="Yasmin Alejandra Maril Millan" userId="S::yasminmaril@udec.cl::4b8a4c84-1dbf-494d-9bc3-e61415828b6b" providerId="AD" clId="Web-{327775B2-9FA4-490E-8C1A-2FC3D40ECEF7}"/>
    <pc:docChg chg="modSld">
      <pc:chgData name="Yasmin Alejandra Maril Millan" userId="S::yasminmaril@udec.cl::4b8a4c84-1dbf-494d-9bc3-e61415828b6b" providerId="AD" clId="Web-{327775B2-9FA4-490E-8C1A-2FC3D40ECEF7}" dt="2021-10-15T02:50:56.809" v="10" actId="1076"/>
      <pc:docMkLst>
        <pc:docMk/>
      </pc:docMkLst>
      <pc:sldChg chg="addSp delSp modSp delAnim">
        <pc:chgData name="Yasmin Alejandra Maril Millan" userId="S::yasminmaril@udec.cl::4b8a4c84-1dbf-494d-9bc3-e61415828b6b" providerId="AD" clId="Web-{327775B2-9FA4-490E-8C1A-2FC3D40ECEF7}" dt="2021-10-15T02:50:56.809" v="10" actId="1076"/>
        <pc:sldMkLst>
          <pc:docMk/>
          <pc:sldMk cId="803242392" sldId="339"/>
        </pc:sldMkLst>
        <pc:spChg chg="del mod">
          <ac:chgData name="Yasmin Alejandra Maril Millan" userId="S::yasminmaril@udec.cl::4b8a4c84-1dbf-494d-9bc3-e61415828b6b" providerId="AD" clId="Web-{327775B2-9FA4-490E-8C1A-2FC3D40ECEF7}" dt="2021-10-15T02:50:34.590" v="6"/>
          <ac:spMkLst>
            <pc:docMk/>
            <pc:sldMk cId="803242392" sldId="339"/>
            <ac:spMk id="36" creationId="{EDDCA1A4-92AE-4000-860B-93186B66C624}"/>
          </ac:spMkLst>
        </pc:spChg>
        <pc:picChg chg="add mod">
          <ac:chgData name="Yasmin Alejandra Maril Millan" userId="S::yasminmaril@udec.cl::4b8a4c84-1dbf-494d-9bc3-e61415828b6b" providerId="AD" clId="Web-{327775B2-9FA4-490E-8C1A-2FC3D40ECEF7}" dt="2021-10-15T02:50:56.809" v="10" actId="1076"/>
          <ac:picMkLst>
            <pc:docMk/>
            <pc:sldMk cId="803242392" sldId="339"/>
            <ac:picMk id="3" creationId="{7A8A6264-3E9B-4FFE-85EB-A88477BF4D6F}"/>
          </ac:picMkLst>
        </pc:picChg>
        <pc:cxnChg chg="mod">
          <ac:chgData name="Yasmin Alejandra Maril Millan" userId="S::yasminmaril@udec.cl::4b8a4c84-1dbf-494d-9bc3-e61415828b6b" providerId="AD" clId="Web-{327775B2-9FA4-490E-8C1A-2FC3D40ECEF7}" dt="2021-10-15T02:12:16.055" v="4" actId="14100"/>
          <ac:cxnSpMkLst>
            <pc:docMk/>
            <pc:sldMk cId="803242392" sldId="339"/>
            <ac:cxnSpMk id="25" creationId="{09715709-F3CE-41B8-9062-B2F056B6DFE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DA604-6DE8-4194-ADC6-E78173858E41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C246D-95F7-4170-86BA-E03D594E36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9748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15AFC-2639-444E-80FD-9A826254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9F4C35-3CF9-425D-B262-6A1F37AC6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10CAB2-6908-4A03-9397-03324CAF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28796-38F4-4BAE-89BD-18873CAC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702145-864A-41AA-8D8D-A77C8454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206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C1DEC-751C-4D67-8D15-7352EDF0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F7BAA2-6F6E-448B-8E68-E8DA6677E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973D49-B705-48C5-B656-A81EB88D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41B0E7-CC07-45CA-A6BB-04A73DE6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C5CC-98FF-452E-9DBA-ACD7683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567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58496-2203-4315-8C1C-63C52011F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074560-0DBC-47B4-A74C-C1FBA6D7A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0915E2-B499-405A-A976-79E9E361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9AC5A6-0260-47A0-B03E-5B441A17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3B8C88-3658-44C9-8948-94FA6F02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38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587F5-6DFE-4351-9A69-8D9C8754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092B50-EF17-4387-B8D7-65B4D3F72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74BBFB-22ED-4274-BD8C-709F28277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785C2E-ABBF-44AF-892C-A0FE1651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8B108-46A1-4561-A551-0ADD8F75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082290-68BF-4A3B-B69F-388DD94B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079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7B5A3-1303-4A43-8506-B629AB734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70E8FD-7B56-4E96-BBB8-7C4058E85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10D9A0-7C17-4CB7-9C16-31918F0AF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F1C59E-CC26-4E58-A9D5-E309C370A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186286-807C-46EB-9209-105F303CE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9D18E2-AE2E-45E7-9625-384F9DCE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AAE1C2-A4A8-47B5-8B36-75B8039B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483060-CDFB-4F0F-AC30-09385BEA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526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5DD6D-AA8F-4C53-8D9C-E363A162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3E2F82-4946-49FE-ADC3-AB6E32A0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CA65A0-B877-4CB5-A8D8-F798D0EE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FF9CA5-2DB6-4F94-81BE-F2AC8436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676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411BB7-8C32-41E9-9FEE-82BCC87BB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2549B5-0EB9-4B54-B981-E58BAF1F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E0A158-5976-4DE1-8411-FC128A37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41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95769-C9E9-497A-B796-D591E254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AFE264-27FA-4ACC-886A-9560A23FB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86AC88-4B15-4156-B175-12B1C63D2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FACACF-AA62-4D1C-90B6-23C342067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1EF0CB-C818-4B74-ADC0-A01CBF15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597432-2D44-48EB-A111-BCDEA846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026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A9D77-0435-4FF0-AEB7-B7298CDD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155947-44A6-4163-B729-010E7CF0C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7FAD9D-F336-492C-9978-4D34E52D0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0BC7FD-2D04-46A9-B011-13224CB8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BD71FD-2A9E-4B28-AD24-878BC2D9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5EFBD6-C013-4EE2-8225-AAD495C0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353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1B02F-EAFC-4128-AE33-287DBC5A9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0A94EC-668D-416A-9B29-5B7288FA5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69A2E-1E39-46F3-9CB5-8C758DB3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169D97-1718-4673-8187-C9075065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30B839-7082-4A56-964F-1844CA31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421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82F224-048F-4FB6-BE79-70DE20C3A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A4ACA3-2ABD-423C-88FE-82EDAD62C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BA6CA2-8264-4301-B78C-8C040A39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6B71F1-223D-418F-8065-F2A006B1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2AB38E-83A8-4459-9003-B9D67206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0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5808A3-4761-459C-A7C1-BBA0CC52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5A41DC-A9AE-4717-9AEF-DEFEE76B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BC8BBA-2FA1-4F95-B50E-3A6751D88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0665F-91EC-4799-8346-B23E5E295474}" type="datetimeFigureOut">
              <a:rPr lang="es-CL" smtClean="0"/>
              <a:t>14-10-2021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EC4AFB-91A6-4A0C-B96A-1AE678D0C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D98F9A-7533-4C57-BFE3-2AE779557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17682-F922-4C97-97F5-3E1F2C4BB3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6933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asminmaril@udec.c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27.pn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ste impresionante puente es la última locura arquitectónica de China y  lleva más de 200.000 visitantes">
            <a:extLst>
              <a:ext uri="{FF2B5EF4-FFF2-40B4-BE49-F238E27FC236}">
                <a16:creationId xmlns:a16="http://schemas.microsoft.com/office/drawing/2014/main" id="{8235FA94-B873-469E-92BD-270D0CC65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91" r="9091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7F4694-0B0D-4CEB-86BB-37A11787D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381344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s-CL" sz="6600"/>
              <a:t>Práctica N°5: Teoría de Elasticidad Lineal</a:t>
            </a:r>
            <a:br>
              <a:rPr lang="es-CL" sz="6600"/>
            </a:br>
            <a:r>
              <a:rPr lang="es-CL" sz="6600"/>
              <a:t>Mecánica de Materiales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9AC1C2-3AF8-4890-A7CF-2DB36DAC3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es-CL" sz="1300"/>
              <a:t>Ayudante: Yasmin Maril </a:t>
            </a:r>
            <a:r>
              <a:rPr lang="es-CL" sz="13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yasminmaril@udec.cl</a:t>
            </a:r>
            <a:endParaRPr lang="es-CL" sz="1300"/>
          </a:p>
          <a:p>
            <a:pPr algn="l"/>
            <a:r>
              <a:rPr lang="es-CL" sz="1300"/>
              <a:t>Profesor: Dr. Carlos </a:t>
            </a:r>
            <a:r>
              <a:rPr lang="es-CL" sz="1300" err="1"/>
              <a:t>Camurri</a:t>
            </a:r>
            <a:endParaRPr lang="es-CL" sz="1300"/>
          </a:p>
        </p:txBody>
      </p:sp>
    </p:spTree>
    <p:extLst>
      <p:ext uri="{BB962C8B-B14F-4D97-AF65-F5344CB8AC3E}">
        <p14:creationId xmlns:p14="http://schemas.microsoft.com/office/powerpoint/2010/main" val="1067047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34FEE-2046-4B61-A624-F197FF0B1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91" y="368163"/>
            <a:ext cx="8567928" cy="758254"/>
          </a:xfrm>
        </p:spPr>
        <p:txBody>
          <a:bodyPr/>
          <a:lstStyle/>
          <a:p>
            <a:r>
              <a:rPr lang="es-CL"/>
              <a:t>Deformaciones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BDFC87-ADDD-4196-A03D-5FC5ABA1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5817682-F922-4C97-97F5-3E1F2C4BB37A}" type="slidenum">
              <a:rPr lang="es-CL" smtClean="0"/>
              <a:t>2</a:t>
            </a:fld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D4505A9-B64B-4457-B36F-5EAEBFD8B068}"/>
                  </a:ext>
                </a:extLst>
              </p:cNvPr>
              <p:cNvSpPr txBox="1"/>
              <p:nvPr/>
            </p:nvSpPr>
            <p:spPr>
              <a:xfrm>
                <a:off x="678315" y="1480984"/>
                <a:ext cx="5191887" cy="2911695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s-CL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L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𝑐𝑜𝑚𝑝𝑜𝑛𝑒𝑛𝑡𝑒𝑠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𝑛𝑜𝑟𝑚𝑎𝑙𝑒𝑠</m:t>
                      </m:r>
                    </m:oMath>
                  </m:oMathPara>
                </a14:m>
                <a:endParaRPr lang="es-CL"/>
              </a:p>
              <a:p>
                <a:pPr algn="ctr"/>
                <a:r>
                  <a:rPr lang="es-CL" b="1"/>
                  <a:t>Deformaciones normales principales:</a:t>
                </a:r>
              </a:p>
              <a:p>
                <a:pPr algn="ctr"/>
                <a:r>
                  <a:rPr lang="es-CL" b="1"/>
                  <a:t> </a:t>
                </a:r>
                <a:r>
                  <a:rPr lang="es-CL"/>
                  <a:t>l(1) &gt; l(2) &gt; l(3)</a:t>
                </a:r>
              </a:p>
              <a:p>
                <a:r>
                  <a:rPr lang="es-CL"/>
                  <a:t>Actúan en </a:t>
                </a:r>
                <a:r>
                  <a:rPr lang="es-CL" b="1"/>
                  <a:t>planos normales principales.</a:t>
                </a:r>
              </a:p>
              <a:p>
                <a:r>
                  <a:rPr lang="es-CL"/>
                  <a:t>Dados por las </a:t>
                </a:r>
                <a:r>
                  <a:rPr lang="es-CL" b="1"/>
                  <a:t>direcciones normales principales</a:t>
                </a:r>
              </a:p>
              <a:p>
                <a:endParaRPr lang="es-CL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D4505A9-B64B-4457-B36F-5EAEBFD8B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15" y="1480984"/>
                <a:ext cx="5191887" cy="2911695"/>
              </a:xfrm>
              <a:prstGeom prst="rect">
                <a:avLst/>
              </a:prstGeom>
              <a:blipFill>
                <a:blip r:embed="rId2"/>
                <a:stretch>
                  <a:fillRect l="-820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Flexión mecánica - Wikipedia, la enciclopedia libre">
            <a:extLst>
              <a:ext uri="{FF2B5EF4-FFF2-40B4-BE49-F238E27FC236}">
                <a16:creationId xmlns:a16="http://schemas.microsoft.com/office/drawing/2014/main" id="{276C933F-71E1-4728-8EBB-A4135A168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652" y="1910532"/>
            <a:ext cx="2981325" cy="177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304020D-BC1E-4E45-8630-756659634DA0}"/>
              </a:ext>
            </a:extLst>
          </p:cNvPr>
          <p:cNvSpPr/>
          <p:nvPr/>
        </p:nvSpPr>
        <p:spPr>
          <a:xfrm>
            <a:off x="783148" y="5634971"/>
            <a:ext cx="1211674" cy="69326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6023066-5DC6-41EE-AA65-42B1232D6AE4}"/>
              </a:ext>
            </a:extLst>
          </p:cNvPr>
          <p:cNvCxnSpPr>
            <a:cxnSpLocks/>
          </p:cNvCxnSpPr>
          <p:nvPr/>
        </p:nvCxnSpPr>
        <p:spPr>
          <a:xfrm>
            <a:off x="7839976" y="6193648"/>
            <a:ext cx="133183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6EE3B18-709B-458D-86E7-67A098852F11}"/>
                  </a:ext>
                </a:extLst>
              </p:cNvPr>
              <p:cNvSpPr txBox="1"/>
              <p:nvPr/>
            </p:nvSpPr>
            <p:spPr>
              <a:xfrm flipH="1">
                <a:off x="11126643" y="5981603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sz="140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6EE3B18-709B-458D-86E7-67A098852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126643" y="5981603"/>
                <a:ext cx="721847" cy="319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5881C6F-2CAB-4462-A97C-0A82CCECF1EA}"/>
                  </a:ext>
                </a:extLst>
              </p:cNvPr>
              <p:cNvSpPr txBox="1"/>
              <p:nvPr/>
            </p:nvSpPr>
            <p:spPr>
              <a:xfrm flipH="1">
                <a:off x="9534284" y="4947468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40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5881C6F-2CAB-4462-A97C-0A82CCECF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534284" y="4947468"/>
                <a:ext cx="721847" cy="319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9FA81A3-1704-4931-AAFA-A1BE156C6FEE}"/>
              </a:ext>
            </a:extLst>
          </p:cNvPr>
          <p:cNvCxnSpPr>
            <a:cxnSpLocks/>
          </p:cNvCxnSpPr>
          <p:nvPr/>
        </p:nvCxnSpPr>
        <p:spPr>
          <a:xfrm>
            <a:off x="9593873" y="6193648"/>
            <a:ext cx="16664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82FA7BE-6C2B-4C0A-B9AF-765EC897A5DC}"/>
              </a:ext>
            </a:extLst>
          </p:cNvPr>
          <p:cNvCxnSpPr>
            <a:cxnSpLocks/>
          </p:cNvCxnSpPr>
          <p:nvPr/>
        </p:nvCxnSpPr>
        <p:spPr>
          <a:xfrm flipV="1">
            <a:off x="9584348" y="5042968"/>
            <a:ext cx="0" cy="1150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2B0136C-E50F-420B-8894-F559DBBC5918}"/>
              </a:ext>
            </a:extLst>
          </p:cNvPr>
          <p:cNvCxnSpPr>
            <a:cxnSpLocks/>
          </p:cNvCxnSpPr>
          <p:nvPr/>
        </p:nvCxnSpPr>
        <p:spPr>
          <a:xfrm flipV="1">
            <a:off x="7470532" y="4891233"/>
            <a:ext cx="1196450" cy="553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8D1CA15-85CA-4ACF-BB57-D0CCCE2EE5D6}"/>
              </a:ext>
            </a:extLst>
          </p:cNvPr>
          <p:cNvSpPr txBox="1"/>
          <p:nvPr/>
        </p:nvSpPr>
        <p:spPr>
          <a:xfrm rot="20287718">
            <a:off x="7860667" y="4889080"/>
            <a:ext cx="416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/>
              <a:t>8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7B8261A-4E7F-4A78-A58D-05FADDA46994}"/>
              </a:ext>
            </a:extLst>
          </p:cNvPr>
          <p:cNvSpPr txBox="1"/>
          <p:nvPr/>
        </p:nvSpPr>
        <p:spPr>
          <a:xfrm rot="20287718">
            <a:off x="8924821" y="5013910"/>
            <a:ext cx="416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/>
              <a:t>4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A0C3E46-99F6-486B-926C-31B7461EC8DE}"/>
              </a:ext>
            </a:extLst>
          </p:cNvPr>
          <p:cNvCxnSpPr>
            <a:cxnSpLocks/>
          </p:cNvCxnSpPr>
          <p:nvPr/>
        </p:nvCxnSpPr>
        <p:spPr>
          <a:xfrm>
            <a:off x="8872027" y="4932501"/>
            <a:ext cx="325545" cy="6583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02B517-EAE4-45E5-A1FE-49313FB3E875}"/>
              </a:ext>
            </a:extLst>
          </p:cNvPr>
          <p:cNvSpPr txBox="1"/>
          <p:nvPr/>
        </p:nvSpPr>
        <p:spPr>
          <a:xfrm>
            <a:off x="8297801" y="5916296"/>
            <a:ext cx="502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/>
              <a:t>15°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3E44AA2-7F8D-443A-A58E-E3154AA3742C}"/>
                  </a:ext>
                </a:extLst>
              </p:cNvPr>
              <p:cNvSpPr txBox="1"/>
              <p:nvPr/>
            </p:nvSpPr>
            <p:spPr>
              <a:xfrm flipH="1">
                <a:off x="2375112" y="6163853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sz="140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3E44AA2-7F8D-443A-A58E-E3154AA37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75112" y="6163853"/>
                <a:ext cx="721847" cy="3198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88DD0F28-0C0A-41CD-851A-EDF2115FCF88}"/>
                  </a:ext>
                </a:extLst>
              </p:cNvPr>
              <p:cNvSpPr txBox="1"/>
              <p:nvPr/>
            </p:nvSpPr>
            <p:spPr>
              <a:xfrm flipH="1">
                <a:off x="734679" y="5077596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40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88DD0F28-0C0A-41CD-851A-EDF2115FC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4679" y="5077596"/>
                <a:ext cx="721847" cy="319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BFE8BE8-687C-4E7E-82C5-5A71790BFF7D}"/>
              </a:ext>
            </a:extLst>
          </p:cNvPr>
          <p:cNvCxnSpPr>
            <a:cxnSpLocks/>
          </p:cNvCxnSpPr>
          <p:nvPr/>
        </p:nvCxnSpPr>
        <p:spPr>
          <a:xfrm>
            <a:off x="794268" y="6323776"/>
            <a:ext cx="16664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CF45341F-1A8D-435C-AFE6-766402786F7E}"/>
              </a:ext>
            </a:extLst>
          </p:cNvPr>
          <p:cNvCxnSpPr>
            <a:cxnSpLocks/>
          </p:cNvCxnSpPr>
          <p:nvPr/>
        </p:nvCxnSpPr>
        <p:spPr>
          <a:xfrm flipV="1">
            <a:off x="784743" y="5173096"/>
            <a:ext cx="0" cy="1150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7494E13-0E0F-4C88-BBAB-AEAB40488DA3}"/>
              </a:ext>
            </a:extLst>
          </p:cNvPr>
          <p:cNvSpPr/>
          <p:nvPr/>
        </p:nvSpPr>
        <p:spPr>
          <a:xfrm rot="20136210">
            <a:off x="7554819" y="5266235"/>
            <a:ext cx="1373043" cy="693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197E70CC-3713-467B-B5FC-D81E20A06D7A}"/>
              </a:ext>
            </a:extLst>
          </p:cNvPr>
          <p:cNvCxnSpPr>
            <a:cxnSpLocks/>
          </p:cNvCxnSpPr>
          <p:nvPr/>
        </p:nvCxnSpPr>
        <p:spPr>
          <a:xfrm flipV="1">
            <a:off x="7737600" y="5459226"/>
            <a:ext cx="1658914" cy="759512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FF1B6C22-721D-4F7E-80F8-1F7876598A36}"/>
                  </a:ext>
                </a:extLst>
              </p:cNvPr>
              <p:cNvSpPr txBox="1"/>
              <p:nvPr/>
            </p:nvSpPr>
            <p:spPr>
              <a:xfrm>
                <a:off x="8629616" y="5730259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FF1B6C22-721D-4F7E-80F8-1F7876598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616" y="5730259"/>
                <a:ext cx="721847" cy="276999"/>
              </a:xfrm>
              <a:prstGeom prst="rect">
                <a:avLst/>
              </a:prstGeom>
              <a:blipFill>
                <a:blip r:embed="rId7"/>
                <a:stretch>
                  <a:fillRect t="-8889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448E7867-8999-4ABF-AEA3-4A9F13B7F66E}"/>
              </a:ext>
            </a:extLst>
          </p:cNvPr>
          <p:cNvCxnSpPr>
            <a:cxnSpLocks/>
          </p:cNvCxnSpPr>
          <p:nvPr/>
        </p:nvCxnSpPr>
        <p:spPr>
          <a:xfrm flipH="1" flipV="1">
            <a:off x="7200123" y="5006996"/>
            <a:ext cx="537478" cy="1192028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9B77429F-2C98-4DEF-868E-72A5FC3322E2}"/>
                  </a:ext>
                </a:extLst>
              </p:cNvPr>
              <p:cNvSpPr txBox="1"/>
              <p:nvPr/>
            </p:nvSpPr>
            <p:spPr>
              <a:xfrm>
                <a:off x="6578517" y="5077596"/>
                <a:ext cx="7218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9B77429F-2C98-4DEF-868E-72A5FC332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517" y="5077596"/>
                <a:ext cx="721847" cy="276999"/>
              </a:xfrm>
              <a:prstGeom prst="rect">
                <a:avLst/>
              </a:prstGeom>
              <a:blipFill>
                <a:blip r:embed="rId8"/>
                <a:stretch>
                  <a:fillRect t="-8889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ángulo 35">
            <a:extLst>
              <a:ext uri="{FF2B5EF4-FFF2-40B4-BE49-F238E27FC236}">
                <a16:creationId xmlns:a16="http://schemas.microsoft.com/office/drawing/2014/main" id="{538C8DD1-4541-4D41-89D4-2264E7E836F7}"/>
              </a:ext>
            </a:extLst>
          </p:cNvPr>
          <p:cNvSpPr/>
          <p:nvPr/>
        </p:nvSpPr>
        <p:spPr>
          <a:xfrm>
            <a:off x="3537852" y="5779717"/>
            <a:ext cx="1790704" cy="49655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7461AB51-332B-4FCC-8CF2-A413F95B2AA1}"/>
                  </a:ext>
                </a:extLst>
              </p:cNvPr>
              <p:cNvSpPr txBox="1"/>
              <p:nvPr/>
            </p:nvSpPr>
            <p:spPr>
              <a:xfrm flipH="1">
                <a:off x="3489384" y="5025628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 sz="140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7461AB51-332B-4FCC-8CF2-A413F95B2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89384" y="5025628"/>
                <a:ext cx="721847" cy="319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5322CF4-2E16-47D0-8EE5-D24EBD87C842}"/>
              </a:ext>
            </a:extLst>
          </p:cNvPr>
          <p:cNvCxnSpPr>
            <a:cxnSpLocks/>
          </p:cNvCxnSpPr>
          <p:nvPr/>
        </p:nvCxnSpPr>
        <p:spPr>
          <a:xfrm flipV="1">
            <a:off x="3548973" y="6270740"/>
            <a:ext cx="2140180" cy="1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8F9B1E65-469A-4CFC-81B9-B20414F0FC01}"/>
              </a:ext>
            </a:extLst>
          </p:cNvPr>
          <p:cNvCxnSpPr>
            <a:cxnSpLocks/>
          </p:cNvCxnSpPr>
          <p:nvPr/>
        </p:nvCxnSpPr>
        <p:spPr>
          <a:xfrm flipV="1">
            <a:off x="3539448" y="5121128"/>
            <a:ext cx="0" cy="1150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4792BF3B-6533-4A1A-8DE0-BC197000FBD3}"/>
                  </a:ext>
                </a:extLst>
              </p:cNvPr>
              <p:cNvSpPr txBox="1"/>
              <p:nvPr/>
            </p:nvSpPr>
            <p:spPr>
              <a:xfrm flipH="1">
                <a:off x="5572384" y="6295922"/>
                <a:ext cx="721847" cy="319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 sz="140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4792BF3B-6533-4A1A-8DE0-BC197000F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2384" y="6295922"/>
                <a:ext cx="721847" cy="3198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6BCE084C-0E75-4EBA-83F4-F701ECAD7FB0}"/>
                  </a:ext>
                </a:extLst>
              </p:cNvPr>
              <p:cNvSpPr txBox="1"/>
              <p:nvPr/>
            </p:nvSpPr>
            <p:spPr>
              <a:xfrm>
                <a:off x="7559752" y="6347333"/>
                <a:ext cx="20692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6BCE084C-0E75-4EBA-83F4-F701ECAD7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52" y="6347333"/>
                <a:ext cx="2069283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3F6C69F7-786A-4418-9D3D-E33E924CBDA7}"/>
                  </a:ext>
                </a:extLst>
              </p:cNvPr>
              <p:cNvSpPr txBox="1"/>
              <p:nvPr/>
            </p:nvSpPr>
            <p:spPr>
              <a:xfrm>
                <a:off x="3890028" y="5254643"/>
                <a:ext cx="17991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3F6C69F7-786A-4418-9D3D-E33E924CB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028" y="5254643"/>
                <a:ext cx="1799126" cy="369332"/>
              </a:xfrm>
              <a:prstGeom prst="rect">
                <a:avLst/>
              </a:prstGeom>
              <a:blipFill>
                <a:blip r:embed="rId1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ector: curvado 58">
            <a:extLst>
              <a:ext uri="{FF2B5EF4-FFF2-40B4-BE49-F238E27FC236}">
                <a16:creationId xmlns:a16="http://schemas.microsoft.com/office/drawing/2014/main" id="{B450CD23-0257-431B-B9B0-BE563F5DD9E2}"/>
              </a:ext>
            </a:extLst>
          </p:cNvPr>
          <p:cNvCxnSpPr>
            <a:cxnSpLocks/>
            <a:stCxn id="36" idx="1"/>
            <a:endCxn id="58" idx="1"/>
          </p:cNvCxnSpPr>
          <p:nvPr/>
        </p:nvCxnSpPr>
        <p:spPr>
          <a:xfrm rot="10800000" flipH="1">
            <a:off x="3537852" y="5439310"/>
            <a:ext cx="352176" cy="588683"/>
          </a:xfrm>
          <a:prstGeom prst="curvedConnector3">
            <a:avLst>
              <a:gd name="adj1" fmla="val -649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1023">
            <a:extLst>
              <a:ext uri="{FF2B5EF4-FFF2-40B4-BE49-F238E27FC236}">
                <a16:creationId xmlns:a16="http://schemas.microsoft.com/office/drawing/2014/main" id="{6A69D428-8C6F-43D4-97B5-CD973A6A99AC}"/>
              </a:ext>
            </a:extLst>
          </p:cNvPr>
          <p:cNvCxnSpPr>
            <a:cxnSpLocks/>
            <a:endCxn id="36" idx="3"/>
          </p:cNvCxnSpPr>
          <p:nvPr/>
        </p:nvCxnSpPr>
        <p:spPr>
          <a:xfrm flipV="1">
            <a:off x="3571454" y="6027992"/>
            <a:ext cx="1757102" cy="2367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Conector: curvado 1029">
            <a:extLst>
              <a:ext uri="{FF2B5EF4-FFF2-40B4-BE49-F238E27FC236}">
                <a16:creationId xmlns:a16="http://schemas.microsoft.com/office/drawing/2014/main" id="{5D18342A-0DB5-4BE7-879E-35AB21E5E010}"/>
              </a:ext>
            </a:extLst>
          </p:cNvPr>
          <p:cNvCxnSpPr/>
          <p:nvPr/>
        </p:nvCxnSpPr>
        <p:spPr>
          <a:xfrm rot="5400000" flipH="1" flipV="1">
            <a:off x="5001635" y="6089368"/>
            <a:ext cx="196097" cy="157731"/>
          </a:xfrm>
          <a:prstGeom prst="curvedConnector3">
            <a:avLst>
              <a:gd name="adj1" fmla="val 1204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438C3484-7EF3-426A-9D65-3599C153DF09}"/>
                  </a:ext>
                </a:extLst>
              </p:cNvPr>
              <p:cNvSpPr txBox="1"/>
              <p:nvPr/>
            </p:nvSpPr>
            <p:spPr>
              <a:xfrm>
                <a:off x="5329365" y="5906308"/>
                <a:ext cx="5766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438C3484-7EF3-426A-9D65-3599C153D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365" y="5906308"/>
                <a:ext cx="57669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37CA8894-F130-4C06-AB43-8B2D3504B199}"/>
                  </a:ext>
                </a:extLst>
              </p:cNvPr>
              <p:cNvSpPr txBox="1"/>
              <p:nvPr/>
            </p:nvSpPr>
            <p:spPr>
              <a:xfrm>
                <a:off x="2752993" y="6363441"/>
                <a:ext cx="33430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37CA8894-F130-4C06-AB43-8B2D3504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993" y="6363441"/>
                <a:ext cx="3343007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Conector recto de flecha 1034">
            <a:extLst>
              <a:ext uri="{FF2B5EF4-FFF2-40B4-BE49-F238E27FC236}">
                <a16:creationId xmlns:a16="http://schemas.microsoft.com/office/drawing/2014/main" id="{863CF5A8-3E13-414F-A2F9-6D54A735742B}"/>
              </a:ext>
            </a:extLst>
          </p:cNvPr>
          <p:cNvCxnSpPr>
            <a:cxnSpLocks/>
          </p:cNvCxnSpPr>
          <p:nvPr/>
        </p:nvCxnSpPr>
        <p:spPr>
          <a:xfrm>
            <a:off x="8241340" y="6007258"/>
            <a:ext cx="190917" cy="4485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28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8" grpId="0"/>
      <p:bldP spid="19" grpId="0"/>
      <p:bldP spid="21" grpId="0"/>
      <p:bldP spid="22" grpId="0"/>
      <p:bldP spid="23" grpId="0"/>
      <p:bldP spid="26" grpId="0" animBg="1"/>
      <p:bldP spid="33" grpId="0"/>
      <p:bldP spid="35" grpId="0"/>
      <p:bldP spid="36" grpId="0" animBg="1"/>
      <p:bldP spid="37" grpId="0"/>
      <p:bldP spid="54" grpId="0"/>
      <p:bldP spid="57" grpId="0"/>
      <p:bldP spid="58" grpId="0"/>
      <p:bldP spid="73" grpId="0"/>
      <p:bldP spid="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19573-8451-47AD-B873-1C3085BF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EDE042-3978-407E-80D6-E69CA616E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695026-08DC-4F29-8989-16B7D28F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3" r="6040" b="12359"/>
          <a:stretch/>
        </p:blipFill>
        <p:spPr>
          <a:xfrm>
            <a:off x="555661" y="482493"/>
            <a:ext cx="10798139" cy="601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6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786D1-E0E1-4C03-BC77-ACCD328A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Comportamiento de los materiales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AB3799-DD3C-4220-BE7B-91D49C69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5817682-F922-4C97-97F5-3E1F2C4BB37A}" type="slidenum">
              <a:rPr lang="es-CL" smtClean="0"/>
              <a:t>4</a:t>
            </a:fld>
            <a:endParaRPr lang="es-CL"/>
          </a:p>
        </p:txBody>
      </p:sp>
      <p:pic>
        <p:nvPicPr>
          <p:cNvPr id="1026" name="Picture 2" descr="Truco de la cuchara doblada – Tienda de Magia">
            <a:extLst>
              <a:ext uri="{FF2B5EF4-FFF2-40B4-BE49-F238E27FC236}">
                <a16:creationId xmlns:a16="http://schemas.microsoft.com/office/drawing/2014/main" id="{2D54FA97-E6F0-473E-B9F3-A780F7871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325" y="2099287"/>
            <a:ext cx="3159194" cy="177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ergía Potencial Elástica | Formula, Definición ➕ Ejemplos">
            <a:extLst>
              <a:ext uri="{FF2B5EF4-FFF2-40B4-BE49-F238E27FC236}">
                <a16:creationId xmlns:a16="http://schemas.microsoft.com/office/drawing/2014/main" id="{FAA375CB-9CA7-4F92-B038-3DF3DD87F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733" y="2146341"/>
            <a:ext cx="3048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01654BFA-16E0-4DE9-A4E5-2D9E51D5E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729" y="1480133"/>
            <a:ext cx="4157855" cy="5847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L" sz="3200"/>
              <a:t>Elástico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368C579-F4D4-4A91-AF0E-707CF20FE6EC}"/>
              </a:ext>
            </a:extLst>
          </p:cNvPr>
          <p:cNvSpPr txBox="1"/>
          <p:nvPr/>
        </p:nvSpPr>
        <p:spPr>
          <a:xfrm>
            <a:off x="8838666" y="1443327"/>
            <a:ext cx="2287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Plástico </a:t>
            </a:r>
          </a:p>
        </p:txBody>
      </p:sp>
      <p:pic>
        <p:nvPicPr>
          <p:cNvPr id="3" name="Picture 2" descr="ALAMBRE COBRE DESNUDO 16mm | ALAMBRES | Comercial Larraín S.A. Materiales  Eléctricos, Sanitarios, Construcción. Chile">
            <a:extLst>
              <a:ext uri="{FF2B5EF4-FFF2-40B4-BE49-F238E27FC236}">
                <a16:creationId xmlns:a16="http://schemas.microsoft.com/office/drawing/2014/main" id="{C9C7CB9D-D98A-4B14-B5B9-88058BD55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199" y="4170704"/>
            <a:ext cx="2086673" cy="208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roducción de cobre de Chile sube 6% en 2018 - BNamericas">
            <a:extLst>
              <a:ext uri="{FF2B5EF4-FFF2-40B4-BE49-F238E27FC236}">
                <a16:creationId xmlns:a16="http://schemas.microsoft.com/office/drawing/2014/main" id="{2F01714C-731F-4B67-8480-281F89D71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30" y="4284933"/>
            <a:ext cx="3270607" cy="218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s 30 puentes más impresionantes del mundo">
            <a:extLst>
              <a:ext uri="{FF2B5EF4-FFF2-40B4-BE49-F238E27FC236}">
                <a16:creationId xmlns:a16="http://schemas.microsoft.com/office/drawing/2014/main" id="{B6CB70E6-548B-4256-8550-D287518F9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52" y="4020818"/>
            <a:ext cx="2671532" cy="266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amión que quedó colgando de un puente de Carahue recién podrá ser sacado  este jueves - La Nación">
            <a:extLst>
              <a:ext uri="{FF2B5EF4-FFF2-40B4-BE49-F238E27FC236}">
                <a16:creationId xmlns:a16="http://schemas.microsoft.com/office/drawing/2014/main" id="{598B03DC-A6EC-4233-AAF4-9F3930227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29" y="3856967"/>
            <a:ext cx="4292060" cy="2861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74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6235A-B7B6-454A-8E0B-61A446BC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4" descr="Deformaciones Rocas">
            <a:extLst>
              <a:ext uri="{FF2B5EF4-FFF2-40B4-BE49-F238E27FC236}">
                <a16:creationId xmlns:a16="http://schemas.microsoft.com/office/drawing/2014/main" id="{FF01ADF5-CE0D-418B-8C0D-A882C9D9D1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34"/>
          <a:stretch/>
        </p:blipFill>
        <p:spPr bwMode="auto">
          <a:xfrm>
            <a:off x="409344" y="1998913"/>
            <a:ext cx="6099048" cy="379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Los 30 puentes más impresionantes del mundo">
            <a:extLst>
              <a:ext uri="{FF2B5EF4-FFF2-40B4-BE49-F238E27FC236}">
                <a16:creationId xmlns:a16="http://schemas.microsoft.com/office/drawing/2014/main" id="{30591749-71F2-44B7-AB5E-822A10EF47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453" y="365125"/>
            <a:ext cx="3434347" cy="342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Camión que quedó colgando de un puente de Carahue recién podrá ser sacado  este jueves - La Nación">
            <a:extLst>
              <a:ext uri="{FF2B5EF4-FFF2-40B4-BE49-F238E27FC236}">
                <a16:creationId xmlns:a16="http://schemas.microsoft.com/office/drawing/2014/main" id="{C860ACDA-0C15-46AC-BC6A-4328F5C31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596" y="3971453"/>
            <a:ext cx="4292060" cy="2861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EF193B2-843E-404E-85B0-09E22C3F73CA}"/>
              </a:ext>
            </a:extLst>
          </p:cNvPr>
          <p:cNvCxnSpPr>
            <a:cxnSpLocks/>
          </p:cNvCxnSpPr>
          <p:nvPr/>
        </p:nvCxnSpPr>
        <p:spPr>
          <a:xfrm>
            <a:off x="1665171" y="3971453"/>
            <a:ext cx="0" cy="754551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2C2CAEF-9CB4-4247-941F-FB104328626C}"/>
              </a:ext>
            </a:extLst>
          </p:cNvPr>
          <p:cNvCxnSpPr>
            <a:cxnSpLocks/>
          </p:cNvCxnSpPr>
          <p:nvPr/>
        </p:nvCxnSpPr>
        <p:spPr>
          <a:xfrm>
            <a:off x="1126156" y="4716379"/>
            <a:ext cx="539015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riángulo isósceles 13">
            <a:extLst>
              <a:ext uri="{FF2B5EF4-FFF2-40B4-BE49-F238E27FC236}">
                <a16:creationId xmlns:a16="http://schemas.microsoft.com/office/drawing/2014/main" id="{BA78F9D1-4694-4788-AE14-02EC8A2B6D63}"/>
              </a:ext>
            </a:extLst>
          </p:cNvPr>
          <p:cNvSpPr/>
          <p:nvPr/>
        </p:nvSpPr>
        <p:spPr>
          <a:xfrm>
            <a:off x="1141081" y="3990704"/>
            <a:ext cx="510140" cy="716049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9C37AED-BD14-4ABB-B130-5B96564E79E1}"/>
                  </a:ext>
                </a:extLst>
              </p:cNvPr>
              <p:cNvSpPr txBox="1"/>
              <p:nvPr/>
            </p:nvSpPr>
            <p:spPr>
              <a:xfrm>
                <a:off x="1005250" y="5269880"/>
                <a:ext cx="1319841" cy="61824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den>
                      </m:f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9C37AED-BD14-4ABB-B130-5B96564E7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50" y="5269880"/>
                <a:ext cx="1319841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: curvado 17">
            <a:extLst>
              <a:ext uri="{FF2B5EF4-FFF2-40B4-BE49-F238E27FC236}">
                <a16:creationId xmlns:a16="http://schemas.microsoft.com/office/drawing/2014/main" id="{A84E9510-09D6-4B11-B532-8F24304CB2C2}"/>
              </a:ext>
            </a:extLst>
          </p:cNvPr>
          <p:cNvCxnSpPr/>
          <p:nvPr/>
        </p:nvCxnSpPr>
        <p:spPr>
          <a:xfrm rot="16200000" flipH="1">
            <a:off x="1103917" y="4640474"/>
            <a:ext cx="853000" cy="269508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88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786D1-E0E1-4C03-BC77-ACCD328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91" y="329725"/>
            <a:ext cx="10313271" cy="873648"/>
          </a:xfrm>
        </p:spPr>
        <p:txBody>
          <a:bodyPr>
            <a:normAutofit/>
          </a:bodyPr>
          <a:lstStyle/>
          <a:p>
            <a:r>
              <a:rPr lang="es-CL"/>
              <a:t>Módulo de Elasticidad y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9E567A-AD73-4345-9262-18196BC29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884" y="1483908"/>
            <a:ext cx="4879688" cy="412804"/>
          </a:xfrm>
        </p:spPr>
        <p:txBody>
          <a:bodyPr>
            <a:normAutofit fontScale="77500" lnSpcReduction="20000"/>
          </a:bodyPr>
          <a:lstStyle/>
          <a:p>
            <a:r>
              <a:rPr lang="es-CL"/>
              <a:t>Módulo de Elasticidad o de Young (E)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AB3799-DD3C-4220-BE7B-91D49C69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5817682-F922-4C97-97F5-3E1F2C4BB37A}" type="slidenum">
              <a:rPr lang="es-CL" smtClean="0"/>
              <a:t>6</a:t>
            </a:fld>
            <a:endParaRPr lang="es-CL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E574D24-4F7E-4B80-B671-CCD0BCE282C9}"/>
              </a:ext>
            </a:extLst>
          </p:cNvPr>
          <p:cNvCxnSpPr>
            <a:cxnSpLocks/>
          </p:cNvCxnSpPr>
          <p:nvPr/>
        </p:nvCxnSpPr>
        <p:spPr>
          <a:xfrm flipV="1">
            <a:off x="1422173" y="1509142"/>
            <a:ext cx="0" cy="1800000"/>
          </a:xfrm>
          <a:prstGeom prst="straightConnector1">
            <a:avLst/>
          </a:prstGeom>
          <a:ln w="952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469F737-B8B3-4CF0-B992-0E7E56211029}"/>
              </a:ext>
            </a:extLst>
          </p:cNvPr>
          <p:cNvCxnSpPr>
            <a:cxnSpLocks/>
          </p:cNvCxnSpPr>
          <p:nvPr/>
        </p:nvCxnSpPr>
        <p:spPr>
          <a:xfrm>
            <a:off x="1412341" y="3299310"/>
            <a:ext cx="2205930" cy="0"/>
          </a:xfrm>
          <a:prstGeom prst="straightConnector1">
            <a:avLst/>
          </a:prstGeom>
          <a:ln w="952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F79E4488-7CF5-45ED-A599-69671A4520C6}"/>
              </a:ext>
            </a:extLst>
          </p:cNvPr>
          <p:cNvCxnSpPr>
            <a:cxnSpLocks/>
          </p:cNvCxnSpPr>
          <p:nvPr/>
        </p:nvCxnSpPr>
        <p:spPr>
          <a:xfrm flipH="1">
            <a:off x="452284" y="3289478"/>
            <a:ext cx="991347" cy="508407"/>
          </a:xfrm>
          <a:prstGeom prst="straightConnector1">
            <a:avLst/>
          </a:prstGeom>
          <a:ln w="952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07D69D9E-DC1A-498F-A8DD-9F0F4788FF3E}"/>
                  </a:ext>
                </a:extLst>
              </p:cNvPr>
              <p:cNvSpPr txBox="1"/>
              <p:nvPr/>
            </p:nvSpPr>
            <p:spPr>
              <a:xfrm>
                <a:off x="530937" y="3768218"/>
                <a:ext cx="2889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07D69D9E-DC1A-498F-A8DD-9F0F4788F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37" y="3768218"/>
                <a:ext cx="288989" cy="276999"/>
              </a:xfrm>
              <a:prstGeom prst="rect">
                <a:avLst/>
              </a:prstGeom>
              <a:blipFill>
                <a:blip r:embed="rId2"/>
                <a:stretch>
                  <a:fillRect l="-18750" r="-41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B1F2E697-7665-4F54-B4C8-E84E524A2AC6}"/>
                  </a:ext>
                </a:extLst>
              </p:cNvPr>
              <p:cNvSpPr txBox="1"/>
              <p:nvPr/>
            </p:nvSpPr>
            <p:spPr>
              <a:xfrm>
                <a:off x="986494" y="1438036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B1F2E697-7665-4F54-B4C8-E84E524A2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494" y="1438036"/>
                <a:ext cx="294311" cy="276999"/>
              </a:xfrm>
              <a:prstGeom prst="rect">
                <a:avLst/>
              </a:prstGeom>
              <a:blipFill>
                <a:blip r:embed="rId3"/>
                <a:stretch>
                  <a:fillRect l="-18750" r="-41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A98AF368-6793-41FF-9244-7E9CCE489607}"/>
                  </a:ext>
                </a:extLst>
              </p:cNvPr>
              <p:cNvSpPr txBox="1"/>
              <p:nvPr/>
            </p:nvSpPr>
            <p:spPr>
              <a:xfrm>
                <a:off x="6907165" y="1962242"/>
                <a:ext cx="1042209" cy="5177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A98AF368-6793-41FF-9244-7E9CCE489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165" y="1962242"/>
                <a:ext cx="1042209" cy="517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Ilusionario: El Cubo de Necker">
            <a:extLst>
              <a:ext uri="{FF2B5EF4-FFF2-40B4-BE49-F238E27FC236}">
                <a16:creationId xmlns:a16="http://schemas.microsoft.com/office/drawing/2014/main" id="{F675DCD3-58E0-44C9-98F6-9B11886CF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16" y="2213610"/>
            <a:ext cx="1621562" cy="145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7E39333E-171A-45D2-9094-507D34553EBB}"/>
                  </a:ext>
                </a:extLst>
              </p:cNvPr>
              <p:cNvSpPr txBox="1"/>
              <p:nvPr/>
            </p:nvSpPr>
            <p:spPr>
              <a:xfrm>
                <a:off x="3396561" y="2973084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7E39333E-171A-45D2-9094-507D34553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561" y="2973084"/>
                <a:ext cx="294311" cy="276999"/>
              </a:xfrm>
              <a:prstGeom prst="rect">
                <a:avLst/>
              </a:prstGeom>
              <a:blipFill>
                <a:blip r:embed="rId6"/>
                <a:stretch>
                  <a:fillRect l="-18750" r="-625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DB5E1395-6933-4613-B5E0-94E90F07952C}"/>
              </a:ext>
            </a:extLst>
          </p:cNvPr>
          <p:cNvCxnSpPr>
            <a:cxnSpLocks/>
          </p:cNvCxnSpPr>
          <p:nvPr/>
        </p:nvCxnSpPr>
        <p:spPr>
          <a:xfrm flipV="1">
            <a:off x="2053613" y="2533121"/>
            <a:ext cx="551936" cy="332377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Rectángulo 2052">
            <a:extLst>
              <a:ext uri="{FF2B5EF4-FFF2-40B4-BE49-F238E27FC236}">
                <a16:creationId xmlns:a16="http://schemas.microsoft.com/office/drawing/2014/main" id="{66DCBC5F-FA69-4C3A-B41D-5C1D237111FA}"/>
              </a:ext>
            </a:extLst>
          </p:cNvPr>
          <p:cNvSpPr/>
          <p:nvPr/>
        </p:nvSpPr>
        <p:spPr>
          <a:xfrm>
            <a:off x="949318" y="2581289"/>
            <a:ext cx="954000" cy="954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CuadroTexto 2047">
                <a:extLst>
                  <a:ext uri="{FF2B5EF4-FFF2-40B4-BE49-F238E27FC236}">
                    <a16:creationId xmlns:a16="http://schemas.microsoft.com/office/drawing/2014/main" id="{542A7E3C-B954-48C9-95A5-4FFAC06B8609}"/>
                  </a:ext>
                </a:extLst>
              </p:cNvPr>
              <p:cNvSpPr txBox="1"/>
              <p:nvPr/>
            </p:nvSpPr>
            <p:spPr>
              <a:xfrm>
                <a:off x="414043" y="3003910"/>
                <a:ext cx="4231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s-CL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es-CL" b="1"/>
              </a:p>
            </p:txBody>
          </p:sp>
        </mc:Choice>
        <mc:Fallback xmlns="">
          <p:sp>
            <p:nvSpPr>
              <p:cNvPr id="2048" name="CuadroTexto 2047">
                <a:extLst>
                  <a:ext uri="{FF2B5EF4-FFF2-40B4-BE49-F238E27FC236}">
                    <a16:creationId xmlns:a16="http://schemas.microsoft.com/office/drawing/2014/main" id="{542A7E3C-B954-48C9-95A5-4FFAC06B8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43" y="3003910"/>
                <a:ext cx="423128" cy="276999"/>
              </a:xfrm>
              <a:prstGeom prst="rect">
                <a:avLst/>
              </a:prstGeom>
              <a:blipFill>
                <a:blip r:embed="rId7"/>
                <a:stretch>
                  <a:fillRect l="-5797" r="-579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6" name="Conector recto de flecha 2055">
            <a:extLst>
              <a:ext uri="{FF2B5EF4-FFF2-40B4-BE49-F238E27FC236}">
                <a16:creationId xmlns:a16="http://schemas.microsoft.com/office/drawing/2014/main" id="{6693FD11-436F-4722-A604-C2AE4148C502}"/>
              </a:ext>
            </a:extLst>
          </p:cNvPr>
          <p:cNvCxnSpPr/>
          <p:nvPr/>
        </p:nvCxnSpPr>
        <p:spPr>
          <a:xfrm flipH="1">
            <a:off x="675431" y="3079161"/>
            <a:ext cx="828521" cy="3949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Marcador de contenido 2">
                <a:extLst>
                  <a:ext uri="{FF2B5EF4-FFF2-40B4-BE49-F238E27FC236}">
                    <a16:creationId xmlns:a16="http://schemas.microsoft.com/office/drawing/2014/main" id="{60895DBA-A7CD-4134-A5E1-7ECEFA2958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57261" y="2736911"/>
                <a:ext cx="4879688" cy="4128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CL"/>
                  <a:t>Módulo de Poisson (</a:t>
                </a:r>
                <a14:m>
                  <m:oMath xmlns:m="http://schemas.openxmlformats.org/officeDocument/2006/math">
                    <m:r>
                      <a:rPr lang="es-C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s-CL"/>
                  <a:t>) </a:t>
                </a:r>
              </a:p>
            </p:txBody>
          </p:sp>
        </mc:Choice>
        <mc:Fallback xmlns="">
          <p:sp>
            <p:nvSpPr>
              <p:cNvPr id="75" name="Marcador de contenido 2">
                <a:extLst>
                  <a:ext uri="{FF2B5EF4-FFF2-40B4-BE49-F238E27FC236}">
                    <a16:creationId xmlns:a16="http://schemas.microsoft.com/office/drawing/2014/main" id="{60895DBA-A7CD-4134-A5E1-7ECEFA295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261" y="2736911"/>
                <a:ext cx="4879688" cy="412804"/>
              </a:xfrm>
              <a:prstGeom prst="rect">
                <a:avLst/>
              </a:prstGeom>
              <a:blipFill>
                <a:blip r:embed="rId8"/>
                <a:stretch>
                  <a:fillRect l="-250" t="-11765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475F0610-6ACC-43CE-B530-493583274348}"/>
                  </a:ext>
                </a:extLst>
              </p:cNvPr>
              <p:cNvSpPr txBox="1"/>
              <p:nvPr/>
            </p:nvSpPr>
            <p:spPr>
              <a:xfrm>
                <a:off x="5097369" y="3115967"/>
                <a:ext cx="1997261" cy="681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475F0610-6ACC-43CE-B530-493583274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369" y="3115967"/>
                <a:ext cx="1997261" cy="6819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45EB881-D7AA-4D16-AB9F-4AAA81464405}"/>
                  </a:ext>
                </a:extLst>
              </p:cNvPr>
              <p:cNvSpPr txBox="1"/>
              <p:nvPr/>
            </p:nvSpPr>
            <p:spPr>
              <a:xfrm>
                <a:off x="7344610" y="3122852"/>
                <a:ext cx="3202857" cy="562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f>
                        <m:f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45EB881-D7AA-4D16-AB9F-4AAA81464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610" y="3122852"/>
                <a:ext cx="3202857" cy="5629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0" name="CuadroTexto 2059">
                <a:extLst>
                  <a:ext uri="{FF2B5EF4-FFF2-40B4-BE49-F238E27FC236}">
                    <a16:creationId xmlns:a16="http://schemas.microsoft.com/office/drawing/2014/main" id="{2E60C0FB-42BC-43EF-9538-E6849498850E}"/>
                  </a:ext>
                </a:extLst>
              </p:cNvPr>
              <p:cNvSpPr txBox="1"/>
              <p:nvPr/>
            </p:nvSpPr>
            <p:spPr>
              <a:xfrm>
                <a:off x="530937" y="4845056"/>
                <a:ext cx="5230761" cy="164814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d>
                        <m:d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d>
                        <m:d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  <m:d>
                            <m:d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s-C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CL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</m:sSub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CL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d>
                        <m:d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d>
                        <m:d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  <m:d>
                            <m:d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s-C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CL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CL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d>
                        <m:d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d>
                        <m:d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  <m:d>
                            <m:d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s-C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CL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2060" name="CuadroTexto 2059">
                <a:extLst>
                  <a:ext uri="{FF2B5EF4-FFF2-40B4-BE49-F238E27FC236}">
                    <a16:creationId xmlns:a16="http://schemas.microsoft.com/office/drawing/2014/main" id="{2E60C0FB-42BC-43EF-9538-E68494988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37" y="4845056"/>
                <a:ext cx="5230761" cy="16481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366DD10-F649-4807-BDA7-EDF822BE6B3C}"/>
              </a:ext>
            </a:extLst>
          </p:cNvPr>
          <p:cNvSpPr txBox="1">
            <a:spLocks/>
          </p:cNvSpPr>
          <p:nvPr/>
        </p:nvSpPr>
        <p:spPr>
          <a:xfrm>
            <a:off x="315391" y="4339353"/>
            <a:ext cx="4879688" cy="412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/>
              <a:t>Si consideramos los 3 esfuerzos normales: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5D36C17F-6625-461B-B603-08B75A187E7C}"/>
                  </a:ext>
                </a:extLst>
              </p:cNvPr>
              <p:cNvSpPr txBox="1"/>
              <p:nvPr/>
            </p:nvSpPr>
            <p:spPr>
              <a:xfrm>
                <a:off x="8402833" y="1894469"/>
                <a:ext cx="3141477" cy="530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𝑎𝑐𝑒𝑟𝑜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=2,1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f>
                        <m:fPr>
                          <m:type m:val="skw"/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num>
                        <m:den>
                          <m:sSup>
                            <m:sSup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𝑚𝑚</m:t>
                              </m:r>
                            </m:e>
                            <m:sup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5D36C17F-6625-461B-B603-08B75A187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833" y="1894469"/>
                <a:ext cx="3141477" cy="5304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FD7F857-A21F-4B8B-830F-CE32AB174E01}"/>
                  </a:ext>
                </a:extLst>
              </p:cNvPr>
              <p:cNvSpPr txBox="1"/>
              <p:nvPr/>
            </p:nvSpPr>
            <p:spPr>
              <a:xfrm>
                <a:off x="5272604" y="3838827"/>
                <a:ext cx="17082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𝑎𝑐𝑒𝑟𝑜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b="0" i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FD7F857-A21F-4B8B-830F-CE32AB17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604" y="3838827"/>
                <a:ext cx="170827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9215C05F-149E-48A6-82FB-4809A9A1939A}"/>
                  </a:ext>
                </a:extLst>
              </p:cNvPr>
              <p:cNvSpPr txBox="1"/>
              <p:nvPr/>
            </p:nvSpPr>
            <p:spPr>
              <a:xfrm>
                <a:off x="6858158" y="5063650"/>
                <a:ext cx="4495642" cy="10753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s-CL" sz="1800"/>
                  <a:t>Para el caso de esfuerzos y deformaciones de: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s-CL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𝐺𝑙</m:t>
                        </m:r>
                      </m:e>
                      <m:sub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s-CL" sz="18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CL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C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L" sz="1800" i="1">
                            <a:latin typeface="Cambria Math" panose="02040503050406030204" pitchFamily="18" charset="0"/>
                          </a:rPr>
                          <m:t>𝐺𝑙</m:t>
                        </m:r>
                      </m:e>
                      <m:sub>
                        <m:r>
                          <a:rPr lang="es-CL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CL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CL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C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L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L" sz="1800" i="1">
                            <a:latin typeface="Cambria Math" panose="02040503050406030204" pitchFamily="18" charset="0"/>
                          </a:rPr>
                          <m:t>𝐺𝑙</m:t>
                        </m:r>
                      </m:e>
                      <m:sub>
                        <m:r>
                          <a:rPr lang="es-CL" sz="1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s-CL" sz="1800"/>
              </a:p>
              <a:p>
                <a:pPr marL="0" indent="0">
                  <a:buNone/>
                </a:pPr>
                <a:r>
                  <a:rPr lang="es-CL" sz="1800"/>
                  <a:t>G: Módulo de corte, </a:t>
                </a:r>
                <a14:m>
                  <m:oMath xmlns:m="http://schemas.openxmlformats.org/officeDocument/2006/math">
                    <m:r>
                      <a:rPr lang="es-CL" sz="1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s-CL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L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2(1+</m:t>
                        </m:r>
                        <m:r>
                          <a:rPr lang="es-C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  <m:r>
                          <a:rPr lang="es-C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s-CL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9215C05F-149E-48A6-82FB-4809A9A19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158" y="5063650"/>
                <a:ext cx="4495642" cy="1075359"/>
              </a:xfrm>
              <a:prstGeom prst="rect">
                <a:avLst/>
              </a:prstGeom>
              <a:blipFill>
                <a:blip r:embed="rId14"/>
                <a:stretch>
                  <a:fillRect l="-808" t="-2210" b="-110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22F520D0-9362-48F5-93FA-4330147D7A32}"/>
              </a:ext>
            </a:extLst>
          </p:cNvPr>
          <p:cNvSpPr txBox="1"/>
          <p:nvPr/>
        </p:nvSpPr>
        <p:spPr>
          <a:xfrm>
            <a:off x="675431" y="6564533"/>
            <a:ext cx="31420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>
                <a:solidFill>
                  <a:srgbClr val="FF0000"/>
                </a:solidFill>
              </a:rPr>
              <a:t>*Siempre utilizar las ecuaciones del libro</a:t>
            </a:r>
          </a:p>
        </p:txBody>
      </p:sp>
    </p:spTree>
    <p:extLst>
      <p:ext uri="{BB962C8B-B14F-4D97-AF65-F5344CB8AC3E}">
        <p14:creationId xmlns:p14="http://schemas.microsoft.com/office/powerpoint/2010/main" val="237373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0" grpId="0" animBg="1"/>
      <p:bldP spid="5" grpId="0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65BB1-7D6E-4A1B-A3EE-83607D1F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C6B817-93EF-482F-BD94-7F58D5D64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133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AB3799-DD3C-4220-BE7B-91D49C69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5817682-F922-4C97-97F5-3E1F2C4BB37A}" type="slidenum">
              <a:rPr lang="es-CL" smtClean="0"/>
              <a:t>8</a:t>
            </a:fld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05EB6010-901D-4194-9674-2C9C37143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57" y="1306034"/>
                <a:ext cx="10527988" cy="31930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L" sz="1800"/>
                  <a:t>Ejemplos de como desarrollar esta ley: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begChr m:val="{"/>
                          <m:endChr m:val=""/>
                          <m:ctrlPr>
                            <a:rPr lang="es-CL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eqArr>
                            <m:eqArrPr>
                              <m:ctrlPr>
                                <a:rPr lang="es-CL" sz="1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es-CL" sz="1800" dirty="0"/>
                                <m:t> </m:t>
                              </m:r>
                            </m:e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es-CL" sz="1800" dirty="0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CL" sz="1800" b="0"/>
              </a:p>
              <a:p>
                <a:pPr marL="0" indent="0">
                  <a:buNone/>
                </a:pPr>
                <a:r>
                  <a:rPr lang="es-CL" sz="1800" b="0"/>
                  <a:t>Desarrollaremos la suma de la primera expresión,</a:t>
                </a:r>
              </a:p>
              <a:p>
                <a:pPr marL="0" indent="0">
                  <a:buNone/>
                </a:pPr>
                <a:r>
                  <a:rPr lang="es-CL" sz="1800"/>
                  <a:t>Para k=1,2,3:</a:t>
                </a:r>
                <a:endParaRPr lang="es-CL" sz="1800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s-C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s-CL" sz="1800" b="0"/>
              </a:p>
              <a:p>
                <a:pPr marL="0" indent="0">
                  <a:buNone/>
                </a:pPr>
                <a:r>
                  <a:rPr lang="es-CL" sz="1800" b="0"/>
                  <a:t>Buscaremos encontrar la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s-CL" sz="1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CL" sz="1800" b="0"/>
                  <a:t>para ello i=j=1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s-C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C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s-CL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L" sz="180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05EB6010-901D-4194-9674-2C9C37143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57" y="1306034"/>
                <a:ext cx="10527988" cy="3193025"/>
              </a:xfrm>
              <a:blipFill>
                <a:blip r:embed="rId2"/>
                <a:stretch>
                  <a:fillRect l="-521" t="-1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5C2CC11-975E-4A64-B961-25FC5CFE2BA7}"/>
                  </a:ext>
                </a:extLst>
              </p:cNvPr>
              <p:cNvSpPr txBox="1"/>
              <p:nvPr/>
            </p:nvSpPr>
            <p:spPr>
              <a:xfrm>
                <a:off x="2470356" y="134375"/>
                <a:ext cx="6140244" cy="113409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𝑘𝑘</m:t>
                          </m:r>
                        </m:sub>
                      </m:sSub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s-CL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1−2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den>
                      </m:f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𝑘𝑘</m:t>
                          </m:r>
                        </m:sub>
                      </m:sSub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CL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5C2CC11-975E-4A64-B961-25FC5CFE2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356" y="134375"/>
                <a:ext cx="6140244" cy="11340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0A1CD8A-C051-4675-9245-E0B534956532}"/>
                  </a:ext>
                </a:extLst>
              </p:cNvPr>
              <p:cNvSpPr txBox="1"/>
              <p:nvPr/>
            </p:nvSpPr>
            <p:spPr>
              <a:xfrm>
                <a:off x="272092" y="4791549"/>
                <a:ext cx="9359588" cy="1637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s-CL" sz="1800" b="0"/>
                  <a:t>Buscaremos encontrar la componente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s-CL" sz="18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CL" sz="1800" b="0"/>
                  <a:t>para ello i=1,j=2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s-C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num>
                        <m:den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b>
                        <m:sSubPr>
                          <m:ctrlPr>
                            <a:rPr lang="es-CL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s-CL" sz="180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CL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1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C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s-CL" sz="1800">
                  <a:ea typeface="Cambria Math" panose="02040503050406030204" pitchFamily="18" charset="0"/>
                </a:endParaRPr>
              </a:p>
              <a:p>
                <a:r>
                  <a:rPr lang="es-CL" sz="1800"/>
                  <a:t>Notemos que los valores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CL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s-CL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s-CL" sz="1800"/>
                  <a:t> son los mismos de las Diapo </a:t>
                </a:r>
                <a:r>
                  <a:rPr lang="es-CL"/>
                  <a:t>6</a:t>
                </a:r>
                <a:r>
                  <a:rPr lang="es-CL" sz="1800"/>
                  <a:t>, escritos de otra forma.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0A1CD8A-C051-4675-9245-E0B534956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92" y="4791549"/>
                <a:ext cx="9359588" cy="1637436"/>
              </a:xfrm>
              <a:prstGeom prst="rect">
                <a:avLst/>
              </a:prstGeom>
              <a:blipFill>
                <a:blip r:embed="rId4"/>
                <a:stretch>
                  <a:fillRect l="-586" t="-1859" b="-4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6A47CC6E-720F-4783-9D90-06DB36A8D1FD}"/>
              </a:ext>
            </a:extLst>
          </p:cNvPr>
          <p:cNvSpPr txBox="1"/>
          <p:nvPr/>
        </p:nvSpPr>
        <p:spPr>
          <a:xfrm>
            <a:off x="856561" y="516755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L" sz="1800" b="1"/>
              <a:t>Ley de Hooke</a:t>
            </a:r>
          </a:p>
        </p:txBody>
      </p:sp>
    </p:spTree>
    <p:extLst>
      <p:ext uri="{BB962C8B-B14F-4D97-AF65-F5344CB8AC3E}">
        <p14:creationId xmlns:p14="http://schemas.microsoft.com/office/powerpoint/2010/main" val="76254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DEA4A54-48BF-4A06-B377-4ECE1333B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0299" y="307910"/>
                <a:ext cx="8843861" cy="4351338"/>
              </a:xfrm>
            </p:spPr>
            <p:txBody>
              <a:bodyPr/>
              <a:lstStyle/>
              <a:p>
                <a:r>
                  <a:rPr lang="es-CL" sz="2000"/>
                  <a:t>Módulo de Elasticidad o de Young (E)</a:t>
                </a:r>
              </a:p>
              <a:p>
                <a:endParaRPr lang="es-CL" sz="20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CL" sz="20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L" sz="20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CL" sz="20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es-CL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L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s-C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s-CL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L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es-CL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CL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s-CL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s-CL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CL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es-CL" sz="2000"/>
              </a:p>
              <a:p>
                <a:pPr marL="0" indent="0">
                  <a:buNone/>
                </a:pPr>
                <a:endParaRPr lang="es-CL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DEA4A54-48BF-4A06-B377-4ECE1333B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299" y="307910"/>
                <a:ext cx="8843861" cy="4351338"/>
              </a:xfrm>
              <a:blipFill>
                <a:blip r:embed="rId2"/>
                <a:stretch>
                  <a:fillRect l="-620" t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B25CF9C-F409-4F56-B92F-0DFB02A09CF8}"/>
              </a:ext>
            </a:extLst>
          </p:cNvPr>
          <p:cNvSpPr txBox="1">
            <a:spLocks/>
          </p:cNvSpPr>
          <p:nvPr/>
        </p:nvSpPr>
        <p:spPr>
          <a:xfrm>
            <a:off x="838200" y="2273610"/>
            <a:ext cx="4879688" cy="4128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L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8AC3218-7E5B-413C-A751-48F8D258D28F}"/>
              </a:ext>
            </a:extLst>
          </p:cNvPr>
          <p:cNvCxnSpPr>
            <a:cxnSpLocks/>
          </p:cNvCxnSpPr>
          <p:nvPr/>
        </p:nvCxnSpPr>
        <p:spPr>
          <a:xfrm flipV="1">
            <a:off x="1405957" y="892925"/>
            <a:ext cx="0" cy="1800000"/>
          </a:xfrm>
          <a:prstGeom prst="straightConnector1">
            <a:avLst/>
          </a:prstGeom>
          <a:ln w="952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377354F-3A06-4529-BA5F-AAB901E52E42}"/>
              </a:ext>
            </a:extLst>
          </p:cNvPr>
          <p:cNvCxnSpPr>
            <a:cxnSpLocks/>
          </p:cNvCxnSpPr>
          <p:nvPr/>
        </p:nvCxnSpPr>
        <p:spPr>
          <a:xfrm>
            <a:off x="1396125" y="2683093"/>
            <a:ext cx="2205930" cy="0"/>
          </a:xfrm>
          <a:prstGeom prst="straightConnector1">
            <a:avLst/>
          </a:prstGeom>
          <a:ln w="952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02AA3F0-765F-4CB5-A054-C42037763969}"/>
              </a:ext>
            </a:extLst>
          </p:cNvPr>
          <p:cNvCxnSpPr>
            <a:cxnSpLocks/>
          </p:cNvCxnSpPr>
          <p:nvPr/>
        </p:nvCxnSpPr>
        <p:spPr>
          <a:xfrm flipH="1">
            <a:off x="436068" y="2673261"/>
            <a:ext cx="991347" cy="508407"/>
          </a:xfrm>
          <a:prstGeom prst="straightConnector1">
            <a:avLst/>
          </a:prstGeom>
          <a:ln w="952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8834252-5A00-4390-9B6E-F008700655EC}"/>
                  </a:ext>
                </a:extLst>
              </p:cNvPr>
              <p:cNvSpPr txBox="1"/>
              <p:nvPr/>
            </p:nvSpPr>
            <p:spPr>
              <a:xfrm>
                <a:off x="514721" y="3152001"/>
                <a:ext cx="2889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8834252-5A00-4390-9B6E-F00870065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21" y="3152001"/>
                <a:ext cx="288989" cy="276999"/>
              </a:xfrm>
              <a:prstGeom prst="rect">
                <a:avLst/>
              </a:prstGeom>
              <a:blipFill>
                <a:blip r:embed="rId3"/>
                <a:stretch>
                  <a:fillRect l="-18750" r="-41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CBF437-D1CD-4FB1-92E9-2AB0A4029526}"/>
                  </a:ext>
                </a:extLst>
              </p:cNvPr>
              <p:cNvSpPr txBox="1"/>
              <p:nvPr/>
            </p:nvSpPr>
            <p:spPr>
              <a:xfrm>
                <a:off x="970278" y="821819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CBF437-D1CD-4FB1-92E9-2AB0A4029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78" y="821819"/>
                <a:ext cx="294311" cy="276999"/>
              </a:xfrm>
              <a:prstGeom prst="rect">
                <a:avLst/>
              </a:prstGeom>
              <a:blipFill>
                <a:blip r:embed="rId4"/>
                <a:stretch>
                  <a:fillRect l="-18750" r="-625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4" descr="Ilusionario: El Cubo de Necker">
            <a:extLst>
              <a:ext uri="{FF2B5EF4-FFF2-40B4-BE49-F238E27FC236}">
                <a16:creationId xmlns:a16="http://schemas.microsoft.com/office/drawing/2014/main" id="{E55B1F11-76DC-44A1-BD34-AA562F47A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97393"/>
            <a:ext cx="1621562" cy="145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A877A3A-9554-480B-A7CE-31CFA2E98373}"/>
                  </a:ext>
                </a:extLst>
              </p:cNvPr>
              <p:cNvSpPr txBox="1"/>
              <p:nvPr/>
            </p:nvSpPr>
            <p:spPr>
              <a:xfrm>
                <a:off x="3380345" y="2356867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A877A3A-9554-480B-A7CE-31CFA2E98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345" y="2356867"/>
                <a:ext cx="294311" cy="276999"/>
              </a:xfrm>
              <a:prstGeom prst="rect">
                <a:avLst/>
              </a:prstGeom>
              <a:blipFill>
                <a:blip r:embed="rId6"/>
                <a:stretch>
                  <a:fillRect l="-18750" r="-41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C5BC068-BC8E-4495-B7D2-CB540D153A33}"/>
              </a:ext>
            </a:extLst>
          </p:cNvPr>
          <p:cNvCxnSpPr>
            <a:cxnSpLocks/>
          </p:cNvCxnSpPr>
          <p:nvPr/>
        </p:nvCxnSpPr>
        <p:spPr>
          <a:xfrm flipV="1">
            <a:off x="2037397" y="1916904"/>
            <a:ext cx="551936" cy="332377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7BFF832-C75A-40D6-B0B1-B37217F99FCF}"/>
              </a:ext>
            </a:extLst>
          </p:cNvPr>
          <p:cNvSpPr/>
          <p:nvPr/>
        </p:nvSpPr>
        <p:spPr>
          <a:xfrm>
            <a:off x="933102" y="1965072"/>
            <a:ext cx="954000" cy="954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F0A2B00-791B-4637-B862-D1FFED022B4B}"/>
                  </a:ext>
                </a:extLst>
              </p:cNvPr>
              <p:cNvSpPr txBox="1"/>
              <p:nvPr/>
            </p:nvSpPr>
            <p:spPr>
              <a:xfrm>
                <a:off x="397827" y="2387693"/>
                <a:ext cx="4231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s-CL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es-CL" b="1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F0A2B00-791B-4637-B862-D1FFED022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27" y="2387693"/>
                <a:ext cx="423128" cy="276999"/>
              </a:xfrm>
              <a:prstGeom prst="rect">
                <a:avLst/>
              </a:prstGeom>
              <a:blipFill>
                <a:blip r:embed="rId7"/>
                <a:stretch>
                  <a:fillRect l="-5714" r="-4286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BDF25FA-D6E9-4B5A-B2A1-4C34584E9762}"/>
              </a:ext>
            </a:extLst>
          </p:cNvPr>
          <p:cNvCxnSpPr/>
          <p:nvPr/>
        </p:nvCxnSpPr>
        <p:spPr>
          <a:xfrm flipH="1">
            <a:off x="659215" y="2462944"/>
            <a:ext cx="828521" cy="3949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n 18">
            <a:extLst>
              <a:ext uri="{FF2B5EF4-FFF2-40B4-BE49-F238E27FC236}">
                <a16:creationId xmlns:a16="http://schemas.microsoft.com/office/drawing/2014/main" id="{2E5CE720-D967-4809-A95C-AD33336AE10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3313" t="19599" r="18494" b="9931"/>
          <a:stretch/>
        </p:blipFill>
        <p:spPr>
          <a:xfrm>
            <a:off x="7721859" y="441412"/>
            <a:ext cx="3437262" cy="483290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53AC0A6-E1FA-4432-933B-C99D92674C7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0512" t="28112" r="24006" b="18875"/>
          <a:stretch/>
        </p:blipFill>
        <p:spPr>
          <a:xfrm>
            <a:off x="1264589" y="3887243"/>
            <a:ext cx="4785157" cy="257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2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19BFF-2CA0-4A69-97AE-26971116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Ejercicio 1</a:t>
            </a:r>
          </a:p>
        </p:txBody>
      </p:sp>
      <p:pic>
        <p:nvPicPr>
          <p:cNvPr id="7" name="Imagen 6" descr="Gráfico&#10;&#10;Descripción generada automáticamente con confianza baja">
            <a:extLst>
              <a:ext uri="{FF2B5EF4-FFF2-40B4-BE49-F238E27FC236}">
                <a16:creationId xmlns:a16="http://schemas.microsoft.com/office/drawing/2014/main" id="{FC20D458-BD8E-47BC-A200-21D6D5440E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6"/>
          <a:stretch/>
        </p:blipFill>
        <p:spPr>
          <a:xfrm>
            <a:off x="3431730" y="3220113"/>
            <a:ext cx="5328540" cy="2141035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571DCB5-F702-46A0-8CF4-1FBBDAED4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017" y="14968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/>
              <a:t>Para la barra de la figura encuentre:</a:t>
            </a:r>
          </a:p>
          <a:p>
            <a:pPr marL="514350" indent="-514350">
              <a:buAutoNum type="alphaLcParenR"/>
            </a:pPr>
            <a:r>
              <a:rPr lang="es-CL" sz="1800"/>
              <a:t>La fuerza P para la cual la deformación total de la barra es nula</a:t>
            </a:r>
          </a:p>
          <a:p>
            <a:pPr marL="514350" indent="-514350">
              <a:buAutoNum type="alphaLcParenR"/>
            </a:pPr>
            <a:r>
              <a:rPr lang="es-CL" sz="1800"/>
              <a:t>La deflexión correspondiente al punto B.</a:t>
            </a:r>
          </a:p>
        </p:txBody>
      </p:sp>
    </p:spTree>
    <p:extLst>
      <p:ext uri="{BB962C8B-B14F-4D97-AF65-F5344CB8AC3E}">
        <p14:creationId xmlns:p14="http://schemas.microsoft.com/office/powerpoint/2010/main" val="2319321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18308-DA65-467A-A8A5-24146A4C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Solución</a:t>
            </a:r>
          </a:p>
        </p:txBody>
      </p:sp>
      <p:pic>
        <p:nvPicPr>
          <p:cNvPr id="5" name="Imagen 4" descr="Gráfico&#10;&#10;Descripción generada automáticamente con confianza baja">
            <a:extLst>
              <a:ext uri="{FF2B5EF4-FFF2-40B4-BE49-F238E27FC236}">
                <a16:creationId xmlns:a16="http://schemas.microsoft.com/office/drawing/2014/main" id="{5C11591D-020E-425D-8CAB-FEDB86EC9F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6"/>
          <a:stretch/>
        </p:blipFill>
        <p:spPr>
          <a:xfrm>
            <a:off x="3431730" y="139924"/>
            <a:ext cx="5328540" cy="2141035"/>
          </a:xfrm>
          <a:prstGeom prst="rect">
            <a:avLst/>
          </a:prstGeom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C877FDF1-CA4D-4463-9B39-AB3DA77AE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76" y="2298537"/>
            <a:ext cx="1670775" cy="1416882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3996471-6F80-4622-A6F1-F16268097C19}"/>
              </a:ext>
            </a:extLst>
          </p:cNvPr>
          <p:cNvCxnSpPr>
            <a:cxnSpLocks/>
          </p:cNvCxnSpPr>
          <p:nvPr/>
        </p:nvCxnSpPr>
        <p:spPr>
          <a:xfrm>
            <a:off x="2205369" y="2993226"/>
            <a:ext cx="0" cy="39996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BFF738E-F119-413F-9431-335402AD698F}"/>
              </a:ext>
            </a:extLst>
          </p:cNvPr>
          <p:cNvCxnSpPr>
            <a:cxnSpLocks/>
          </p:cNvCxnSpPr>
          <p:nvPr/>
        </p:nvCxnSpPr>
        <p:spPr>
          <a:xfrm>
            <a:off x="2273129" y="3169579"/>
            <a:ext cx="42600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8A8966B-DD1E-4C48-833B-3E90C656D0C3}"/>
                  </a:ext>
                </a:extLst>
              </p:cNvPr>
              <p:cNvSpPr txBox="1"/>
              <p:nvPr/>
            </p:nvSpPr>
            <p:spPr>
              <a:xfrm>
                <a:off x="2073738" y="3256240"/>
                <a:ext cx="9733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L" b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8A8966B-DD1E-4C48-833B-3E90C656D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738" y="3256240"/>
                <a:ext cx="9733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E9171CF5-36CE-47A4-854B-D85B059BAF25}"/>
                  </a:ext>
                </a:extLst>
              </p:cNvPr>
              <p:cNvSpPr txBox="1"/>
              <p:nvPr/>
            </p:nvSpPr>
            <p:spPr>
              <a:xfrm>
                <a:off x="3657600" y="2979836"/>
                <a:ext cx="7317954" cy="93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40"</m:t>
                          </m:r>
                        </m:num>
                        <m:den>
                          <m:f>
                            <m:fPr>
                              <m:ctrlPr>
                                <a:rPr lang="es-CL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2"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s-C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28,9×</m:t>
                          </m:r>
                          <m:sSup>
                            <m:sSup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f>
                            <m:f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𝑝𝑢𝑙𝑔</m:t>
                                  </m:r>
                                </m:e>
                                <m:sup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=0,44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s-C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E9171CF5-36CE-47A4-854B-D85B059BA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979836"/>
                <a:ext cx="7317954" cy="9311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F64FE55-D1AF-4594-88AD-FFDDF25DBBE2}"/>
                  </a:ext>
                </a:extLst>
              </p:cNvPr>
              <p:cNvSpPr txBox="1"/>
              <p:nvPr/>
            </p:nvSpPr>
            <p:spPr>
              <a:xfrm>
                <a:off x="8760270" y="510536"/>
                <a:ext cx="3266973" cy="976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𝑎𝑐𝑒𝑟𝑜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=2,1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f>
                        <m:fPr>
                          <m:type m:val="skw"/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num>
                        <m:den>
                          <m:sSup>
                            <m:sSup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𝑚𝑚</m:t>
                              </m:r>
                            </m:e>
                            <m:sup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L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=28,9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f>
                        <m:fPr>
                          <m:type m:val="skw"/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𝑙𝑏</m:t>
                          </m:r>
                        </m:num>
                        <m:den>
                          <m:sSup>
                            <m:sSupPr>
                              <m:ctrlP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𝑝𝑢𝑙𝑔</m:t>
                              </m:r>
                            </m:e>
                            <m:sup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F64FE55-D1AF-4594-88AD-FFDDF25DB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270" y="510536"/>
                <a:ext cx="3266973" cy="976421"/>
              </a:xfrm>
              <a:prstGeom prst="rect">
                <a:avLst/>
              </a:prstGeom>
              <a:blipFill>
                <a:blip r:embed="rId6"/>
                <a:stretch>
                  <a:fillRect t="-51250" r="-4478" b="-80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n 21" descr="Gráfico&#10;&#10;Descripción generada automáticamente con confianza baja">
            <a:extLst>
              <a:ext uri="{FF2B5EF4-FFF2-40B4-BE49-F238E27FC236}">
                <a16:creationId xmlns:a16="http://schemas.microsoft.com/office/drawing/2014/main" id="{FD79FF95-7A14-46D2-90DC-903E0A7D90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6"/>
          <a:stretch/>
        </p:blipFill>
        <p:spPr>
          <a:xfrm>
            <a:off x="3501313" y="175614"/>
            <a:ext cx="5328540" cy="2141035"/>
          </a:xfrm>
          <a:prstGeom prst="rect">
            <a:avLst/>
          </a:prstGeom>
        </p:spPr>
      </p:pic>
      <p:pic>
        <p:nvPicPr>
          <p:cNvPr id="24" name="Imagen 2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80E19B89-B8BA-4D44-9DF4-1ADFFE1E73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09" y="3821790"/>
            <a:ext cx="2844946" cy="1422473"/>
          </a:xfrm>
          <a:prstGeom prst="rect">
            <a:avLst/>
          </a:prstGeom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9715709-F3CE-41B8-9062-B2F056B6DFEB}"/>
              </a:ext>
            </a:extLst>
          </p:cNvPr>
          <p:cNvCxnSpPr>
            <a:cxnSpLocks/>
          </p:cNvCxnSpPr>
          <p:nvPr/>
        </p:nvCxnSpPr>
        <p:spPr>
          <a:xfrm flipH="1">
            <a:off x="3053643" y="4484864"/>
            <a:ext cx="734588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45AAFEA-9F25-4BFE-AA96-42204D1A0386}"/>
                  </a:ext>
                </a:extLst>
              </p:cNvPr>
              <p:cNvSpPr txBox="1"/>
              <p:nvPr/>
            </p:nvSpPr>
            <p:spPr>
              <a:xfrm>
                <a:off x="2560410" y="4583275"/>
                <a:ext cx="1891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2000−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L" b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45AAFEA-9F25-4BFE-AA96-42204D1A0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410" y="4583275"/>
                <a:ext cx="18913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16BA85C-2DBC-4C59-BA20-0F37F5602B96}"/>
                  </a:ext>
                </a:extLst>
              </p:cNvPr>
              <p:cNvSpPr txBox="1"/>
              <p:nvPr/>
            </p:nvSpPr>
            <p:spPr>
              <a:xfrm>
                <a:off x="4349908" y="4296561"/>
                <a:ext cx="7588834" cy="932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C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</m:sub>
                          </m:s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(2000−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)∙30"</m:t>
                          </m:r>
                        </m:num>
                        <m:den>
                          <m:f>
                            <m:fPr>
                              <m:ctrlPr>
                                <a:rPr lang="es-CL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C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(3</m:t>
                                  </m:r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"</m:t>
                                  </m:r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C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s-C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28,9×</m:t>
                          </m:r>
                          <m:sSup>
                            <m:sSup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f>
                            <m:f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𝑝𝑢𝑙𝑔</m:t>
                                  </m:r>
                                </m:e>
                                <m:sup>
                                  <m:r>
                                    <a:rPr lang="es-C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=0,148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s-C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(2000−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16BA85C-2DBC-4C59-BA20-0F37F5602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908" y="4296561"/>
                <a:ext cx="7588834" cy="9327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B9802332-F111-42A2-8B20-61F419D461E3}"/>
                  </a:ext>
                </a:extLst>
              </p:cNvPr>
              <p:cNvSpPr txBox="1"/>
              <p:nvPr/>
            </p:nvSpPr>
            <p:spPr>
              <a:xfrm>
                <a:off x="675911" y="5636416"/>
                <a:ext cx="28254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CL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𝐴𝐶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</a:rPr>
                      <m:t>=0→</m:t>
                    </m:r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CL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CL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CL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𝐵𝑐</m:t>
                        </m:r>
                      </m:sub>
                    </m:sSub>
                  </m:oMath>
                </a14:m>
                <a:r>
                  <a:rPr lang="es-CL"/>
                  <a:t> 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B9802332-F111-42A2-8B20-61F419D46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11" y="5636416"/>
                <a:ext cx="28254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A4E81860-D10B-428B-BFA5-F0449261A2FC}"/>
                  </a:ext>
                </a:extLst>
              </p:cNvPr>
              <p:cNvSpPr txBox="1"/>
              <p:nvPr/>
            </p:nvSpPr>
            <p:spPr>
              <a:xfrm>
                <a:off x="3806328" y="5688326"/>
                <a:ext cx="49539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0,44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s-C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s-CL" i="1">
                          <a:latin typeface="Cambria Math" panose="02040503050406030204" pitchFamily="18" charset="0"/>
                        </a:rPr>
                        <m:t>=0,148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∙(2000−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L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A4E81860-D10B-428B-BFA5-F0449261A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328" y="5688326"/>
                <a:ext cx="4953942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3">
            <a:extLst>
              <a:ext uri="{FF2B5EF4-FFF2-40B4-BE49-F238E27FC236}">
                <a16:creationId xmlns:a16="http://schemas.microsoft.com/office/drawing/2014/main" id="{7A8A6264-3E9B-4FFE-85EB-A88477BF4D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2328" y="6304847"/>
            <a:ext cx="5255985" cy="30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4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1" grpId="0"/>
      <p:bldP spid="26" grpId="0"/>
      <p:bldP spid="28" grpId="0"/>
      <p:bldP spid="30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BD9CA-80D9-4B1E-8427-E470CFE1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AE8C72-EA15-468D-B222-7050F825D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/>
              <a:t>b)</a:t>
            </a:r>
          </a:p>
        </p:txBody>
      </p:sp>
      <p:pic>
        <p:nvPicPr>
          <p:cNvPr id="5" name="Imagen 5" descr="Texto, Carta&#10;&#10;Descripción generada automáticamente">
            <a:extLst>
              <a:ext uri="{FF2B5EF4-FFF2-40B4-BE49-F238E27FC236}">
                <a16:creationId xmlns:a16="http://schemas.microsoft.com/office/drawing/2014/main" id="{D5E1590B-CB4E-4AE9-8F5A-863518A2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355" y="2523198"/>
            <a:ext cx="7113718" cy="121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339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5F0FE65AF9CC4282254F9200F2FB20" ma:contentTypeVersion="10" ma:contentTypeDescription="Crear nuevo documento." ma:contentTypeScope="" ma:versionID="112bc522f886021163d21564e39669d1">
  <xsd:schema xmlns:xsd="http://www.w3.org/2001/XMLSchema" xmlns:xs="http://www.w3.org/2001/XMLSchema" xmlns:p="http://schemas.microsoft.com/office/2006/metadata/properties" xmlns:ns2="1f83bce6-c843-4a86-bc32-cf53c9603f6d" xmlns:ns3="6e6a2bdf-eda8-4091-81b1-8eb89982575a" targetNamespace="http://schemas.microsoft.com/office/2006/metadata/properties" ma:root="true" ma:fieldsID="45d5f459d7e8b5f80f8d3ace5e27ced4" ns2:_="" ns3:_="">
    <xsd:import namespace="1f83bce6-c843-4a86-bc32-cf53c9603f6d"/>
    <xsd:import namespace="6e6a2bdf-eda8-4091-81b1-8eb8998257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83bce6-c843-4a86-bc32-cf53c9603f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a2bdf-eda8-4091-81b1-8eb89982575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3EA2EA-CE23-4AB4-ACE5-105FB8E634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F9F0BD-1E58-4EF5-B815-D49D2AFA5B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39245BD-A081-4EE6-B18E-929BF781A5B8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Panorámica</PresentationFormat>
  <Slides>12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Práctica N°5: Teoría de Elasticidad Lineal Mecánica de Materiales</vt:lpstr>
      <vt:lpstr>Deformaciones</vt:lpstr>
      <vt:lpstr>Presentación de PowerPoint</vt:lpstr>
      <vt:lpstr>Comportamiento de los materiales</vt:lpstr>
      <vt:lpstr>Presentación de PowerPoint</vt:lpstr>
      <vt:lpstr>Módulo de Elasticidad y de Poisson</vt:lpstr>
      <vt:lpstr>Presentación de PowerPoint</vt:lpstr>
      <vt:lpstr>Presentación de PowerPoint</vt:lpstr>
      <vt:lpstr>Presentación de PowerPoint</vt:lpstr>
      <vt:lpstr>Ejercicio 1</vt:lpstr>
      <vt:lpstr>Solución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N°1 Mecánica de Materiales</dc:title>
  <dc:creator>yasmin alejandra maril millan</dc:creator>
  <cp:revision>4</cp:revision>
  <cp:lastPrinted>2020-10-09T03:04:05Z</cp:lastPrinted>
  <dcterms:created xsi:type="dcterms:W3CDTF">2020-09-22T04:39:44Z</dcterms:created>
  <dcterms:modified xsi:type="dcterms:W3CDTF">2021-10-15T03:00:00Z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0x0101000B5F0FE65AF9CC4282254F9200F2FB20</vt:lpwstr>
  </property>
</Properties>
</file>