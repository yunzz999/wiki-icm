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leña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Hoja1!$C$1</c:f>
              <c:strCache>
                <c:ptCount val="1"/>
                <c:pt idx="0">
                  <c:v>precio</c:v>
                </c:pt>
              </c:strCache>
            </c:strRef>
          </c:cat>
          <c:val>
            <c:numRef>
              <c:f>Hoja1!$C$2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0-4232-9D3C-4362726815C2}"/>
            </c:ext>
          </c:extLst>
        </c:ser>
        <c:ser>
          <c:idx val="1"/>
          <c:order val="1"/>
          <c:tx>
            <c:strRef>
              <c:f>Hoja1!$B$3</c:f>
              <c:strCache>
                <c:ptCount val="1"/>
                <c:pt idx="0">
                  <c:v>carbon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Hoja1!$C$1</c:f>
              <c:strCache>
                <c:ptCount val="1"/>
                <c:pt idx="0">
                  <c:v>precio</c:v>
                </c:pt>
              </c:strCache>
            </c:strRef>
          </c:cat>
          <c:val>
            <c:numRef>
              <c:f>Hoja1!$C$3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C0-4232-9D3C-4362726815C2}"/>
            </c:ext>
          </c:extLst>
        </c:ser>
        <c:ser>
          <c:idx val="2"/>
          <c:order val="2"/>
          <c:tx>
            <c:strRef>
              <c:f>Hoja1!$B$4</c:f>
              <c:strCache>
                <c:ptCount val="1"/>
                <c:pt idx="0">
                  <c:v>gas natural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Hoja1!$C$1</c:f>
              <c:strCache>
                <c:ptCount val="1"/>
                <c:pt idx="0">
                  <c:v>precio</c:v>
                </c:pt>
              </c:strCache>
            </c:strRef>
          </c:cat>
          <c:val>
            <c:numRef>
              <c:f>Hoja1!$C$4</c:f>
              <c:numCache>
                <c:formatCode>General</c:formatCode>
                <c:ptCount val="1"/>
                <c:pt idx="0">
                  <c:v>1390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C0-4232-9D3C-4362726815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2818912"/>
        <c:axId val="1662817248"/>
      </c:barChart>
      <c:catAx>
        <c:axId val="1662818912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Tipo</a:t>
                </a:r>
                <a:r>
                  <a:rPr lang="es-CL" baseline="0"/>
                  <a:t> de combustible</a:t>
                </a:r>
                <a:endParaRPr lang="es-CL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crossAx val="1662817248"/>
        <c:crosses val="autoZero"/>
        <c:auto val="1"/>
        <c:lblAlgn val="ctr"/>
        <c:lblOffset val="100"/>
        <c:noMultiLvlLbl val="0"/>
      </c:catAx>
      <c:valAx>
        <c:axId val="166281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Precio por kilogramo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662818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F6802F-729A-433D-BA15-60028C2FF3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011346-4EA1-4031-85C1-863A62E600E0}">
      <dgm:prSet/>
      <dgm:spPr/>
      <dgm:t>
        <a:bodyPr/>
        <a:lstStyle/>
        <a:p>
          <a:r>
            <a:rPr lang="es-CL" baseline="0"/>
            <a:t>Optimización de costos energéticos en destilación de psico utilizando diferentes combustibles.</a:t>
          </a:r>
          <a:endParaRPr lang="en-US"/>
        </a:p>
      </dgm:t>
    </dgm:pt>
    <dgm:pt modelId="{91CD4D83-6CE2-4768-A1D6-014A3F015C54}" type="parTrans" cxnId="{078678D1-CBE5-4A2D-99FB-90F7C127C4C0}">
      <dgm:prSet/>
      <dgm:spPr/>
      <dgm:t>
        <a:bodyPr/>
        <a:lstStyle/>
        <a:p>
          <a:endParaRPr lang="en-US"/>
        </a:p>
      </dgm:t>
    </dgm:pt>
    <dgm:pt modelId="{4F92CED1-3541-4DF9-A054-4921AA7BBD8C}" type="sibTrans" cxnId="{078678D1-CBE5-4A2D-99FB-90F7C127C4C0}">
      <dgm:prSet/>
      <dgm:spPr/>
      <dgm:t>
        <a:bodyPr/>
        <a:lstStyle/>
        <a:p>
          <a:endParaRPr lang="en-US"/>
        </a:p>
      </dgm:t>
    </dgm:pt>
    <dgm:pt modelId="{D5FE14A4-DFC5-4D32-B72C-453181FA0DE4}">
      <dgm:prSet/>
      <dgm:spPr/>
      <dgm:t>
        <a:bodyPr/>
        <a:lstStyle/>
        <a:p>
          <a:r>
            <a:rPr lang="es-CL" baseline="0"/>
            <a:t>Balance de calor para mantener temperatura óptima</a:t>
          </a:r>
          <a:endParaRPr lang="en-US"/>
        </a:p>
      </dgm:t>
    </dgm:pt>
    <dgm:pt modelId="{D59E5E87-269C-4739-A880-D09D8EB99C05}" type="parTrans" cxnId="{A210C640-1DA7-478B-9E0C-C485D045F02E}">
      <dgm:prSet/>
      <dgm:spPr/>
      <dgm:t>
        <a:bodyPr/>
        <a:lstStyle/>
        <a:p>
          <a:endParaRPr lang="en-US"/>
        </a:p>
      </dgm:t>
    </dgm:pt>
    <dgm:pt modelId="{49185178-C6BF-4511-9AA7-48037D882494}" type="sibTrans" cxnId="{A210C640-1DA7-478B-9E0C-C485D045F02E}">
      <dgm:prSet/>
      <dgm:spPr/>
      <dgm:t>
        <a:bodyPr/>
        <a:lstStyle/>
        <a:p>
          <a:endParaRPr lang="en-US"/>
        </a:p>
      </dgm:t>
    </dgm:pt>
    <dgm:pt modelId="{FF3AD93D-48AE-41C9-BA98-A21B9BACC99F}">
      <dgm:prSet/>
      <dgm:spPr/>
      <dgm:t>
        <a:bodyPr/>
        <a:lstStyle/>
        <a:p>
          <a:r>
            <a:rPr lang="es-CL" baseline="0"/>
            <a:t>Gas natural más eficiente, leña más económica </a:t>
          </a:r>
          <a:endParaRPr lang="en-US"/>
        </a:p>
      </dgm:t>
    </dgm:pt>
    <dgm:pt modelId="{FF88956E-ACDD-493E-ACAC-A5A0FC7401C0}" type="parTrans" cxnId="{4D72877F-E71E-4331-92F8-42E5784DC24E}">
      <dgm:prSet/>
      <dgm:spPr/>
      <dgm:t>
        <a:bodyPr/>
        <a:lstStyle/>
        <a:p>
          <a:endParaRPr lang="en-US"/>
        </a:p>
      </dgm:t>
    </dgm:pt>
    <dgm:pt modelId="{440D103B-8C5B-4667-89AB-6F3445B10528}" type="sibTrans" cxnId="{4D72877F-E71E-4331-92F8-42E5784DC24E}">
      <dgm:prSet/>
      <dgm:spPr/>
      <dgm:t>
        <a:bodyPr/>
        <a:lstStyle/>
        <a:p>
          <a:endParaRPr lang="en-US"/>
        </a:p>
      </dgm:t>
    </dgm:pt>
    <dgm:pt modelId="{F28A6935-3B2D-4694-A3FB-1B1061B26481}" type="pres">
      <dgm:prSet presAssocID="{43F6802F-729A-433D-BA15-60028C2FF30D}" presName="root" presStyleCnt="0">
        <dgm:presLayoutVars>
          <dgm:dir/>
          <dgm:resizeHandles val="exact"/>
        </dgm:presLayoutVars>
      </dgm:prSet>
      <dgm:spPr/>
    </dgm:pt>
    <dgm:pt modelId="{AAFCBFB9-89C6-4E09-A060-F7BCFF235CB4}" type="pres">
      <dgm:prSet presAssocID="{A1011346-4EA1-4031-85C1-863A62E600E0}" presName="compNode" presStyleCnt="0"/>
      <dgm:spPr/>
    </dgm:pt>
    <dgm:pt modelId="{E8CBE502-D5F3-4EC6-BACB-1E8418821311}" type="pres">
      <dgm:prSet presAssocID="{A1011346-4EA1-4031-85C1-863A62E600E0}" presName="bgRect" presStyleLbl="bgShp" presStyleIdx="0" presStyleCnt="3"/>
      <dgm:spPr/>
    </dgm:pt>
    <dgm:pt modelId="{0A10E296-E56D-43A9-BC53-37E3B6E16505}" type="pres">
      <dgm:prSet presAssocID="{A1011346-4EA1-4031-85C1-863A62E600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E2030B0-552F-49F7-B55A-96AA25800462}" type="pres">
      <dgm:prSet presAssocID="{A1011346-4EA1-4031-85C1-863A62E600E0}" presName="spaceRect" presStyleCnt="0"/>
      <dgm:spPr/>
    </dgm:pt>
    <dgm:pt modelId="{7C88A789-748B-4949-B3E6-DC9287D88705}" type="pres">
      <dgm:prSet presAssocID="{A1011346-4EA1-4031-85C1-863A62E600E0}" presName="parTx" presStyleLbl="revTx" presStyleIdx="0" presStyleCnt="3">
        <dgm:presLayoutVars>
          <dgm:chMax val="0"/>
          <dgm:chPref val="0"/>
        </dgm:presLayoutVars>
      </dgm:prSet>
      <dgm:spPr/>
    </dgm:pt>
    <dgm:pt modelId="{1E7FF164-9FCC-4D4F-9AC3-D8D8483203BD}" type="pres">
      <dgm:prSet presAssocID="{4F92CED1-3541-4DF9-A054-4921AA7BBD8C}" presName="sibTrans" presStyleCnt="0"/>
      <dgm:spPr/>
    </dgm:pt>
    <dgm:pt modelId="{C8724F7D-AB72-4E04-84E2-AEE348F7942F}" type="pres">
      <dgm:prSet presAssocID="{D5FE14A4-DFC5-4D32-B72C-453181FA0DE4}" presName="compNode" presStyleCnt="0"/>
      <dgm:spPr/>
    </dgm:pt>
    <dgm:pt modelId="{B531B8B8-B227-46C1-8EF0-0B8D4966D9C7}" type="pres">
      <dgm:prSet presAssocID="{D5FE14A4-DFC5-4D32-B72C-453181FA0DE4}" presName="bgRect" presStyleLbl="bgShp" presStyleIdx="1" presStyleCnt="3"/>
      <dgm:spPr/>
    </dgm:pt>
    <dgm:pt modelId="{EAB26B5A-3B82-4EC1-8968-651B161AA428}" type="pres">
      <dgm:prSet presAssocID="{D5FE14A4-DFC5-4D32-B72C-453181FA0D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rmómetro"/>
        </a:ext>
      </dgm:extLst>
    </dgm:pt>
    <dgm:pt modelId="{DB3E1608-2118-472B-AE2D-11B3D03DD39D}" type="pres">
      <dgm:prSet presAssocID="{D5FE14A4-DFC5-4D32-B72C-453181FA0DE4}" presName="spaceRect" presStyleCnt="0"/>
      <dgm:spPr/>
    </dgm:pt>
    <dgm:pt modelId="{4ADB216C-44EF-45D8-AC2F-289972DA1622}" type="pres">
      <dgm:prSet presAssocID="{D5FE14A4-DFC5-4D32-B72C-453181FA0DE4}" presName="parTx" presStyleLbl="revTx" presStyleIdx="1" presStyleCnt="3">
        <dgm:presLayoutVars>
          <dgm:chMax val="0"/>
          <dgm:chPref val="0"/>
        </dgm:presLayoutVars>
      </dgm:prSet>
      <dgm:spPr/>
    </dgm:pt>
    <dgm:pt modelId="{748F9CC2-099F-4C9A-AFE6-125AEA531D04}" type="pres">
      <dgm:prSet presAssocID="{49185178-C6BF-4511-9AA7-48037D882494}" presName="sibTrans" presStyleCnt="0"/>
      <dgm:spPr/>
    </dgm:pt>
    <dgm:pt modelId="{2B655039-1340-4896-8B14-66415B5FE376}" type="pres">
      <dgm:prSet presAssocID="{FF3AD93D-48AE-41C9-BA98-A21B9BACC99F}" presName="compNode" presStyleCnt="0"/>
      <dgm:spPr/>
    </dgm:pt>
    <dgm:pt modelId="{E58BA453-2EE1-47FE-833E-1132F3326F87}" type="pres">
      <dgm:prSet presAssocID="{FF3AD93D-48AE-41C9-BA98-A21B9BACC99F}" presName="bgRect" presStyleLbl="bgShp" presStyleIdx="2" presStyleCnt="3"/>
      <dgm:spPr/>
    </dgm:pt>
    <dgm:pt modelId="{9C8D63E5-C409-4638-9B0E-854E7E1DF9ED}" type="pres">
      <dgm:prSet presAssocID="{FF3AD93D-48AE-41C9-BA98-A21B9BACC9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9D958395-AB69-4F26-B159-902461BF4048}" type="pres">
      <dgm:prSet presAssocID="{FF3AD93D-48AE-41C9-BA98-A21B9BACC99F}" presName="spaceRect" presStyleCnt="0"/>
      <dgm:spPr/>
    </dgm:pt>
    <dgm:pt modelId="{1AA99274-C56A-4494-8C57-36A3742CE89B}" type="pres">
      <dgm:prSet presAssocID="{FF3AD93D-48AE-41C9-BA98-A21B9BACC99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10C640-1DA7-478B-9E0C-C485D045F02E}" srcId="{43F6802F-729A-433D-BA15-60028C2FF30D}" destId="{D5FE14A4-DFC5-4D32-B72C-453181FA0DE4}" srcOrd="1" destOrd="0" parTransId="{D59E5E87-269C-4739-A880-D09D8EB99C05}" sibTransId="{49185178-C6BF-4511-9AA7-48037D882494}"/>
    <dgm:cxn modelId="{42E9385B-FEFE-4B40-9A4C-04E2559E54BC}" type="presOf" srcId="{D5FE14A4-DFC5-4D32-B72C-453181FA0DE4}" destId="{4ADB216C-44EF-45D8-AC2F-289972DA1622}" srcOrd="0" destOrd="0" presId="urn:microsoft.com/office/officeart/2018/2/layout/IconVerticalSolidList"/>
    <dgm:cxn modelId="{4D72877F-E71E-4331-92F8-42E5784DC24E}" srcId="{43F6802F-729A-433D-BA15-60028C2FF30D}" destId="{FF3AD93D-48AE-41C9-BA98-A21B9BACC99F}" srcOrd="2" destOrd="0" parTransId="{FF88956E-ACDD-493E-ACAC-A5A0FC7401C0}" sibTransId="{440D103B-8C5B-4667-89AB-6F3445B10528}"/>
    <dgm:cxn modelId="{2F5D9D8C-AA2C-46A8-9E9E-E8122C31E094}" type="presOf" srcId="{FF3AD93D-48AE-41C9-BA98-A21B9BACC99F}" destId="{1AA99274-C56A-4494-8C57-36A3742CE89B}" srcOrd="0" destOrd="0" presId="urn:microsoft.com/office/officeart/2018/2/layout/IconVerticalSolidList"/>
    <dgm:cxn modelId="{333F21B5-4994-49BE-B0FC-AA9A30FD0460}" type="presOf" srcId="{43F6802F-729A-433D-BA15-60028C2FF30D}" destId="{F28A6935-3B2D-4694-A3FB-1B1061B26481}" srcOrd="0" destOrd="0" presId="urn:microsoft.com/office/officeart/2018/2/layout/IconVerticalSolidList"/>
    <dgm:cxn modelId="{9C7A20CA-1CA4-4BAB-8A1A-46CD7301907C}" type="presOf" srcId="{A1011346-4EA1-4031-85C1-863A62E600E0}" destId="{7C88A789-748B-4949-B3E6-DC9287D88705}" srcOrd="0" destOrd="0" presId="urn:microsoft.com/office/officeart/2018/2/layout/IconVerticalSolidList"/>
    <dgm:cxn modelId="{078678D1-CBE5-4A2D-99FB-90F7C127C4C0}" srcId="{43F6802F-729A-433D-BA15-60028C2FF30D}" destId="{A1011346-4EA1-4031-85C1-863A62E600E0}" srcOrd="0" destOrd="0" parTransId="{91CD4D83-6CE2-4768-A1D6-014A3F015C54}" sibTransId="{4F92CED1-3541-4DF9-A054-4921AA7BBD8C}"/>
    <dgm:cxn modelId="{87113C27-F6B5-42B6-A6E6-CC9A20DDC030}" type="presParOf" srcId="{F28A6935-3B2D-4694-A3FB-1B1061B26481}" destId="{AAFCBFB9-89C6-4E09-A060-F7BCFF235CB4}" srcOrd="0" destOrd="0" presId="urn:microsoft.com/office/officeart/2018/2/layout/IconVerticalSolidList"/>
    <dgm:cxn modelId="{5D46C2FE-556F-4E05-B1E3-2E94E820412A}" type="presParOf" srcId="{AAFCBFB9-89C6-4E09-A060-F7BCFF235CB4}" destId="{E8CBE502-D5F3-4EC6-BACB-1E8418821311}" srcOrd="0" destOrd="0" presId="urn:microsoft.com/office/officeart/2018/2/layout/IconVerticalSolidList"/>
    <dgm:cxn modelId="{1F3E4B19-4157-48DE-BA80-EF3FCB8A1FE7}" type="presParOf" srcId="{AAFCBFB9-89C6-4E09-A060-F7BCFF235CB4}" destId="{0A10E296-E56D-43A9-BC53-37E3B6E16505}" srcOrd="1" destOrd="0" presId="urn:microsoft.com/office/officeart/2018/2/layout/IconVerticalSolidList"/>
    <dgm:cxn modelId="{C2C79110-96AA-4EAC-B337-875D4759961F}" type="presParOf" srcId="{AAFCBFB9-89C6-4E09-A060-F7BCFF235CB4}" destId="{0E2030B0-552F-49F7-B55A-96AA25800462}" srcOrd="2" destOrd="0" presId="urn:microsoft.com/office/officeart/2018/2/layout/IconVerticalSolidList"/>
    <dgm:cxn modelId="{FBB1CB99-53BA-4BA9-B208-4CD94C17BFF3}" type="presParOf" srcId="{AAFCBFB9-89C6-4E09-A060-F7BCFF235CB4}" destId="{7C88A789-748B-4949-B3E6-DC9287D88705}" srcOrd="3" destOrd="0" presId="urn:microsoft.com/office/officeart/2018/2/layout/IconVerticalSolidList"/>
    <dgm:cxn modelId="{E1D0194C-D48E-4244-9337-F0CC3D5711A1}" type="presParOf" srcId="{F28A6935-3B2D-4694-A3FB-1B1061B26481}" destId="{1E7FF164-9FCC-4D4F-9AC3-D8D8483203BD}" srcOrd="1" destOrd="0" presId="urn:microsoft.com/office/officeart/2018/2/layout/IconVerticalSolidList"/>
    <dgm:cxn modelId="{9690E598-6ED3-4021-B4F9-F1BF4C368725}" type="presParOf" srcId="{F28A6935-3B2D-4694-A3FB-1B1061B26481}" destId="{C8724F7D-AB72-4E04-84E2-AEE348F7942F}" srcOrd="2" destOrd="0" presId="urn:microsoft.com/office/officeart/2018/2/layout/IconVerticalSolidList"/>
    <dgm:cxn modelId="{5F4079A5-2F14-4AB3-A38A-7FCE1D6B2264}" type="presParOf" srcId="{C8724F7D-AB72-4E04-84E2-AEE348F7942F}" destId="{B531B8B8-B227-46C1-8EF0-0B8D4966D9C7}" srcOrd="0" destOrd="0" presId="urn:microsoft.com/office/officeart/2018/2/layout/IconVerticalSolidList"/>
    <dgm:cxn modelId="{A76995AF-D352-4C3F-98AB-0471A131F908}" type="presParOf" srcId="{C8724F7D-AB72-4E04-84E2-AEE348F7942F}" destId="{EAB26B5A-3B82-4EC1-8968-651B161AA428}" srcOrd="1" destOrd="0" presId="urn:microsoft.com/office/officeart/2018/2/layout/IconVerticalSolidList"/>
    <dgm:cxn modelId="{F7DDAB6D-A39F-4294-858C-1BCE0AA31FC6}" type="presParOf" srcId="{C8724F7D-AB72-4E04-84E2-AEE348F7942F}" destId="{DB3E1608-2118-472B-AE2D-11B3D03DD39D}" srcOrd="2" destOrd="0" presId="urn:microsoft.com/office/officeart/2018/2/layout/IconVerticalSolidList"/>
    <dgm:cxn modelId="{8902A177-076C-4BEB-B568-BD13E8E9556C}" type="presParOf" srcId="{C8724F7D-AB72-4E04-84E2-AEE348F7942F}" destId="{4ADB216C-44EF-45D8-AC2F-289972DA1622}" srcOrd="3" destOrd="0" presId="urn:microsoft.com/office/officeart/2018/2/layout/IconVerticalSolidList"/>
    <dgm:cxn modelId="{E855E82B-37E2-462D-80B1-85C34388FCB6}" type="presParOf" srcId="{F28A6935-3B2D-4694-A3FB-1B1061B26481}" destId="{748F9CC2-099F-4C9A-AFE6-125AEA531D04}" srcOrd="3" destOrd="0" presId="urn:microsoft.com/office/officeart/2018/2/layout/IconVerticalSolidList"/>
    <dgm:cxn modelId="{C19E7BB5-6956-41A1-B421-2E491F78FE2C}" type="presParOf" srcId="{F28A6935-3B2D-4694-A3FB-1B1061B26481}" destId="{2B655039-1340-4896-8B14-66415B5FE376}" srcOrd="4" destOrd="0" presId="urn:microsoft.com/office/officeart/2018/2/layout/IconVerticalSolidList"/>
    <dgm:cxn modelId="{8B23E5A7-71B3-429D-93DA-6794C9AE4EA3}" type="presParOf" srcId="{2B655039-1340-4896-8B14-66415B5FE376}" destId="{E58BA453-2EE1-47FE-833E-1132F3326F87}" srcOrd="0" destOrd="0" presId="urn:microsoft.com/office/officeart/2018/2/layout/IconVerticalSolidList"/>
    <dgm:cxn modelId="{33C29AF9-E550-4197-B9FC-9DF62D1CEEDC}" type="presParOf" srcId="{2B655039-1340-4896-8B14-66415B5FE376}" destId="{9C8D63E5-C409-4638-9B0E-854E7E1DF9ED}" srcOrd="1" destOrd="0" presId="urn:microsoft.com/office/officeart/2018/2/layout/IconVerticalSolidList"/>
    <dgm:cxn modelId="{29C58B68-6C75-4C72-A234-F7E25CE38D74}" type="presParOf" srcId="{2B655039-1340-4896-8B14-66415B5FE376}" destId="{9D958395-AB69-4F26-B159-902461BF4048}" srcOrd="2" destOrd="0" presId="urn:microsoft.com/office/officeart/2018/2/layout/IconVerticalSolidList"/>
    <dgm:cxn modelId="{2C0F228B-63AA-4126-8D83-00FC9A3E7C08}" type="presParOf" srcId="{2B655039-1340-4896-8B14-66415B5FE376}" destId="{1AA99274-C56A-4494-8C57-36A3742CE8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9D3CA2-E40A-48D9-A3C4-00F4FF190AE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21B9F8-9E76-40D8-9CD2-AC095F4E601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L" baseline="0"/>
            <a:t>Gas natural: mayor eficiencia </a:t>
          </a:r>
          <a:endParaRPr lang="en-US"/>
        </a:p>
      </dgm:t>
    </dgm:pt>
    <dgm:pt modelId="{8191D40D-D0C6-4B49-82BD-B40EBD725939}" type="parTrans" cxnId="{FDBF80BF-DBC4-4A08-9715-B045D4928A14}">
      <dgm:prSet/>
      <dgm:spPr/>
      <dgm:t>
        <a:bodyPr/>
        <a:lstStyle/>
        <a:p>
          <a:endParaRPr lang="en-US"/>
        </a:p>
      </dgm:t>
    </dgm:pt>
    <dgm:pt modelId="{F751B610-39EA-4406-A30F-37FF630D86BB}" type="sibTrans" cxnId="{FDBF80BF-DBC4-4A08-9715-B045D4928A14}">
      <dgm:prSet/>
      <dgm:spPr/>
      <dgm:t>
        <a:bodyPr/>
        <a:lstStyle/>
        <a:p>
          <a:endParaRPr lang="en-US"/>
        </a:p>
      </dgm:t>
    </dgm:pt>
    <dgm:pt modelId="{B5D5A2CA-DC82-4B7C-8B5B-7310361F5C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L" baseline="0"/>
            <a:t>Leña: más económica pero menos eficiente</a:t>
          </a:r>
          <a:endParaRPr lang="en-US"/>
        </a:p>
      </dgm:t>
    </dgm:pt>
    <dgm:pt modelId="{CFA9A6CC-C0BB-494D-84F0-5C09F3ED4CFE}" type="parTrans" cxnId="{9D3C77E4-1D32-4458-8901-C9B23814C098}">
      <dgm:prSet/>
      <dgm:spPr/>
      <dgm:t>
        <a:bodyPr/>
        <a:lstStyle/>
        <a:p>
          <a:endParaRPr lang="en-US"/>
        </a:p>
      </dgm:t>
    </dgm:pt>
    <dgm:pt modelId="{FE2DD46B-C678-4318-8B47-4EB3990A7242}" type="sibTrans" cxnId="{9D3C77E4-1D32-4458-8901-C9B23814C098}">
      <dgm:prSet/>
      <dgm:spPr/>
      <dgm:t>
        <a:bodyPr/>
        <a:lstStyle/>
        <a:p>
          <a:endParaRPr lang="en-US"/>
        </a:p>
      </dgm:t>
    </dgm:pt>
    <dgm:pt modelId="{9E3EA916-867B-4121-883E-7EA0076926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L" baseline="0"/>
            <a:t>Cobre: material ideal para alambique </a:t>
          </a:r>
          <a:endParaRPr lang="en-US"/>
        </a:p>
      </dgm:t>
    </dgm:pt>
    <dgm:pt modelId="{989EF64F-AA6D-43D0-9C13-0493A58E5147}" type="parTrans" cxnId="{8D6C4B0C-BC48-415A-B250-97A3D1B8A0A7}">
      <dgm:prSet/>
      <dgm:spPr/>
      <dgm:t>
        <a:bodyPr/>
        <a:lstStyle/>
        <a:p>
          <a:endParaRPr lang="en-US"/>
        </a:p>
      </dgm:t>
    </dgm:pt>
    <dgm:pt modelId="{0C5BC5D6-4A61-4CEF-91EE-D15DD80903D7}" type="sibTrans" cxnId="{8D6C4B0C-BC48-415A-B250-97A3D1B8A0A7}">
      <dgm:prSet/>
      <dgm:spPr/>
      <dgm:t>
        <a:bodyPr/>
        <a:lstStyle/>
        <a:p>
          <a:endParaRPr lang="en-US"/>
        </a:p>
      </dgm:t>
    </dgm:pt>
    <dgm:pt modelId="{B7AD4B64-C753-47CE-9250-E0208B148BB8}" type="pres">
      <dgm:prSet presAssocID="{559D3CA2-E40A-48D9-A3C4-00F4FF190AED}" presName="root" presStyleCnt="0">
        <dgm:presLayoutVars>
          <dgm:dir/>
          <dgm:resizeHandles val="exact"/>
        </dgm:presLayoutVars>
      </dgm:prSet>
      <dgm:spPr/>
    </dgm:pt>
    <dgm:pt modelId="{6178CAF6-DB05-4FBA-A448-9559E96F4297}" type="pres">
      <dgm:prSet presAssocID="{1421B9F8-9E76-40D8-9CD2-AC095F4E601C}" presName="compNode" presStyleCnt="0"/>
      <dgm:spPr/>
    </dgm:pt>
    <dgm:pt modelId="{FC1AB033-29C1-418D-B9EB-C52A9F591AE4}" type="pres">
      <dgm:prSet presAssocID="{1421B9F8-9E76-40D8-9CD2-AC095F4E601C}" presName="iconBgRect" presStyleLbl="bgShp" presStyleIdx="0" presStyleCnt="3"/>
      <dgm:spPr/>
    </dgm:pt>
    <dgm:pt modelId="{F1F0FE2A-0DFE-49DF-88B2-D9CD815B3293}" type="pres">
      <dgm:prSet presAssocID="{1421B9F8-9E76-40D8-9CD2-AC095F4E60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4B45FAE0-B66B-4D68-9C75-461252C10409}" type="pres">
      <dgm:prSet presAssocID="{1421B9F8-9E76-40D8-9CD2-AC095F4E601C}" presName="spaceRect" presStyleCnt="0"/>
      <dgm:spPr/>
    </dgm:pt>
    <dgm:pt modelId="{83CEFB75-AA32-4F33-BA59-1359B00FC8BB}" type="pres">
      <dgm:prSet presAssocID="{1421B9F8-9E76-40D8-9CD2-AC095F4E601C}" presName="textRect" presStyleLbl="revTx" presStyleIdx="0" presStyleCnt="3">
        <dgm:presLayoutVars>
          <dgm:chMax val="1"/>
          <dgm:chPref val="1"/>
        </dgm:presLayoutVars>
      </dgm:prSet>
      <dgm:spPr/>
    </dgm:pt>
    <dgm:pt modelId="{2287422B-FD24-49B0-8F2A-AEA1F577A4E4}" type="pres">
      <dgm:prSet presAssocID="{F751B610-39EA-4406-A30F-37FF630D86BB}" presName="sibTrans" presStyleCnt="0"/>
      <dgm:spPr/>
    </dgm:pt>
    <dgm:pt modelId="{E3928201-DF17-4C9E-BCBE-5A73CFA85FF5}" type="pres">
      <dgm:prSet presAssocID="{B5D5A2CA-DC82-4B7C-8B5B-7310361F5C17}" presName="compNode" presStyleCnt="0"/>
      <dgm:spPr/>
    </dgm:pt>
    <dgm:pt modelId="{0C07901A-5056-443D-ABF8-BA69AEDE0EDD}" type="pres">
      <dgm:prSet presAssocID="{B5D5A2CA-DC82-4B7C-8B5B-7310361F5C17}" presName="iconBgRect" presStyleLbl="bgShp" presStyleIdx="1" presStyleCnt="3"/>
      <dgm:spPr/>
    </dgm:pt>
    <dgm:pt modelId="{8506EC26-A9A6-4948-9D04-74887194CAC5}" type="pres">
      <dgm:prSet presAssocID="{B5D5A2CA-DC82-4B7C-8B5B-7310361F5C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guera"/>
        </a:ext>
      </dgm:extLst>
    </dgm:pt>
    <dgm:pt modelId="{48DED8DF-6257-49E3-8E38-D3075B71C392}" type="pres">
      <dgm:prSet presAssocID="{B5D5A2CA-DC82-4B7C-8B5B-7310361F5C17}" presName="spaceRect" presStyleCnt="0"/>
      <dgm:spPr/>
    </dgm:pt>
    <dgm:pt modelId="{0A77CD54-BF12-4402-A0DF-04BCF7C2839F}" type="pres">
      <dgm:prSet presAssocID="{B5D5A2CA-DC82-4B7C-8B5B-7310361F5C17}" presName="textRect" presStyleLbl="revTx" presStyleIdx="1" presStyleCnt="3">
        <dgm:presLayoutVars>
          <dgm:chMax val="1"/>
          <dgm:chPref val="1"/>
        </dgm:presLayoutVars>
      </dgm:prSet>
      <dgm:spPr/>
    </dgm:pt>
    <dgm:pt modelId="{3D5C905C-2CC7-450F-9AB1-BCA006020DAC}" type="pres">
      <dgm:prSet presAssocID="{FE2DD46B-C678-4318-8B47-4EB3990A7242}" presName="sibTrans" presStyleCnt="0"/>
      <dgm:spPr/>
    </dgm:pt>
    <dgm:pt modelId="{383765BC-A43D-44E6-BA7A-B3CBFF77120F}" type="pres">
      <dgm:prSet presAssocID="{9E3EA916-867B-4121-883E-7EA007692655}" presName="compNode" presStyleCnt="0"/>
      <dgm:spPr/>
    </dgm:pt>
    <dgm:pt modelId="{A1C1FABF-8890-42EC-A421-AEEDB4C691AD}" type="pres">
      <dgm:prSet presAssocID="{9E3EA916-867B-4121-883E-7EA007692655}" presName="iconBgRect" presStyleLbl="bgShp" presStyleIdx="2" presStyleCnt="3"/>
      <dgm:spPr/>
    </dgm:pt>
    <dgm:pt modelId="{44724978-454F-4DE1-A18E-1D9DDCD16A1A}" type="pres">
      <dgm:prSet presAssocID="{9E3EA916-867B-4121-883E-7EA0076926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9C95A76E-F40A-4400-905F-12D55B696D79}" type="pres">
      <dgm:prSet presAssocID="{9E3EA916-867B-4121-883E-7EA007692655}" presName="spaceRect" presStyleCnt="0"/>
      <dgm:spPr/>
    </dgm:pt>
    <dgm:pt modelId="{1FC0C3FC-A870-4A4B-B095-9B8B7745E2E2}" type="pres">
      <dgm:prSet presAssocID="{9E3EA916-867B-4121-883E-7EA00769265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ED7003-5110-40EF-92C6-B144D61652E8}" type="presOf" srcId="{B5D5A2CA-DC82-4B7C-8B5B-7310361F5C17}" destId="{0A77CD54-BF12-4402-A0DF-04BCF7C2839F}" srcOrd="0" destOrd="0" presId="urn:microsoft.com/office/officeart/2018/5/layout/IconCircleLabelList"/>
    <dgm:cxn modelId="{8D6C4B0C-BC48-415A-B250-97A3D1B8A0A7}" srcId="{559D3CA2-E40A-48D9-A3C4-00F4FF190AED}" destId="{9E3EA916-867B-4121-883E-7EA007692655}" srcOrd="2" destOrd="0" parTransId="{989EF64F-AA6D-43D0-9C13-0493A58E5147}" sibTransId="{0C5BC5D6-4A61-4CEF-91EE-D15DD80903D7}"/>
    <dgm:cxn modelId="{2D99C20C-7CCA-4D82-904B-B237CFC658E8}" type="presOf" srcId="{9E3EA916-867B-4121-883E-7EA007692655}" destId="{1FC0C3FC-A870-4A4B-B095-9B8B7745E2E2}" srcOrd="0" destOrd="0" presId="urn:microsoft.com/office/officeart/2018/5/layout/IconCircleLabelList"/>
    <dgm:cxn modelId="{81779938-AFE9-419E-85D7-7E6D8B158F15}" type="presOf" srcId="{1421B9F8-9E76-40D8-9CD2-AC095F4E601C}" destId="{83CEFB75-AA32-4F33-BA59-1359B00FC8BB}" srcOrd="0" destOrd="0" presId="urn:microsoft.com/office/officeart/2018/5/layout/IconCircleLabelList"/>
    <dgm:cxn modelId="{D7386453-1173-4DB0-95BE-4D58FB74AF4D}" type="presOf" srcId="{559D3CA2-E40A-48D9-A3C4-00F4FF190AED}" destId="{B7AD4B64-C753-47CE-9250-E0208B148BB8}" srcOrd="0" destOrd="0" presId="urn:microsoft.com/office/officeart/2018/5/layout/IconCircleLabelList"/>
    <dgm:cxn modelId="{FDBF80BF-DBC4-4A08-9715-B045D4928A14}" srcId="{559D3CA2-E40A-48D9-A3C4-00F4FF190AED}" destId="{1421B9F8-9E76-40D8-9CD2-AC095F4E601C}" srcOrd="0" destOrd="0" parTransId="{8191D40D-D0C6-4B49-82BD-B40EBD725939}" sibTransId="{F751B610-39EA-4406-A30F-37FF630D86BB}"/>
    <dgm:cxn modelId="{9D3C77E4-1D32-4458-8901-C9B23814C098}" srcId="{559D3CA2-E40A-48D9-A3C4-00F4FF190AED}" destId="{B5D5A2CA-DC82-4B7C-8B5B-7310361F5C17}" srcOrd="1" destOrd="0" parTransId="{CFA9A6CC-C0BB-494D-84F0-5C09F3ED4CFE}" sibTransId="{FE2DD46B-C678-4318-8B47-4EB3990A7242}"/>
    <dgm:cxn modelId="{C47699D8-C706-4417-930C-5CA61F461789}" type="presParOf" srcId="{B7AD4B64-C753-47CE-9250-E0208B148BB8}" destId="{6178CAF6-DB05-4FBA-A448-9559E96F4297}" srcOrd="0" destOrd="0" presId="urn:microsoft.com/office/officeart/2018/5/layout/IconCircleLabelList"/>
    <dgm:cxn modelId="{ED7E55C8-3010-4A2C-91A0-7BD54BAEF90A}" type="presParOf" srcId="{6178CAF6-DB05-4FBA-A448-9559E96F4297}" destId="{FC1AB033-29C1-418D-B9EB-C52A9F591AE4}" srcOrd="0" destOrd="0" presId="urn:microsoft.com/office/officeart/2018/5/layout/IconCircleLabelList"/>
    <dgm:cxn modelId="{8A8C7043-D83E-4B93-BEB7-AAFDACA4F787}" type="presParOf" srcId="{6178CAF6-DB05-4FBA-A448-9559E96F4297}" destId="{F1F0FE2A-0DFE-49DF-88B2-D9CD815B3293}" srcOrd="1" destOrd="0" presId="urn:microsoft.com/office/officeart/2018/5/layout/IconCircleLabelList"/>
    <dgm:cxn modelId="{5A0C16DE-9E7C-4250-B960-976748EC41A4}" type="presParOf" srcId="{6178CAF6-DB05-4FBA-A448-9559E96F4297}" destId="{4B45FAE0-B66B-4D68-9C75-461252C10409}" srcOrd="2" destOrd="0" presId="urn:microsoft.com/office/officeart/2018/5/layout/IconCircleLabelList"/>
    <dgm:cxn modelId="{28FB0D8F-C7CB-4F9C-B0EA-95F5B128220D}" type="presParOf" srcId="{6178CAF6-DB05-4FBA-A448-9559E96F4297}" destId="{83CEFB75-AA32-4F33-BA59-1359B00FC8BB}" srcOrd="3" destOrd="0" presId="urn:microsoft.com/office/officeart/2018/5/layout/IconCircleLabelList"/>
    <dgm:cxn modelId="{22ECCDC4-D44E-4747-ACF7-0F271BCF1971}" type="presParOf" srcId="{B7AD4B64-C753-47CE-9250-E0208B148BB8}" destId="{2287422B-FD24-49B0-8F2A-AEA1F577A4E4}" srcOrd="1" destOrd="0" presId="urn:microsoft.com/office/officeart/2018/5/layout/IconCircleLabelList"/>
    <dgm:cxn modelId="{4A189CEE-39B7-403A-A7F1-B81C0CD8C4ED}" type="presParOf" srcId="{B7AD4B64-C753-47CE-9250-E0208B148BB8}" destId="{E3928201-DF17-4C9E-BCBE-5A73CFA85FF5}" srcOrd="2" destOrd="0" presId="urn:microsoft.com/office/officeart/2018/5/layout/IconCircleLabelList"/>
    <dgm:cxn modelId="{3C41F24A-E8EE-4C71-8516-F25A09BD8050}" type="presParOf" srcId="{E3928201-DF17-4C9E-BCBE-5A73CFA85FF5}" destId="{0C07901A-5056-443D-ABF8-BA69AEDE0EDD}" srcOrd="0" destOrd="0" presId="urn:microsoft.com/office/officeart/2018/5/layout/IconCircleLabelList"/>
    <dgm:cxn modelId="{372CD3C5-77DC-48F5-8C1A-09931F54CC62}" type="presParOf" srcId="{E3928201-DF17-4C9E-BCBE-5A73CFA85FF5}" destId="{8506EC26-A9A6-4948-9D04-74887194CAC5}" srcOrd="1" destOrd="0" presId="urn:microsoft.com/office/officeart/2018/5/layout/IconCircleLabelList"/>
    <dgm:cxn modelId="{2F7BF6A8-94EB-4F49-900D-A91951B3ECC7}" type="presParOf" srcId="{E3928201-DF17-4C9E-BCBE-5A73CFA85FF5}" destId="{48DED8DF-6257-49E3-8E38-D3075B71C392}" srcOrd="2" destOrd="0" presId="urn:microsoft.com/office/officeart/2018/5/layout/IconCircleLabelList"/>
    <dgm:cxn modelId="{6B33EF40-5FDA-4A8C-81F7-4A8952560ADC}" type="presParOf" srcId="{E3928201-DF17-4C9E-BCBE-5A73CFA85FF5}" destId="{0A77CD54-BF12-4402-A0DF-04BCF7C2839F}" srcOrd="3" destOrd="0" presId="urn:microsoft.com/office/officeart/2018/5/layout/IconCircleLabelList"/>
    <dgm:cxn modelId="{733389EC-15C4-416E-846F-C4DE8FD09F30}" type="presParOf" srcId="{B7AD4B64-C753-47CE-9250-E0208B148BB8}" destId="{3D5C905C-2CC7-450F-9AB1-BCA006020DAC}" srcOrd="3" destOrd="0" presId="urn:microsoft.com/office/officeart/2018/5/layout/IconCircleLabelList"/>
    <dgm:cxn modelId="{E9992087-9793-4272-AEF5-5DC0C3EC8F7B}" type="presParOf" srcId="{B7AD4B64-C753-47CE-9250-E0208B148BB8}" destId="{383765BC-A43D-44E6-BA7A-B3CBFF77120F}" srcOrd="4" destOrd="0" presId="urn:microsoft.com/office/officeart/2018/5/layout/IconCircleLabelList"/>
    <dgm:cxn modelId="{F8A96E5F-FEF2-4F99-A7BD-921F8CBB6EB6}" type="presParOf" srcId="{383765BC-A43D-44E6-BA7A-B3CBFF77120F}" destId="{A1C1FABF-8890-42EC-A421-AEEDB4C691AD}" srcOrd="0" destOrd="0" presId="urn:microsoft.com/office/officeart/2018/5/layout/IconCircleLabelList"/>
    <dgm:cxn modelId="{486F5EF0-5885-4DD1-8B9B-53C68A72923B}" type="presParOf" srcId="{383765BC-A43D-44E6-BA7A-B3CBFF77120F}" destId="{44724978-454F-4DE1-A18E-1D9DDCD16A1A}" srcOrd="1" destOrd="0" presId="urn:microsoft.com/office/officeart/2018/5/layout/IconCircleLabelList"/>
    <dgm:cxn modelId="{654545C7-432F-4956-ABE3-3F65B5692B08}" type="presParOf" srcId="{383765BC-A43D-44E6-BA7A-B3CBFF77120F}" destId="{9C95A76E-F40A-4400-905F-12D55B696D79}" srcOrd="2" destOrd="0" presId="urn:microsoft.com/office/officeart/2018/5/layout/IconCircleLabelList"/>
    <dgm:cxn modelId="{3679EB81-CDB8-47C7-83B2-64D7898FFD99}" type="presParOf" srcId="{383765BC-A43D-44E6-BA7A-B3CBFF77120F}" destId="{1FC0C3FC-A870-4A4B-B095-9B8B7745E2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BE502-D5F3-4EC6-BACB-1E8418821311}">
      <dsp:nvSpPr>
        <dsp:cNvPr id="0" name=""/>
        <dsp:cNvSpPr/>
      </dsp:nvSpPr>
      <dsp:spPr>
        <a:xfrm>
          <a:off x="0" y="562"/>
          <a:ext cx="6683374" cy="13159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0E296-E56D-43A9-BC53-37E3B6E16505}">
      <dsp:nvSpPr>
        <dsp:cNvPr id="0" name=""/>
        <dsp:cNvSpPr/>
      </dsp:nvSpPr>
      <dsp:spPr>
        <a:xfrm>
          <a:off x="398072" y="296649"/>
          <a:ext cx="723768" cy="7237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8A789-748B-4949-B3E6-DC9287D88705}">
      <dsp:nvSpPr>
        <dsp:cNvPr id="0" name=""/>
        <dsp:cNvSpPr/>
      </dsp:nvSpPr>
      <dsp:spPr>
        <a:xfrm>
          <a:off x="1519914" y="562"/>
          <a:ext cx="5163460" cy="1315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71" tIns="139271" rIns="139271" bIns="13927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 baseline="0"/>
            <a:t>Optimización de costos energéticos en destilación de psico utilizando diferentes combustibles.</a:t>
          </a:r>
          <a:endParaRPr lang="en-US" sz="2500" kern="1200"/>
        </a:p>
      </dsp:txBody>
      <dsp:txXfrm>
        <a:off x="1519914" y="562"/>
        <a:ext cx="5163460" cy="1315942"/>
      </dsp:txXfrm>
    </dsp:sp>
    <dsp:sp modelId="{B531B8B8-B227-46C1-8EF0-0B8D4966D9C7}">
      <dsp:nvSpPr>
        <dsp:cNvPr id="0" name=""/>
        <dsp:cNvSpPr/>
      </dsp:nvSpPr>
      <dsp:spPr>
        <a:xfrm>
          <a:off x="0" y="1645491"/>
          <a:ext cx="6683374" cy="13159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26B5A-3B82-4EC1-8968-651B161AA428}">
      <dsp:nvSpPr>
        <dsp:cNvPr id="0" name=""/>
        <dsp:cNvSpPr/>
      </dsp:nvSpPr>
      <dsp:spPr>
        <a:xfrm>
          <a:off x="398072" y="1941578"/>
          <a:ext cx="723768" cy="7237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B216C-44EF-45D8-AC2F-289972DA1622}">
      <dsp:nvSpPr>
        <dsp:cNvPr id="0" name=""/>
        <dsp:cNvSpPr/>
      </dsp:nvSpPr>
      <dsp:spPr>
        <a:xfrm>
          <a:off x="1519914" y="1645491"/>
          <a:ext cx="5163460" cy="1315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71" tIns="139271" rIns="139271" bIns="13927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 baseline="0"/>
            <a:t>Balance de calor para mantener temperatura óptima</a:t>
          </a:r>
          <a:endParaRPr lang="en-US" sz="2500" kern="1200"/>
        </a:p>
      </dsp:txBody>
      <dsp:txXfrm>
        <a:off x="1519914" y="1645491"/>
        <a:ext cx="5163460" cy="1315942"/>
      </dsp:txXfrm>
    </dsp:sp>
    <dsp:sp modelId="{E58BA453-2EE1-47FE-833E-1132F3326F87}">
      <dsp:nvSpPr>
        <dsp:cNvPr id="0" name=""/>
        <dsp:cNvSpPr/>
      </dsp:nvSpPr>
      <dsp:spPr>
        <a:xfrm>
          <a:off x="0" y="3290419"/>
          <a:ext cx="6683374" cy="13159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D63E5-C409-4638-9B0E-854E7E1DF9ED}">
      <dsp:nvSpPr>
        <dsp:cNvPr id="0" name=""/>
        <dsp:cNvSpPr/>
      </dsp:nvSpPr>
      <dsp:spPr>
        <a:xfrm>
          <a:off x="398072" y="3586506"/>
          <a:ext cx="723768" cy="7237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99274-C56A-4494-8C57-36A3742CE89B}">
      <dsp:nvSpPr>
        <dsp:cNvPr id="0" name=""/>
        <dsp:cNvSpPr/>
      </dsp:nvSpPr>
      <dsp:spPr>
        <a:xfrm>
          <a:off x="1519914" y="3290419"/>
          <a:ext cx="5163460" cy="1315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71" tIns="139271" rIns="139271" bIns="13927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 baseline="0"/>
            <a:t>Gas natural más eficiente, leña más económica </a:t>
          </a:r>
          <a:endParaRPr lang="en-US" sz="2500" kern="1200"/>
        </a:p>
      </dsp:txBody>
      <dsp:txXfrm>
        <a:off x="1519914" y="3290419"/>
        <a:ext cx="5163460" cy="1315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AB033-29C1-418D-B9EB-C52A9F591AE4}">
      <dsp:nvSpPr>
        <dsp:cNvPr id="0" name=""/>
        <dsp:cNvSpPr/>
      </dsp:nvSpPr>
      <dsp:spPr>
        <a:xfrm>
          <a:off x="686413" y="137053"/>
          <a:ext cx="1852875" cy="1852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0FE2A-0DFE-49DF-88B2-D9CD815B3293}">
      <dsp:nvSpPr>
        <dsp:cNvPr id="0" name=""/>
        <dsp:cNvSpPr/>
      </dsp:nvSpPr>
      <dsp:spPr>
        <a:xfrm>
          <a:off x="1081288" y="531928"/>
          <a:ext cx="1063125" cy="1063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EFB75-AA32-4F33-BA59-1359B00FC8BB}">
      <dsp:nvSpPr>
        <dsp:cNvPr id="0" name=""/>
        <dsp:cNvSpPr/>
      </dsp:nvSpPr>
      <dsp:spPr>
        <a:xfrm>
          <a:off x="94100" y="2567053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300" kern="1200" baseline="0"/>
            <a:t>Gas natural: mayor eficiencia </a:t>
          </a:r>
          <a:endParaRPr lang="en-US" sz="2300" kern="1200"/>
        </a:p>
      </dsp:txBody>
      <dsp:txXfrm>
        <a:off x="94100" y="2567053"/>
        <a:ext cx="3037500" cy="720000"/>
      </dsp:txXfrm>
    </dsp:sp>
    <dsp:sp modelId="{0C07901A-5056-443D-ABF8-BA69AEDE0EDD}">
      <dsp:nvSpPr>
        <dsp:cNvPr id="0" name=""/>
        <dsp:cNvSpPr/>
      </dsp:nvSpPr>
      <dsp:spPr>
        <a:xfrm>
          <a:off x="4255475" y="137053"/>
          <a:ext cx="1852875" cy="1852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6EC26-A9A6-4948-9D04-74887194CAC5}">
      <dsp:nvSpPr>
        <dsp:cNvPr id="0" name=""/>
        <dsp:cNvSpPr/>
      </dsp:nvSpPr>
      <dsp:spPr>
        <a:xfrm>
          <a:off x="4650350" y="531928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7CD54-BF12-4402-A0DF-04BCF7C2839F}">
      <dsp:nvSpPr>
        <dsp:cNvPr id="0" name=""/>
        <dsp:cNvSpPr/>
      </dsp:nvSpPr>
      <dsp:spPr>
        <a:xfrm>
          <a:off x="3663163" y="2567053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300" kern="1200" baseline="0"/>
            <a:t>Leña: más económica pero menos eficiente</a:t>
          </a:r>
          <a:endParaRPr lang="en-US" sz="2300" kern="1200"/>
        </a:p>
      </dsp:txBody>
      <dsp:txXfrm>
        <a:off x="3663163" y="2567053"/>
        <a:ext cx="3037500" cy="720000"/>
      </dsp:txXfrm>
    </dsp:sp>
    <dsp:sp modelId="{A1C1FABF-8890-42EC-A421-AEEDB4C691AD}">
      <dsp:nvSpPr>
        <dsp:cNvPr id="0" name=""/>
        <dsp:cNvSpPr/>
      </dsp:nvSpPr>
      <dsp:spPr>
        <a:xfrm>
          <a:off x="7824538" y="137053"/>
          <a:ext cx="1852875" cy="1852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24978-454F-4DE1-A18E-1D9DDCD16A1A}">
      <dsp:nvSpPr>
        <dsp:cNvPr id="0" name=""/>
        <dsp:cNvSpPr/>
      </dsp:nvSpPr>
      <dsp:spPr>
        <a:xfrm>
          <a:off x="8219413" y="531928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0C3FC-A870-4A4B-B095-9B8B7745E2E2}">
      <dsp:nvSpPr>
        <dsp:cNvPr id="0" name=""/>
        <dsp:cNvSpPr/>
      </dsp:nvSpPr>
      <dsp:spPr>
        <a:xfrm>
          <a:off x="7232225" y="2567053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2300" kern="1200" baseline="0"/>
            <a:t>Cobre: material ideal para alambique </a:t>
          </a:r>
          <a:endParaRPr lang="en-US" sz="2300" kern="1200"/>
        </a:p>
      </dsp:txBody>
      <dsp:txXfrm>
        <a:off x="7232225" y="2567053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BB74A-1C5F-958E-FDF0-2D52225EF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3437" y="2783175"/>
            <a:ext cx="6605126" cy="1291650"/>
          </a:xfrm>
        </p:spPr>
        <p:txBody>
          <a:bodyPr>
            <a:normAutofit fontScale="90000"/>
          </a:bodyPr>
          <a:lstStyle/>
          <a:p>
            <a:r>
              <a:rPr lang="es-ES_tradnl" sz="4000" b="1" kern="1400" spc="-50" dirty="0">
                <a:effectLst/>
                <a:latin typeface="Amasis MT Pro Black" panose="02040A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Mejora de la eficiencia energética en la destilación de pisco</a:t>
            </a:r>
            <a:br>
              <a:rPr lang="es-C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0492D-1D5A-1DCE-CF53-536A3EC9338A}"/>
              </a:ext>
            </a:extLst>
          </p:cNvPr>
          <p:cNvSpPr txBox="1"/>
          <p:nvPr/>
        </p:nvSpPr>
        <p:spPr>
          <a:xfrm>
            <a:off x="0" y="5231567"/>
            <a:ext cx="34477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Integrantes: Joaquín Bustos</a:t>
            </a:r>
            <a:br>
              <a:rPr lang="es-CL" dirty="0"/>
            </a:br>
            <a:r>
              <a:rPr lang="es-CL" dirty="0"/>
              <a:t>                  Deyanira Carrillo</a:t>
            </a:r>
            <a:br>
              <a:rPr lang="es-CL" dirty="0"/>
            </a:br>
            <a:r>
              <a:rPr lang="es-CL" dirty="0"/>
              <a:t>                  Sebastián San Martín </a:t>
            </a:r>
            <a:br>
              <a:rPr lang="es-CL" dirty="0"/>
            </a:br>
            <a:r>
              <a:rPr lang="es-CL" dirty="0"/>
              <a:t>                  Rocío Tardones</a:t>
            </a:r>
          </a:p>
          <a:p>
            <a:r>
              <a:rPr lang="es-CL" dirty="0"/>
              <a:t>Fecha: 26 de Junio de 2024</a:t>
            </a:r>
          </a:p>
        </p:txBody>
      </p:sp>
    </p:spTree>
    <p:extLst>
      <p:ext uri="{BB962C8B-B14F-4D97-AF65-F5344CB8AC3E}">
        <p14:creationId xmlns:p14="http://schemas.microsoft.com/office/powerpoint/2010/main" val="79773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826EFF-E00E-D9B9-5837-2724787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s-CL" sz="3700">
                <a:latin typeface="Amasis MT Pro Black" panose="02040A04050005020304" pitchFamily="18" charset="0"/>
              </a:rPr>
              <a:t>Resumen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CD14971-6631-BA2E-4115-03F1999C8F4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72713097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1374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D58954F-C5AC-4BE0-811D-8DFE18E35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C359E835-CE77-4DCC-8EC3-1924094D3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6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4" descr="Detalle de vasos de precipitados con soluciones en un estante en un laboratorio">
            <a:extLst>
              <a:ext uri="{FF2B5EF4-FFF2-40B4-BE49-F238E27FC236}">
                <a16:creationId xmlns:a16="http://schemas.microsoft.com/office/drawing/2014/main" id="{3B68C14F-A059-4450-21CF-9094F21B4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4" r="54916" b="-1"/>
          <a:stretch/>
        </p:blipFill>
        <p:spPr>
          <a:xfrm>
            <a:off x="8157374" y="10"/>
            <a:ext cx="4034626" cy="6857990"/>
          </a:xfrm>
          <a:prstGeom prst="rect">
            <a:avLst/>
          </a:prstGeom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B03B59B5-123A-4DC5-87BD-6D3E22FA6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47DB98-4663-4EE2-D3B0-D76F8540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6672886" cy="1596177"/>
          </a:xfrm>
        </p:spPr>
        <p:txBody>
          <a:bodyPr>
            <a:normAutofit/>
          </a:bodyPr>
          <a:lstStyle/>
          <a:p>
            <a:r>
              <a:rPr lang="es-CL">
                <a:latin typeface="Amasis MT Pro Black" panose="02040A04050005020304" pitchFamily="18" charset="0"/>
              </a:rPr>
              <a:t>Introducción </a:t>
            </a:r>
            <a:endParaRPr lang="es-CL" dirty="0">
              <a:latin typeface="Amasis MT Pro Black" panose="02040A040500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EF0E76-8F5C-DFF2-3FA0-28E1E7362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6672887" cy="3424107"/>
          </a:xfrm>
        </p:spPr>
        <p:txBody>
          <a:bodyPr>
            <a:normAutofit/>
          </a:bodyPr>
          <a:lstStyle/>
          <a:p>
            <a:r>
              <a:rPr lang="es-CL"/>
              <a:t>Proceso de destilación y su importancia en la producción de pisco</a:t>
            </a:r>
          </a:p>
          <a:p>
            <a:r>
              <a:rPr lang="es-CL"/>
              <a:t>Necesidad de eficiencia energética y selección de materiales adecuados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7068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E5FDAF3-FC87-602E-5058-9073C315E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8643" y="1016249"/>
            <a:ext cx="6299887" cy="4710553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95E36A-9D84-2CC8-6F15-980035E10F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3740509" cy="3881309"/>
          </a:xfrm>
        </p:spPr>
        <p:txBody>
          <a:bodyPr>
            <a:normAutofit/>
          </a:bodyPr>
          <a:lstStyle/>
          <a:p>
            <a:r>
              <a:rPr lang="es-CL" sz="1800"/>
              <a:t>Optimizar costos energéticos en la destilación </a:t>
            </a:r>
          </a:p>
          <a:p>
            <a:r>
              <a:rPr lang="es-CL" sz="1800"/>
              <a:t>Evaluación de combustibles: leña, carbón mineral y gas natural</a:t>
            </a:r>
          </a:p>
          <a:p>
            <a:r>
              <a:rPr lang="es-CL" sz="1800"/>
              <a:t>Uso de alambique de cobre por su alta conductividad térmica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C68A46-F73F-B762-B592-2833369C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es-CL">
                <a:latin typeface="Amasis MT Pro Black" panose="02040A04050005020304" pitchFamily="18" charset="0"/>
              </a:rPr>
              <a:t>Problema </a:t>
            </a:r>
          </a:p>
        </p:txBody>
      </p:sp>
    </p:spTree>
    <p:extLst>
      <p:ext uri="{BB962C8B-B14F-4D97-AF65-F5344CB8AC3E}">
        <p14:creationId xmlns:p14="http://schemas.microsoft.com/office/powerpoint/2010/main" val="175544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792E0-FBF0-9209-9123-9ED586C15D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80" y="1782823"/>
            <a:ext cx="3740509" cy="3881309"/>
          </a:xfrm>
        </p:spPr>
        <p:txBody>
          <a:bodyPr>
            <a:normAutofit/>
          </a:bodyPr>
          <a:lstStyle/>
          <a:p>
            <a:r>
              <a:rPr lang="es-CL" sz="1800" dirty="0"/>
              <a:t>Requerimiento energético: 16.34 </a:t>
            </a:r>
            <a:r>
              <a:rPr lang="es-CL" sz="1800" dirty="0" err="1"/>
              <a:t>kw</a:t>
            </a:r>
            <a:endParaRPr lang="es-CL" sz="1800" dirty="0"/>
          </a:p>
          <a:p>
            <a:endParaRPr lang="es-CL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9EA9CC-CF8F-D20E-4205-0506BE66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es-CL" dirty="0">
                <a:latin typeface="Amasis MT Pro Black" panose="02040A04050005020304" pitchFamily="18" charset="0"/>
              </a:rPr>
              <a:t>resultados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7BEF9F1-03D5-5BB9-CB16-3F8F77153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744847"/>
              </p:ext>
            </p:extLst>
          </p:nvPr>
        </p:nvGraphicFramePr>
        <p:xfrm>
          <a:off x="5248644" y="1782823"/>
          <a:ext cx="6338754" cy="32089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0171">
                  <a:extLst>
                    <a:ext uri="{9D8B030D-6E8A-4147-A177-3AD203B41FA5}">
                      <a16:colId xmlns:a16="http://schemas.microsoft.com/office/drawing/2014/main" val="3686125631"/>
                    </a:ext>
                  </a:extLst>
                </a:gridCol>
                <a:gridCol w="1427310">
                  <a:extLst>
                    <a:ext uri="{9D8B030D-6E8A-4147-A177-3AD203B41FA5}">
                      <a16:colId xmlns:a16="http://schemas.microsoft.com/office/drawing/2014/main" val="1154751483"/>
                    </a:ext>
                  </a:extLst>
                </a:gridCol>
                <a:gridCol w="2671273">
                  <a:extLst>
                    <a:ext uri="{9D8B030D-6E8A-4147-A177-3AD203B41FA5}">
                      <a16:colId xmlns:a16="http://schemas.microsoft.com/office/drawing/2014/main" val="2589056208"/>
                    </a:ext>
                  </a:extLst>
                </a:gridCol>
              </a:tblGrid>
              <a:tr h="14072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Combustibles</a:t>
                      </a:r>
                      <a:endParaRPr lang="es-CL" sz="20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(25ºC y 1atm)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Potencial calórico</a:t>
                      </a:r>
                      <a:endParaRPr lang="es-CL" sz="20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(kWh/Kg)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Precio aproximado x kilogramo</a:t>
                      </a:r>
                      <a:endParaRPr lang="es-CL" sz="20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(Pesos chilenos)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extLst>
                  <a:ext uri="{0D108BD9-81ED-4DB2-BD59-A6C34878D82A}">
                    <a16:rowId xmlns:a16="http://schemas.microsoft.com/office/drawing/2014/main" val="4051388571"/>
                  </a:ext>
                </a:extLst>
              </a:tr>
              <a:tr h="9222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Leña seca (Roble común) 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4.25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>
                          <a:effectLst/>
                          <a:highlight>
                            <a:srgbClr val="C1E4F5"/>
                          </a:highlight>
                        </a:rPr>
                        <a:t>150</a:t>
                      </a:r>
                      <a:endParaRPr lang="es-CL" sz="20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extLst>
                  <a:ext uri="{0D108BD9-81ED-4DB2-BD59-A6C34878D82A}">
                    <a16:rowId xmlns:a16="http://schemas.microsoft.com/office/drawing/2014/main" val="2615375206"/>
                  </a:ext>
                </a:extLst>
              </a:tr>
              <a:tr h="4397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>
                          <a:effectLst/>
                        </a:rPr>
                        <a:t>Carbón mineral</a:t>
                      </a:r>
                      <a:endParaRPr lang="es-CL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6.74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>
                          <a:effectLst/>
                        </a:rPr>
                        <a:t>2500</a:t>
                      </a:r>
                      <a:endParaRPr lang="es-CL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extLst>
                  <a:ext uri="{0D108BD9-81ED-4DB2-BD59-A6C34878D82A}">
                    <a16:rowId xmlns:a16="http://schemas.microsoft.com/office/drawing/2014/main" val="1141244333"/>
                  </a:ext>
                </a:extLst>
              </a:tr>
              <a:tr h="4397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Gas natural 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</a:rPr>
                        <a:t>14.69</a:t>
                      </a:r>
                      <a:endParaRPr lang="es-CL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_tradnl" sz="2000" dirty="0">
                          <a:effectLst/>
                          <a:highlight>
                            <a:srgbClr val="C1E4F5"/>
                          </a:highlight>
                        </a:rPr>
                        <a:t>1390</a:t>
                      </a:r>
                      <a:endParaRPr lang="es-CL" sz="20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502" marR="111502" marT="0" marB="0"/>
                </a:tc>
                <a:extLst>
                  <a:ext uri="{0D108BD9-81ED-4DB2-BD59-A6C34878D82A}">
                    <a16:rowId xmlns:a16="http://schemas.microsoft.com/office/drawing/2014/main" val="272042437"/>
                  </a:ext>
                </a:extLst>
              </a:tr>
            </a:tbl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7B8D2A50-EFA1-4DF9-8D3C-58C9D7E18E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858816"/>
              </p:ext>
            </p:extLst>
          </p:nvPr>
        </p:nvGraphicFramePr>
        <p:xfrm>
          <a:off x="82288" y="2727706"/>
          <a:ext cx="4894445" cy="2936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0851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3C706-6456-6E55-40BE-B7C13C78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Amasis MT Pro Black" panose="02040A04050005020304" pitchFamily="18" charset="0"/>
              </a:rPr>
              <a:t>Conclusión</a:t>
            </a:r>
            <a:r>
              <a:rPr lang="es-CL" dirty="0"/>
              <a:t>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06822B4-6965-6718-1BA3-A7848E495EE1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913774" y="2367092"/>
          <a:ext cx="10363826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9721382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31</TotalTime>
  <Words>180</Words>
  <Application>Microsoft Office PowerPoint</Application>
  <PresentationFormat>Panorámica</PresentationFormat>
  <Paragraphs>37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Amasis MT Pro Black</vt:lpstr>
      <vt:lpstr>Aptos</vt:lpstr>
      <vt:lpstr>Arial</vt:lpstr>
      <vt:lpstr>Tw Cen MT</vt:lpstr>
      <vt:lpstr>Gota</vt:lpstr>
      <vt:lpstr>Mejora de la eficiencia energética en la destilación de pisco </vt:lpstr>
      <vt:lpstr>Resumen</vt:lpstr>
      <vt:lpstr>Introducción </vt:lpstr>
      <vt:lpstr>Problema </vt:lpstr>
      <vt:lpstr>resultados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rocio.tardones.33@outlook.com</dc:creator>
  <cp:lastModifiedBy>rocio.tardones.33@outlook.com</cp:lastModifiedBy>
  <cp:revision>1</cp:revision>
  <dcterms:created xsi:type="dcterms:W3CDTF">2024-06-26T04:47:18Z</dcterms:created>
  <dcterms:modified xsi:type="dcterms:W3CDTF">2024-06-26T05:19:01Z</dcterms:modified>
</cp:coreProperties>
</file>