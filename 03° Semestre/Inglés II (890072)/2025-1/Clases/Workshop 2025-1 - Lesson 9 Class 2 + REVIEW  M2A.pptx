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4"/>
  </p:notesMasterIdLst>
  <p:sldIdLst>
    <p:sldId id="256" r:id="rId2"/>
    <p:sldId id="319" r:id="rId3"/>
    <p:sldId id="321" r:id="rId4"/>
    <p:sldId id="322" r:id="rId5"/>
    <p:sldId id="323" r:id="rId6"/>
    <p:sldId id="324" r:id="rId7"/>
    <p:sldId id="305" r:id="rId8"/>
    <p:sldId id="311" r:id="rId9"/>
    <p:sldId id="318" r:id="rId10"/>
    <p:sldId id="320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306" r:id="rId22"/>
    <p:sldId id="304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DA302C"/>
    <a:srgbClr val="FFD700"/>
    <a:srgbClr val="53AE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1" d="100"/>
          <a:sy n="71" d="100"/>
        </p:scale>
        <p:origin x="3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41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74998D-5CFF-48E8-B16A-BD73CD6AF540}" type="datetimeFigureOut">
              <a:rPr lang="en-CA" smtClean="0"/>
              <a:t>2025-05-04</a:t>
            </a:fld>
            <a:endParaRPr lang="en-CA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CA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87DBF-FA04-406F-A375-46B25785D965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5309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F2BE6-18F4-FD4A-AEB7-6890FFC87BE8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3733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F2BE6-18F4-FD4A-AEB7-6890FFC87BE8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0997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57668C-5458-45BB-94AC-CC9D3FCC05DB}" type="slidenum">
              <a:rPr lang="es-CL" smtClean="0">
                <a:solidFill>
                  <a:prstClr val="black"/>
                </a:solidFill>
              </a:rPr>
              <a:pPr/>
              <a:t>7</a:t>
            </a:fld>
            <a:endParaRPr lang="es-C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23957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57668C-5458-45BB-94AC-CC9D3FCC05DB}" type="slidenum">
              <a:rPr kumimoji="0" lang="es-C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C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8982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57668C-5458-45BB-94AC-CC9D3FCC05DB}" type="slidenum">
              <a:rPr kumimoji="0" lang="es-C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C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31365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57668C-5458-45BB-94AC-CC9D3FCC05DB}" type="slidenum">
              <a:rPr kumimoji="0" lang="es-C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s-C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43376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57668C-5458-45BB-94AC-CC9D3FCC05DB}" type="slidenum">
              <a:rPr lang="es-CL" smtClean="0">
                <a:solidFill>
                  <a:prstClr val="black"/>
                </a:solidFill>
              </a:rPr>
              <a:pPr/>
              <a:t>22</a:t>
            </a:fld>
            <a:endParaRPr lang="es-C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4886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5/4/2025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5/4/2025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‹Nº›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5/4/2025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5/4/2025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5/4/2025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400" dirty="0"/>
              <a:t>Let’s Talk:</a:t>
            </a:r>
            <a:br>
              <a:rPr lang="en-US" sz="4400" dirty="0"/>
            </a:br>
            <a:r>
              <a:rPr lang="en-US" sz="4400" dirty="0"/>
              <a:t>INVITATIONS</a:t>
            </a:r>
            <a:br>
              <a:rPr lang="en-US" sz="4400" dirty="0"/>
            </a:br>
            <a:r>
              <a:rPr lang="en-US" sz="4400" dirty="0"/>
              <a:t>&amp; picture</a:t>
            </a:r>
            <a:br>
              <a:rPr lang="en-US" sz="4400" dirty="0"/>
            </a:br>
            <a:r>
              <a:rPr lang="en-US" sz="4400" dirty="0"/>
              <a:t>description</a:t>
            </a:r>
            <a:endParaRPr lang="en-US" sz="4400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Module 2 </a:t>
            </a:r>
          </a:p>
          <a:p>
            <a:r>
              <a:rPr lang="en-US" dirty="0"/>
              <a:t>Lesson 9 class 2</a:t>
            </a:r>
          </a:p>
        </p:txBody>
      </p:sp>
    </p:spTree>
    <p:extLst>
      <p:ext uri="{BB962C8B-B14F-4D97-AF65-F5344CB8AC3E}">
        <p14:creationId xmlns:p14="http://schemas.microsoft.com/office/powerpoint/2010/main" val="4089562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8D9BF9-33AD-AC76-DC0B-9824652CA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Invitations: </a:t>
            </a:r>
            <a:r>
              <a:rPr lang="en-CA" sz="6000" dirty="0"/>
              <a:t>vocab review &amp; Speaking activity</a:t>
            </a:r>
          </a:p>
        </p:txBody>
      </p:sp>
    </p:spTree>
    <p:extLst>
      <p:ext uri="{BB962C8B-B14F-4D97-AF65-F5344CB8AC3E}">
        <p14:creationId xmlns:p14="http://schemas.microsoft.com/office/powerpoint/2010/main" val="2213466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Marcador de contenido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4893" y="1089158"/>
            <a:ext cx="7346548" cy="5515394"/>
          </a:xfrm>
          <a:prstGeom prst="rect">
            <a:avLst/>
          </a:prstGeom>
        </p:spPr>
      </p:pic>
      <p:pic>
        <p:nvPicPr>
          <p:cNvPr id="16" name="5 Imagen" descr="paintball 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321" y="1243310"/>
            <a:ext cx="2302351" cy="290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lamada rectangular redondeada 4"/>
          <p:cNvSpPr/>
          <p:nvPr/>
        </p:nvSpPr>
        <p:spPr>
          <a:xfrm>
            <a:off x="6710794" y="2744365"/>
            <a:ext cx="3036095" cy="734768"/>
          </a:xfrm>
          <a:prstGeom prst="wedgeRoundRectCallout">
            <a:avLst>
              <a:gd name="adj1" fmla="val -53602"/>
              <a:gd name="adj2" fmla="val -47284"/>
              <a:gd name="adj3" fmla="val 16667"/>
            </a:avLst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 </a:t>
            </a:r>
            <a:r>
              <a:rPr lang="es-CL" b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you</a:t>
            </a:r>
            <a:r>
              <a:rPr lang="es-CL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CL" b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want</a:t>
            </a:r>
            <a:r>
              <a:rPr lang="es-CL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CL" b="1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 </a:t>
            </a:r>
            <a:r>
              <a:rPr lang="es-CL" u="sng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go</a:t>
            </a:r>
            <a:r>
              <a:rPr lang="es-CL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CL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paintballing</a:t>
            </a:r>
            <a:r>
              <a:rPr lang="es-C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CL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this</a:t>
            </a:r>
            <a:r>
              <a:rPr lang="es-C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CL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weekend</a:t>
            </a:r>
            <a:r>
              <a:rPr lang="es-C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?</a:t>
            </a:r>
          </a:p>
        </p:txBody>
      </p:sp>
      <p:sp>
        <p:nvSpPr>
          <p:cNvPr id="6" name="Llamada rectangular redondeada 5"/>
          <p:cNvSpPr/>
          <p:nvPr/>
        </p:nvSpPr>
        <p:spPr>
          <a:xfrm>
            <a:off x="6913844" y="3628792"/>
            <a:ext cx="2629992" cy="730270"/>
          </a:xfrm>
          <a:prstGeom prst="wedgeRoundRectCallout">
            <a:avLst>
              <a:gd name="adj1" fmla="val -61275"/>
              <a:gd name="adj2" fmla="val -37419"/>
              <a:gd name="adj3" fmla="val 16667"/>
            </a:avLst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Let’s</a:t>
            </a:r>
            <a:r>
              <a:rPr lang="es-CL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CL" b="1" u="sng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go</a:t>
            </a:r>
            <a:r>
              <a:rPr lang="es-CL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CL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paintballing</a:t>
            </a:r>
            <a:r>
              <a:rPr lang="es-C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CL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this</a:t>
            </a:r>
            <a:r>
              <a:rPr lang="es-C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CL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weekend</a:t>
            </a:r>
            <a:r>
              <a:rPr lang="es-C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</a:p>
        </p:txBody>
      </p:sp>
      <p:sp>
        <p:nvSpPr>
          <p:cNvPr id="7" name="Llamada rectangular redondeada 6"/>
          <p:cNvSpPr/>
          <p:nvPr/>
        </p:nvSpPr>
        <p:spPr>
          <a:xfrm>
            <a:off x="6672117" y="4512008"/>
            <a:ext cx="3229476" cy="712025"/>
          </a:xfrm>
          <a:prstGeom prst="wedgeRoundRectCallout">
            <a:avLst>
              <a:gd name="adj1" fmla="val -63930"/>
              <a:gd name="adj2" fmla="val -58571"/>
              <a:gd name="adj3" fmla="val 16667"/>
            </a:avLst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How</a:t>
            </a:r>
            <a:r>
              <a:rPr lang="es-CL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CL" b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about</a:t>
            </a:r>
            <a:r>
              <a:rPr lang="es-CL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CL" b="1" u="sng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going</a:t>
            </a:r>
            <a:r>
              <a:rPr lang="es-C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CL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paintballing</a:t>
            </a:r>
            <a:r>
              <a:rPr lang="es-C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CL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this</a:t>
            </a:r>
            <a:r>
              <a:rPr lang="es-C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CL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weekend</a:t>
            </a:r>
            <a:r>
              <a:rPr lang="es-C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?</a:t>
            </a:r>
          </a:p>
        </p:txBody>
      </p:sp>
      <p:sp>
        <p:nvSpPr>
          <p:cNvPr id="8" name="Llamada rectangular redondeada 7"/>
          <p:cNvSpPr/>
          <p:nvPr/>
        </p:nvSpPr>
        <p:spPr>
          <a:xfrm>
            <a:off x="6691456" y="1377663"/>
            <a:ext cx="3229476" cy="696651"/>
          </a:xfrm>
          <a:prstGeom prst="wedgeRoundRectCallout">
            <a:avLst>
              <a:gd name="adj1" fmla="val -57558"/>
              <a:gd name="adj2" fmla="val 52222"/>
              <a:gd name="adj3" fmla="val 16667"/>
            </a:avLst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Would</a:t>
            </a:r>
            <a:r>
              <a:rPr lang="es-CL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CL" b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you</a:t>
            </a:r>
            <a:r>
              <a:rPr lang="es-CL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CL" b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like</a:t>
            </a:r>
            <a:r>
              <a:rPr lang="es-CL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CL" b="1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 </a:t>
            </a:r>
            <a:r>
              <a:rPr lang="es-CL" u="sng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go</a:t>
            </a:r>
            <a:r>
              <a:rPr lang="es-CL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CL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paintballing</a:t>
            </a:r>
            <a:r>
              <a:rPr lang="es-C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CL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this</a:t>
            </a:r>
            <a:r>
              <a:rPr lang="es-C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CL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weekend</a:t>
            </a:r>
            <a:r>
              <a:rPr lang="es-C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?</a:t>
            </a:r>
          </a:p>
        </p:txBody>
      </p:sp>
      <p:sp>
        <p:nvSpPr>
          <p:cNvPr id="12" name="Rectángulo redondeado 11"/>
          <p:cNvSpPr/>
          <p:nvPr/>
        </p:nvSpPr>
        <p:spPr>
          <a:xfrm>
            <a:off x="7299324" y="931993"/>
            <a:ext cx="1859032" cy="369197"/>
          </a:xfrm>
          <a:prstGeom prst="roundRect">
            <a:avLst/>
          </a:prstGeom>
          <a:solidFill>
            <a:srgbClr val="9966FF"/>
          </a:solidFill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Formal</a:t>
            </a:r>
          </a:p>
        </p:txBody>
      </p:sp>
      <p:sp>
        <p:nvSpPr>
          <p:cNvPr id="13" name="Rectángulo redondeado 12"/>
          <p:cNvSpPr/>
          <p:nvPr/>
        </p:nvSpPr>
        <p:spPr>
          <a:xfrm>
            <a:off x="7357339" y="2319768"/>
            <a:ext cx="1859032" cy="369197"/>
          </a:xfrm>
          <a:prstGeom prst="roundRect">
            <a:avLst/>
          </a:prstGeom>
          <a:solidFill>
            <a:srgbClr val="9966FF"/>
          </a:solidFill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Informal</a:t>
            </a:r>
          </a:p>
        </p:txBody>
      </p:sp>
      <p:sp>
        <p:nvSpPr>
          <p:cNvPr id="14" name="Rectángulo redondeado 13"/>
          <p:cNvSpPr/>
          <p:nvPr/>
        </p:nvSpPr>
        <p:spPr>
          <a:xfrm>
            <a:off x="2495601" y="56197"/>
            <a:ext cx="3287075" cy="788045"/>
          </a:xfrm>
          <a:prstGeom prst="round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405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+mj-lt"/>
              </a:rPr>
              <a:t>Invitations</a:t>
            </a:r>
            <a:endParaRPr lang="es-CL" sz="405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19653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Marcador de contenido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584" y="1093182"/>
            <a:ext cx="7346548" cy="5515394"/>
          </a:xfrm>
          <a:prstGeom prst="rect">
            <a:avLst/>
          </a:prstGeom>
        </p:spPr>
      </p:pic>
      <p:pic>
        <p:nvPicPr>
          <p:cNvPr id="16" name="5 Imagen" descr="paintball 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621" y="1080030"/>
            <a:ext cx="2302351" cy="290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Llamada rectangular redondeada 4">
            <a:extLst>
              <a:ext uri="{FF2B5EF4-FFF2-40B4-BE49-F238E27FC236}">
                <a16:creationId xmlns:a16="http://schemas.microsoft.com/office/drawing/2014/main" id="{0C41D885-4591-75FB-25D8-7F19A56FBA92}"/>
              </a:ext>
            </a:extLst>
          </p:cNvPr>
          <p:cNvSpPr/>
          <p:nvPr/>
        </p:nvSpPr>
        <p:spPr>
          <a:xfrm>
            <a:off x="3579166" y="1819471"/>
            <a:ext cx="3036095" cy="553568"/>
          </a:xfrm>
          <a:prstGeom prst="wedgeRoundRectCallout">
            <a:avLst>
              <a:gd name="adj1" fmla="val 48515"/>
              <a:gd name="adj2" fmla="val 88182"/>
              <a:gd name="adj3" fmla="val 16667"/>
            </a:avLst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I’d</a:t>
            </a:r>
            <a:r>
              <a:rPr lang="es-C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CL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love</a:t>
            </a:r>
            <a:r>
              <a:rPr lang="es-C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to. (</a:t>
            </a:r>
            <a:r>
              <a:rPr lang="es-CL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 </a:t>
            </a:r>
            <a:r>
              <a:rPr lang="es-CL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would</a:t>
            </a:r>
            <a:r>
              <a:rPr lang="es-CL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CL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love</a:t>
            </a:r>
            <a:r>
              <a:rPr lang="es-CL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to</a:t>
            </a:r>
            <a:r>
              <a:rPr lang="es-C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</a:p>
        </p:txBody>
      </p:sp>
      <p:sp>
        <p:nvSpPr>
          <p:cNvPr id="3" name="Llamada rectangular redondeada 5">
            <a:extLst>
              <a:ext uri="{FF2B5EF4-FFF2-40B4-BE49-F238E27FC236}">
                <a16:creationId xmlns:a16="http://schemas.microsoft.com/office/drawing/2014/main" id="{1440C1B6-E346-1BA3-4C3A-8A45E09694EA}"/>
              </a:ext>
            </a:extLst>
          </p:cNvPr>
          <p:cNvSpPr/>
          <p:nvPr/>
        </p:nvSpPr>
        <p:spPr>
          <a:xfrm>
            <a:off x="3515615" y="4246126"/>
            <a:ext cx="3132786" cy="676107"/>
          </a:xfrm>
          <a:prstGeom prst="wedgeRoundRectCallout">
            <a:avLst>
              <a:gd name="adj1" fmla="val 62044"/>
              <a:gd name="adj2" fmla="val -51114"/>
              <a:gd name="adj3" fmla="val 16667"/>
            </a:avLst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Sounds</a:t>
            </a:r>
            <a:r>
              <a:rPr lang="es-C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CL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good</a:t>
            </a:r>
            <a:r>
              <a:rPr lang="es-C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 (</a:t>
            </a:r>
            <a:r>
              <a:rPr lang="es-CL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great</a:t>
            </a:r>
            <a:r>
              <a:rPr lang="es-C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es-CL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awesome</a:t>
            </a:r>
            <a:r>
              <a:rPr lang="es-C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es-CL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nice</a:t>
            </a:r>
            <a:r>
              <a:rPr lang="es-C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*, </a:t>
            </a:r>
            <a:r>
              <a:rPr lang="es-CL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lovely</a:t>
            </a:r>
            <a:r>
              <a:rPr lang="es-C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*, etc.)</a:t>
            </a:r>
          </a:p>
        </p:txBody>
      </p:sp>
      <p:sp>
        <p:nvSpPr>
          <p:cNvPr id="4" name="Llamada rectangular redondeada 6">
            <a:extLst>
              <a:ext uri="{FF2B5EF4-FFF2-40B4-BE49-F238E27FC236}">
                <a16:creationId xmlns:a16="http://schemas.microsoft.com/office/drawing/2014/main" id="{2E9B194D-7570-9082-98D9-B08D5859F9EB}"/>
              </a:ext>
            </a:extLst>
          </p:cNvPr>
          <p:cNvSpPr/>
          <p:nvPr/>
        </p:nvSpPr>
        <p:spPr>
          <a:xfrm>
            <a:off x="3482476" y="2737278"/>
            <a:ext cx="3229476" cy="712025"/>
          </a:xfrm>
          <a:prstGeom prst="wedgeRoundRectCallout">
            <a:avLst>
              <a:gd name="adj1" fmla="val 56406"/>
              <a:gd name="adj2" fmla="val -44524"/>
              <a:gd name="adj3" fmla="val 16667"/>
            </a:avLst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That</a:t>
            </a:r>
            <a:r>
              <a:rPr lang="es-C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CL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would</a:t>
            </a:r>
            <a:r>
              <a:rPr lang="es-C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be </a:t>
            </a:r>
            <a:r>
              <a:rPr lang="es-CL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lovely</a:t>
            </a:r>
            <a:r>
              <a:rPr lang="es-C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 (</a:t>
            </a:r>
            <a:r>
              <a:rPr lang="es-CL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nice</a:t>
            </a:r>
            <a:r>
              <a:rPr lang="es-C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es-CL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great</a:t>
            </a:r>
            <a:r>
              <a:rPr lang="es-C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es-CL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fun</a:t>
            </a:r>
            <a:r>
              <a:rPr lang="es-C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etc.)</a:t>
            </a:r>
          </a:p>
        </p:txBody>
      </p:sp>
      <p:sp>
        <p:nvSpPr>
          <p:cNvPr id="9" name="Llamada rectangular redondeada 7">
            <a:extLst>
              <a:ext uri="{FF2B5EF4-FFF2-40B4-BE49-F238E27FC236}">
                <a16:creationId xmlns:a16="http://schemas.microsoft.com/office/drawing/2014/main" id="{9C133150-EC0B-773E-B183-0638584E695A}"/>
              </a:ext>
            </a:extLst>
          </p:cNvPr>
          <p:cNvSpPr/>
          <p:nvPr/>
        </p:nvSpPr>
        <p:spPr>
          <a:xfrm>
            <a:off x="4284089" y="5352386"/>
            <a:ext cx="2315967" cy="418859"/>
          </a:xfrm>
          <a:prstGeom prst="wedgeRoundRectCallout">
            <a:avLst>
              <a:gd name="adj1" fmla="val 56751"/>
              <a:gd name="adj2" fmla="val -136460"/>
              <a:gd name="adj3" fmla="val 16667"/>
            </a:avLst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Yeah</a:t>
            </a:r>
            <a:r>
              <a:rPr lang="es-C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/ Ok /  </a:t>
            </a:r>
            <a:r>
              <a:rPr lang="es-CL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Sure</a:t>
            </a:r>
            <a:endParaRPr lang="es-CL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ángulo redondeado 10">
            <a:extLst>
              <a:ext uri="{FF2B5EF4-FFF2-40B4-BE49-F238E27FC236}">
                <a16:creationId xmlns:a16="http://schemas.microsoft.com/office/drawing/2014/main" id="{6B38D1F6-9E79-72F3-024B-DE93EA3CA30F}"/>
              </a:ext>
            </a:extLst>
          </p:cNvPr>
          <p:cNvSpPr/>
          <p:nvPr/>
        </p:nvSpPr>
        <p:spPr>
          <a:xfrm>
            <a:off x="2676920" y="85438"/>
            <a:ext cx="3923136" cy="788045"/>
          </a:xfrm>
          <a:prstGeom prst="round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33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+mj-lt"/>
              </a:rPr>
              <a:t>Accepting</a:t>
            </a:r>
            <a:r>
              <a:rPr lang="es-CL" sz="33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+mj-lt"/>
              </a:rPr>
              <a:t> (Yes)</a:t>
            </a:r>
          </a:p>
        </p:txBody>
      </p:sp>
      <p:sp>
        <p:nvSpPr>
          <p:cNvPr id="11" name="Rectángulo redondeado 9">
            <a:extLst>
              <a:ext uri="{FF2B5EF4-FFF2-40B4-BE49-F238E27FC236}">
                <a16:creationId xmlns:a16="http://schemas.microsoft.com/office/drawing/2014/main" id="{EEEF17B7-D6C4-20BB-8312-5E9E27D57873}"/>
              </a:ext>
            </a:extLst>
          </p:cNvPr>
          <p:cNvSpPr/>
          <p:nvPr/>
        </p:nvSpPr>
        <p:spPr>
          <a:xfrm>
            <a:off x="4279747" y="1413154"/>
            <a:ext cx="1859032" cy="369197"/>
          </a:xfrm>
          <a:prstGeom prst="roundRect">
            <a:avLst/>
          </a:prstGeom>
          <a:solidFill>
            <a:srgbClr val="FFFF85">
              <a:alpha val="92941"/>
            </a:srgbClr>
          </a:solidFill>
          <a:ln>
            <a:solidFill>
              <a:schemeClr val="bg1">
                <a:lumMod val="75000"/>
                <a:alpha val="73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Formal</a:t>
            </a:r>
          </a:p>
        </p:txBody>
      </p:sp>
      <p:sp>
        <p:nvSpPr>
          <p:cNvPr id="17" name="Rectángulo redondeado 11">
            <a:extLst>
              <a:ext uri="{FF2B5EF4-FFF2-40B4-BE49-F238E27FC236}">
                <a16:creationId xmlns:a16="http://schemas.microsoft.com/office/drawing/2014/main" id="{9C4CA2C3-DD4B-C25A-6FBE-685AD65F24B8}"/>
              </a:ext>
            </a:extLst>
          </p:cNvPr>
          <p:cNvSpPr/>
          <p:nvPr/>
        </p:nvSpPr>
        <p:spPr>
          <a:xfrm>
            <a:off x="4279747" y="3839809"/>
            <a:ext cx="1859032" cy="369197"/>
          </a:xfrm>
          <a:prstGeom prst="roundRect">
            <a:avLst/>
          </a:prstGeom>
          <a:solidFill>
            <a:srgbClr val="FFFF85">
              <a:alpha val="92941"/>
            </a:srgbClr>
          </a:solidFill>
          <a:ln>
            <a:solidFill>
              <a:schemeClr val="tx1">
                <a:lumMod val="50000"/>
                <a:lumOff val="50000"/>
                <a:alpha val="73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Informal</a:t>
            </a:r>
          </a:p>
        </p:txBody>
      </p:sp>
    </p:spTree>
    <p:extLst>
      <p:ext uri="{BB962C8B-B14F-4D97-AF65-F5344CB8AC3E}">
        <p14:creationId xmlns:p14="http://schemas.microsoft.com/office/powerpoint/2010/main" val="717801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9" grpId="0" animBg="1"/>
      <p:bldP spid="11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Marcador de contenido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1452" y="972501"/>
            <a:ext cx="7346548" cy="5515394"/>
          </a:xfrm>
          <a:prstGeom prst="rect">
            <a:avLst/>
          </a:prstGeom>
        </p:spPr>
      </p:pic>
      <p:pic>
        <p:nvPicPr>
          <p:cNvPr id="14" name="5 Imagen" descr="paintball 2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6681" y="1349604"/>
            <a:ext cx="1940973" cy="2452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lamada rectangular redondeada 4"/>
          <p:cNvSpPr/>
          <p:nvPr/>
        </p:nvSpPr>
        <p:spPr>
          <a:xfrm>
            <a:off x="4367809" y="1180130"/>
            <a:ext cx="4186540" cy="834401"/>
          </a:xfrm>
          <a:prstGeom prst="wedgeRoundRectCallout">
            <a:avLst>
              <a:gd name="adj1" fmla="val 38382"/>
              <a:gd name="adj2" fmla="val 71198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err="1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That</a:t>
            </a:r>
            <a:r>
              <a:rPr lang="es-CL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CL" dirty="0" err="1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sounds</a:t>
            </a:r>
            <a:r>
              <a:rPr lang="es-CL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CL" dirty="0" err="1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really</a:t>
            </a:r>
            <a:r>
              <a:rPr lang="es-CL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CL" dirty="0" err="1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nice</a:t>
            </a:r>
            <a:r>
              <a:rPr lang="es-CL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es-CL" dirty="0" err="1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but</a:t>
            </a:r>
            <a:r>
              <a:rPr lang="es-CL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________.  </a:t>
            </a:r>
            <a:r>
              <a:rPr lang="es-CL" dirty="0" err="1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How</a:t>
            </a:r>
            <a:r>
              <a:rPr lang="es-CL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CL" dirty="0" err="1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about</a:t>
            </a:r>
            <a:r>
              <a:rPr lang="es-CL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CL" dirty="0" err="1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next</a:t>
            </a:r>
            <a:r>
              <a:rPr lang="es-CL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CL" dirty="0" err="1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weekend</a:t>
            </a:r>
            <a:r>
              <a:rPr lang="es-CL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?</a:t>
            </a:r>
          </a:p>
        </p:txBody>
      </p:sp>
      <p:sp>
        <p:nvSpPr>
          <p:cNvPr id="6" name="Llamada rectangular redondeada 5"/>
          <p:cNvSpPr/>
          <p:nvPr/>
        </p:nvSpPr>
        <p:spPr>
          <a:xfrm>
            <a:off x="5443671" y="3418220"/>
            <a:ext cx="2903702" cy="495449"/>
          </a:xfrm>
          <a:prstGeom prst="wedgeRoundRectCallout">
            <a:avLst>
              <a:gd name="adj1" fmla="val 62044"/>
              <a:gd name="adj2" fmla="val -51114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err="1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I’m</a:t>
            </a:r>
            <a:r>
              <a:rPr lang="es-CL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CL" dirty="0" err="1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sorry</a:t>
            </a:r>
            <a:r>
              <a:rPr lang="es-CL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es-CL" dirty="0" err="1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but</a:t>
            </a:r>
            <a:r>
              <a:rPr lang="es-CL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_________.</a:t>
            </a:r>
          </a:p>
        </p:txBody>
      </p:sp>
      <p:sp>
        <p:nvSpPr>
          <p:cNvPr id="7" name="Llamada rectangular redondeada 6"/>
          <p:cNvSpPr/>
          <p:nvPr/>
        </p:nvSpPr>
        <p:spPr>
          <a:xfrm>
            <a:off x="5222016" y="2359304"/>
            <a:ext cx="3229476" cy="712025"/>
          </a:xfrm>
          <a:prstGeom prst="wedgeRoundRectCallout">
            <a:avLst>
              <a:gd name="adj1" fmla="val 56406"/>
              <a:gd name="adj2" fmla="val -44524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 </a:t>
            </a:r>
            <a:r>
              <a:rPr lang="es-CL" dirty="0" err="1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would</a:t>
            </a:r>
            <a:r>
              <a:rPr lang="es-CL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CL" dirty="0" err="1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love</a:t>
            </a:r>
            <a:r>
              <a:rPr lang="es-CL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to, </a:t>
            </a:r>
            <a:r>
              <a:rPr lang="es-CL" dirty="0" err="1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but</a:t>
            </a:r>
            <a:r>
              <a:rPr lang="es-CL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________.</a:t>
            </a:r>
          </a:p>
        </p:txBody>
      </p:sp>
      <p:sp>
        <p:nvSpPr>
          <p:cNvPr id="8" name="Llamada rectangular redondeada 7"/>
          <p:cNvSpPr/>
          <p:nvPr/>
        </p:nvSpPr>
        <p:spPr>
          <a:xfrm>
            <a:off x="5758766" y="5259010"/>
            <a:ext cx="2588609" cy="418859"/>
          </a:xfrm>
          <a:prstGeom prst="wedgeRoundRectCallout">
            <a:avLst>
              <a:gd name="adj1" fmla="val 56751"/>
              <a:gd name="adj2" fmla="val -136460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No, </a:t>
            </a:r>
            <a:r>
              <a:rPr lang="es-CL" dirty="0" err="1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thanks</a:t>
            </a:r>
            <a:r>
              <a:rPr lang="es-CL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</a:p>
        </p:txBody>
      </p:sp>
      <p:sp>
        <p:nvSpPr>
          <p:cNvPr id="11" name="Rectángulo redondeado 10"/>
          <p:cNvSpPr/>
          <p:nvPr/>
        </p:nvSpPr>
        <p:spPr>
          <a:xfrm>
            <a:off x="2667167" y="84211"/>
            <a:ext cx="3287075" cy="788045"/>
          </a:xfrm>
          <a:prstGeom prst="round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33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+mj-lt"/>
              </a:rPr>
              <a:t>Declining</a:t>
            </a:r>
            <a:r>
              <a:rPr lang="es-CL" sz="33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+mj-lt"/>
              </a:rPr>
              <a:t> (No)</a:t>
            </a:r>
          </a:p>
        </p:txBody>
      </p:sp>
      <p:sp>
        <p:nvSpPr>
          <p:cNvPr id="12" name="Llamada rectangular redondeada 11"/>
          <p:cNvSpPr/>
          <p:nvPr/>
        </p:nvSpPr>
        <p:spPr>
          <a:xfrm>
            <a:off x="5717381" y="4364773"/>
            <a:ext cx="2629992" cy="464798"/>
          </a:xfrm>
          <a:prstGeom prst="wedgeRoundRectCallout">
            <a:avLst>
              <a:gd name="adj1" fmla="val 62044"/>
              <a:gd name="adj2" fmla="val -51114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err="1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Maybe</a:t>
            </a:r>
            <a:r>
              <a:rPr lang="es-CL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CL" dirty="0" err="1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some</a:t>
            </a:r>
            <a:r>
              <a:rPr lang="es-CL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CL" dirty="0" err="1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other</a:t>
            </a:r>
            <a:r>
              <a:rPr lang="es-CL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time.</a:t>
            </a:r>
          </a:p>
        </p:txBody>
      </p:sp>
    </p:spTree>
    <p:extLst>
      <p:ext uri="{BB962C8B-B14F-4D97-AF65-F5344CB8AC3E}">
        <p14:creationId xmlns:p14="http://schemas.microsoft.com/office/powerpoint/2010/main" val="3008866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Marcador de contenido"/>
          <p:cNvSpPr txBox="1">
            <a:spLocks/>
          </p:cNvSpPr>
          <p:nvPr/>
        </p:nvSpPr>
        <p:spPr>
          <a:xfrm>
            <a:off x="6524626" y="1660923"/>
            <a:ext cx="2786063" cy="3321844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57175" indent="-257175">
              <a:spcBef>
                <a:spcPct val="20000"/>
              </a:spcBef>
              <a:defRPr/>
            </a:pPr>
            <a:endParaRPr lang="es-ES" sz="2400" dirty="0"/>
          </a:p>
          <a:p>
            <a:pPr marL="257175" indent="-257175">
              <a:spcBef>
                <a:spcPct val="20000"/>
              </a:spcBef>
              <a:defRPr/>
            </a:pPr>
            <a:endParaRPr lang="es-ES" sz="2400" dirty="0"/>
          </a:p>
          <a:p>
            <a:pPr marL="257175" indent="-257175">
              <a:spcBef>
                <a:spcPct val="20000"/>
              </a:spcBef>
              <a:defRPr/>
            </a:pPr>
            <a:endParaRPr lang="es-ES" sz="2400" dirty="0"/>
          </a:p>
          <a:p>
            <a:pPr marL="257175" indent="-257175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s-ES" sz="2400" dirty="0"/>
          </a:p>
        </p:txBody>
      </p:sp>
      <p:pic>
        <p:nvPicPr>
          <p:cNvPr id="6" name="5 Imagen" descr="pick you up scary girl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8168" y="1597174"/>
            <a:ext cx="3952543" cy="3663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ángulo redondeado 8"/>
          <p:cNvSpPr/>
          <p:nvPr/>
        </p:nvSpPr>
        <p:spPr>
          <a:xfrm>
            <a:off x="3202300" y="1637672"/>
            <a:ext cx="3641826" cy="603676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2400" b="1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When</a:t>
            </a:r>
            <a:r>
              <a:rPr lang="es-C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L" sz="2400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can </a:t>
            </a:r>
            <a:r>
              <a:rPr lang="es-CL" sz="2400" dirty="0" err="1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</a:t>
            </a:r>
            <a:r>
              <a:rPr lang="es-CL" sz="2400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L" sz="2400" dirty="0" err="1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meet</a:t>
            </a:r>
            <a:r>
              <a:rPr lang="es-CL" sz="2400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</a:p>
        </p:txBody>
      </p:sp>
      <p:sp>
        <p:nvSpPr>
          <p:cNvPr id="10" name="Rectángulo redondeado 9"/>
          <p:cNvSpPr/>
          <p:nvPr/>
        </p:nvSpPr>
        <p:spPr>
          <a:xfrm>
            <a:off x="639793" y="1626915"/>
            <a:ext cx="2020736" cy="534318"/>
          </a:xfrm>
          <a:prstGeom prst="roundRect">
            <a:avLst/>
          </a:prstGeom>
          <a:gradFill flip="none" rotWithShape="1">
            <a:gsLst>
              <a:gs pos="0">
                <a:srgbClr val="FFFF85">
                  <a:shade val="30000"/>
                  <a:satMod val="115000"/>
                </a:srgbClr>
              </a:gs>
              <a:gs pos="50000">
                <a:srgbClr val="FFFF85">
                  <a:shade val="67500"/>
                  <a:satMod val="115000"/>
                </a:srgbClr>
              </a:gs>
              <a:gs pos="100000">
                <a:srgbClr val="FFFF85">
                  <a:shade val="100000"/>
                  <a:satMod val="115000"/>
                </a:srgbClr>
              </a:gs>
            </a:gsLst>
            <a:lin ang="5400000" scaled="1"/>
            <a:tileRect/>
          </a:gradFill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Time</a:t>
            </a:r>
          </a:p>
        </p:txBody>
      </p:sp>
      <p:sp>
        <p:nvSpPr>
          <p:cNvPr id="11" name="Rectángulo redondeado 10"/>
          <p:cNvSpPr/>
          <p:nvPr/>
        </p:nvSpPr>
        <p:spPr>
          <a:xfrm>
            <a:off x="3187829" y="2612163"/>
            <a:ext cx="3641826" cy="603676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2400" b="1" u="sng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Where</a:t>
            </a:r>
            <a:r>
              <a:rPr lang="es-CL" sz="24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L" sz="2400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can </a:t>
            </a:r>
            <a:r>
              <a:rPr lang="es-CL" sz="2400" dirty="0" err="1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</a:t>
            </a:r>
            <a:r>
              <a:rPr lang="es-CL" sz="2400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L" sz="2400" dirty="0" err="1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meet</a:t>
            </a:r>
            <a:r>
              <a:rPr lang="es-CL" sz="2400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</a:p>
        </p:txBody>
      </p:sp>
      <p:sp>
        <p:nvSpPr>
          <p:cNvPr id="12" name="Rectángulo redondeado 11"/>
          <p:cNvSpPr/>
          <p:nvPr/>
        </p:nvSpPr>
        <p:spPr>
          <a:xfrm>
            <a:off x="599027" y="2612163"/>
            <a:ext cx="2020736" cy="534318"/>
          </a:xfrm>
          <a:prstGeom prst="roundRect">
            <a:avLst/>
          </a:prstGeom>
          <a:gradFill flip="none" rotWithShape="1">
            <a:gsLst>
              <a:gs pos="0">
                <a:srgbClr val="FFFF85">
                  <a:shade val="30000"/>
                  <a:satMod val="115000"/>
                </a:srgbClr>
              </a:gs>
              <a:gs pos="50000">
                <a:srgbClr val="FFFF85">
                  <a:shade val="67500"/>
                  <a:satMod val="115000"/>
                </a:srgbClr>
              </a:gs>
              <a:gs pos="100000">
                <a:srgbClr val="FFFF85">
                  <a:shade val="100000"/>
                  <a:satMod val="115000"/>
                </a:srgbClr>
              </a:gs>
            </a:gsLst>
            <a:lin ang="5400000" scaled="1"/>
            <a:tileRect/>
          </a:gradFill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Place</a:t>
            </a:r>
          </a:p>
        </p:txBody>
      </p:sp>
      <p:sp>
        <p:nvSpPr>
          <p:cNvPr id="13" name="Rectángulo redondeado 12"/>
          <p:cNvSpPr/>
          <p:nvPr/>
        </p:nvSpPr>
        <p:spPr>
          <a:xfrm>
            <a:off x="2040799" y="3983382"/>
            <a:ext cx="3350399" cy="894505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2000" b="1" u="sng" dirty="0" err="1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Let’s</a:t>
            </a:r>
            <a:r>
              <a:rPr lang="es-CL" sz="2000" b="1" u="sng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L" sz="2000" b="1" u="sng" dirty="0" err="1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meet</a:t>
            </a:r>
            <a:r>
              <a:rPr lang="es-CL" sz="2000" b="1" u="sng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L" sz="20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 </a:t>
            </a:r>
            <a:r>
              <a:rPr lang="es-CL" sz="2000" b="1" dirty="0" err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</a:t>
            </a:r>
            <a:r>
              <a:rPr lang="es-CL" sz="20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L" sz="2000" b="1" dirty="0" err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house</a:t>
            </a:r>
            <a:r>
              <a:rPr lang="es-CL" sz="20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 7 </a:t>
            </a:r>
            <a:r>
              <a:rPr lang="es-CL" sz="2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o’clock</a:t>
            </a:r>
            <a:r>
              <a:rPr lang="es-C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L" sz="2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</a:t>
            </a:r>
            <a:r>
              <a:rPr lang="es-C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L" sz="2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Saturday</a:t>
            </a:r>
            <a:r>
              <a:rPr lang="es-C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L" sz="2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night</a:t>
            </a:r>
            <a:r>
              <a:rPr lang="es-CL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s-CL" sz="20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Rectángulo redondeado 13"/>
          <p:cNvSpPr/>
          <p:nvPr/>
        </p:nvSpPr>
        <p:spPr>
          <a:xfrm>
            <a:off x="2040798" y="5291169"/>
            <a:ext cx="3350399" cy="894505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2000" b="1" u="sng" dirty="0" err="1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Let’s</a:t>
            </a:r>
            <a:r>
              <a:rPr lang="es-CL" sz="2000" b="1" u="sng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L" sz="2000" b="1" u="sng" dirty="0" err="1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meet</a:t>
            </a:r>
            <a:r>
              <a:rPr lang="es-CL" sz="2000" b="1" u="sng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 7 </a:t>
            </a:r>
            <a:r>
              <a:rPr lang="es-CL" sz="2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o’clock</a:t>
            </a:r>
            <a:r>
              <a:rPr lang="es-C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L" sz="2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</a:t>
            </a:r>
            <a:r>
              <a:rPr lang="es-C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L" sz="2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Saturday</a:t>
            </a:r>
            <a:r>
              <a:rPr lang="es-C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L" sz="2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night</a:t>
            </a:r>
            <a:r>
              <a:rPr lang="es-C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L" sz="20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 </a:t>
            </a:r>
            <a:r>
              <a:rPr lang="es-CL" sz="2000" b="1" dirty="0" err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</a:t>
            </a:r>
            <a:r>
              <a:rPr lang="es-CL" sz="20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L" sz="2000" b="1" dirty="0" err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house</a:t>
            </a:r>
            <a:r>
              <a:rPr lang="es-CL" sz="20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L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s-CL" sz="20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Rectángulo redondeado 14"/>
          <p:cNvSpPr/>
          <p:nvPr/>
        </p:nvSpPr>
        <p:spPr>
          <a:xfrm>
            <a:off x="4600389" y="131248"/>
            <a:ext cx="3287075" cy="788045"/>
          </a:xfrm>
          <a:prstGeom prst="round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33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+mj-lt"/>
              </a:rPr>
              <a:t>Making</a:t>
            </a:r>
            <a:r>
              <a:rPr lang="es-CL" sz="33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+mj-lt"/>
              </a:rPr>
              <a:t> </a:t>
            </a:r>
            <a:r>
              <a:rPr lang="es-CL" sz="33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+mj-lt"/>
              </a:rPr>
              <a:t>plans</a:t>
            </a:r>
            <a:endParaRPr lang="es-CL" sz="33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+mj-lt"/>
            </a:endParaRPr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863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19536" y="155837"/>
            <a:ext cx="8003232" cy="114300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Invitations: Rejecting and Accepting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1623999" y="3082212"/>
            <a:ext cx="8944002" cy="332398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Student A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:  </a:t>
            </a:r>
            <a:r>
              <a:rPr lang="en-US" sz="2000" u="sng" dirty="0">
                <a:solidFill>
                  <a:schemeClr val="accent4">
                    <a:lumMod val="50000"/>
                  </a:schemeClr>
                </a:solidFill>
              </a:rPr>
              <a:t>Greet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 your classmate. Then, choose an activity (from the wheel). </a:t>
            </a:r>
            <a:r>
              <a:rPr lang="en-US" sz="2000" u="sng" dirty="0">
                <a:solidFill>
                  <a:schemeClr val="accent4">
                    <a:lumMod val="50000"/>
                  </a:schemeClr>
                </a:solidFill>
              </a:rPr>
              <a:t>Invite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 Student B to the activity with you.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70C0"/>
                </a:solidFill>
              </a:rPr>
              <a:t>Student B</a:t>
            </a:r>
            <a:r>
              <a:rPr lang="en-US" sz="2000" dirty="0">
                <a:solidFill>
                  <a:srgbClr val="0070C0"/>
                </a:solidFill>
              </a:rPr>
              <a:t>:  </a:t>
            </a:r>
            <a:r>
              <a:rPr lang="en-US" sz="2000" u="sng" dirty="0">
                <a:solidFill>
                  <a:srgbClr val="0070C0"/>
                </a:solidFill>
              </a:rPr>
              <a:t>Reject</a:t>
            </a:r>
            <a:r>
              <a:rPr lang="en-US" sz="2000" dirty="0">
                <a:solidFill>
                  <a:srgbClr val="0070C0"/>
                </a:solidFill>
              </a:rPr>
              <a:t> the invitation.  Give a specific reason.  Then, choose another activity and suggest doing that instead (make another </a:t>
            </a:r>
            <a:r>
              <a:rPr lang="en-US" sz="2000" u="sng" dirty="0">
                <a:solidFill>
                  <a:srgbClr val="0070C0"/>
                </a:solidFill>
              </a:rPr>
              <a:t>invitation</a:t>
            </a:r>
            <a:r>
              <a:rPr lang="en-US" sz="2000" dirty="0">
                <a:solidFill>
                  <a:srgbClr val="0070C0"/>
                </a:solidFill>
              </a:rPr>
              <a:t>).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Student A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:  </a:t>
            </a:r>
            <a:r>
              <a:rPr lang="en-US" sz="2000" u="sng" dirty="0">
                <a:solidFill>
                  <a:schemeClr val="accent4">
                    <a:lumMod val="50000"/>
                  </a:schemeClr>
                </a:solidFill>
              </a:rPr>
              <a:t>Accept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 Student B’s invitation and ask for details. Perhaps you can ask if another friend or your partner can join you.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70C0"/>
                </a:solidFill>
              </a:rPr>
              <a:t>Student B</a:t>
            </a:r>
            <a:r>
              <a:rPr lang="en-US" sz="20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+ Student A:</a:t>
            </a:r>
            <a:r>
              <a:rPr lang="en-US" sz="2000" b="1" dirty="0">
                <a:solidFill>
                  <a:srgbClr val="0070C0"/>
                </a:solidFill>
              </a:rPr>
              <a:t> Discuss any final details. 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Reach a clear agreement.</a:t>
            </a:r>
            <a:endParaRPr lang="en-US" sz="2000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3832" y="1126009"/>
            <a:ext cx="2847598" cy="1800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75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3832" y="1126009"/>
            <a:ext cx="2847598" cy="1800817"/>
          </a:xfrm>
          <a:prstGeom prst="rect">
            <a:avLst/>
          </a:prstGeom>
        </p:spPr>
      </p:pic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B39478DD-6D20-48DA-8CD2-7DDF7CA78A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484560"/>
              </p:ext>
            </p:extLst>
          </p:nvPr>
        </p:nvGraphicFramePr>
        <p:xfrm>
          <a:off x="2959631" y="3284984"/>
          <a:ext cx="6096000" cy="3184128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0952608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999543197"/>
                    </a:ext>
                  </a:extLst>
                </a:gridCol>
              </a:tblGrid>
              <a:tr h="159206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Go to an antiques fair </a:t>
                      </a:r>
                      <a:endParaRPr lang="en-CA" sz="2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Have a picnic in the park</a:t>
                      </a:r>
                      <a:endParaRPr lang="en-CA" sz="2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65092544"/>
                  </a:ext>
                </a:extLst>
              </a:tr>
              <a:tr h="159206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Rent a cabin for the weekend</a:t>
                      </a:r>
                      <a:endParaRPr lang="en-CA" sz="2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Make vegan burgers to sell them on campus</a:t>
                      </a:r>
                      <a:endParaRPr lang="en-CA" sz="2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22754482"/>
                  </a:ext>
                </a:extLst>
              </a:tr>
            </a:tbl>
          </a:graphicData>
        </a:graphic>
      </p:graphicFrame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8D47D2ED-2124-4EE0-93AA-2E97DD79525E}"/>
              </a:ext>
            </a:extLst>
          </p:cNvPr>
          <p:cNvSpPr/>
          <p:nvPr/>
        </p:nvSpPr>
        <p:spPr>
          <a:xfrm rot="20987370">
            <a:off x="1809133" y="1256150"/>
            <a:ext cx="2300997" cy="1827394"/>
          </a:xfrm>
          <a:prstGeom prst="roundRect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You don’t need to use these exact words like a robot! Paraphrase as needed!</a:t>
            </a:r>
          </a:p>
        </p:txBody>
      </p:sp>
      <p:sp>
        <p:nvSpPr>
          <p:cNvPr id="8" name="1 Título"/>
          <p:cNvSpPr>
            <a:spLocks noGrp="1"/>
          </p:cNvSpPr>
          <p:nvPr>
            <p:ph type="title"/>
          </p:nvPr>
        </p:nvSpPr>
        <p:spPr>
          <a:xfrm>
            <a:off x="1919536" y="155837"/>
            <a:ext cx="8003232" cy="114300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Invitations: Rejecting and Accepting</a:t>
            </a:r>
          </a:p>
        </p:txBody>
      </p:sp>
    </p:spTree>
    <p:extLst>
      <p:ext uri="{BB962C8B-B14F-4D97-AF65-F5344CB8AC3E}">
        <p14:creationId xmlns:p14="http://schemas.microsoft.com/office/powerpoint/2010/main" val="16124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88763" y="155837"/>
            <a:ext cx="10220770" cy="114300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Invitations: Rejecting and Accepting (EXAMPLE)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888763" y="2831841"/>
            <a:ext cx="803974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spcBef>
                <a:spcPts val="600"/>
              </a:spcBef>
              <a:defRPr/>
            </a:pPr>
            <a:r>
              <a:rPr lang="en-US" sz="2000" b="1" dirty="0">
                <a:solidFill>
                  <a:srgbClr val="0070C0"/>
                </a:solidFill>
                <a:latin typeface="Calibri"/>
              </a:rPr>
              <a:t>Student A</a:t>
            </a:r>
            <a:r>
              <a:rPr lang="en-US" sz="2000" dirty="0">
                <a:solidFill>
                  <a:srgbClr val="0070C0"/>
                </a:solidFill>
                <a:latin typeface="Calibri"/>
              </a:rPr>
              <a:t>: Hi Student B! Tomorrow should be a beautiful day. Would you like to go to the antiques fair in Plaza Peru?</a:t>
            </a:r>
          </a:p>
          <a:p>
            <a:pPr defTabSz="914400">
              <a:spcBef>
                <a:spcPts val="600"/>
              </a:spcBef>
              <a:defRPr/>
            </a:pP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Calibri"/>
              </a:rPr>
              <a:t>Student B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Calibri"/>
              </a:rPr>
              <a:t>: Sorry, but I’m not really into that sort of thing. I don’t like to buy stuff like that. It just sits around taking up space.</a:t>
            </a:r>
          </a:p>
          <a:p>
            <a:pPr>
              <a:spcBef>
                <a:spcPts val="600"/>
              </a:spcBef>
              <a:defRPr/>
            </a:pPr>
            <a:r>
              <a:rPr lang="en-US" sz="2000" b="1" dirty="0">
                <a:solidFill>
                  <a:srgbClr val="0070C0"/>
                </a:solidFill>
              </a:rPr>
              <a:t>Student A:</a:t>
            </a:r>
            <a:r>
              <a:rPr lang="en-US" sz="2000" dirty="0">
                <a:solidFill>
                  <a:srgbClr val="0070C0"/>
                </a:solidFill>
              </a:rPr>
              <a:t> Oh, that’s too bad, but maybe I can ask </a:t>
            </a:r>
            <a:r>
              <a:rPr lang="en-US" sz="2000" dirty="0" err="1">
                <a:solidFill>
                  <a:srgbClr val="0070C0"/>
                </a:solidFill>
              </a:rPr>
              <a:t>Tomás</a:t>
            </a:r>
            <a:r>
              <a:rPr lang="en-US" sz="2000" dirty="0">
                <a:solidFill>
                  <a:srgbClr val="0070C0"/>
                </a:solidFill>
              </a:rPr>
              <a:t> to come with me.</a:t>
            </a:r>
            <a:endParaRPr lang="en-US" sz="2000" dirty="0">
              <a:solidFill>
                <a:srgbClr val="0070C0"/>
              </a:solidFill>
              <a:latin typeface="Calibri"/>
            </a:endParaRPr>
          </a:p>
          <a:p>
            <a:pPr defTabSz="914400">
              <a:spcBef>
                <a:spcPts val="600"/>
              </a:spcBef>
              <a:defRPr/>
            </a:pP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Calibri"/>
              </a:rPr>
              <a:t>Student B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Calibri"/>
              </a:rPr>
              <a:t>: Yeah, he might be interested… But anyway, what about the next long weekend? Would you like to rent a cabin and get out of the city? You could bring your daughter.</a:t>
            </a:r>
          </a:p>
          <a:p>
            <a:pPr defTabSz="914400">
              <a:spcBef>
                <a:spcPts val="600"/>
              </a:spcBef>
              <a:defRPr/>
            </a:pPr>
            <a:r>
              <a:rPr lang="en-US" sz="2000" b="1" dirty="0">
                <a:solidFill>
                  <a:srgbClr val="0070C0"/>
                </a:solidFill>
                <a:latin typeface="Calibri"/>
              </a:rPr>
              <a:t>Student A</a:t>
            </a:r>
            <a:r>
              <a:rPr lang="en-US" sz="2000" dirty="0">
                <a:solidFill>
                  <a:srgbClr val="0070C0"/>
                </a:solidFill>
                <a:latin typeface="Calibri"/>
              </a:rPr>
              <a:t>: That would be wonderful. …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1387" y="790149"/>
            <a:ext cx="2847598" cy="1800817"/>
          </a:xfrm>
          <a:prstGeom prst="rect">
            <a:avLst/>
          </a:prstGeom>
        </p:spPr>
      </p:pic>
      <p:sp>
        <p:nvSpPr>
          <p:cNvPr id="5" name="Rectángulo redondeado 4"/>
          <p:cNvSpPr/>
          <p:nvPr/>
        </p:nvSpPr>
        <p:spPr>
          <a:xfrm rot="681154">
            <a:off x="7499876" y="3724957"/>
            <a:ext cx="4475538" cy="264540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What else do they need to discuss?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Time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Place to meet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Price?  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Transport?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… or something else?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9741F27-DF80-1F57-FB05-80082886A996}"/>
              </a:ext>
            </a:extLst>
          </p:cNvPr>
          <p:cNvSpPr txBox="1"/>
          <p:nvPr/>
        </p:nvSpPr>
        <p:spPr>
          <a:xfrm>
            <a:off x="6147568" y="891829"/>
            <a:ext cx="5252592" cy="19389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b="1" dirty="0"/>
              <a:t>Remember</a:t>
            </a:r>
            <a:r>
              <a:rPr lang="en-US" sz="2400" dirty="0"/>
              <a:t>:</a:t>
            </a:r>
          </a:p>
          <a:p>
            <a:r>
              <a:rPr lang="en-US" sz="2400" dirty="0"/>
              <a:t>Student A: </a:t>
            </a:r>
            <a:r>
              <a:rPr lang="en-US" sz="2400" dirty="0">
                <a:solidFill>
                  <a:srgbClr val="FF0000"/>
                </a:solidFill>
              </a:rPr>
              <a:t>Invite</a:t>
            </a:r>
            <a:r>
              <a:rPr lang="en-US" sz="2400" dirty="0"/>
              <a:t>.</a:t>
            </a:r>
          </a:p>
          <a:p>
            <a:r>
              <a:rPr lang="en-US" sz="2400" dirty="0"/>
              <a:t>Student B: </a:t>
            </a:r>
            <a:r>
              <a:rPr lang="en-US" sz="2400" dirty="0">
                <a:solidFill>
                  <a:srgbClr val="008000"/>
                </a:solidFill>
              </a:rPr>
              <a:t>Reject. Then Invite to </a:t>
            </a:r>
            <a:r>
              <a:rPr lang="en-US" sz="2400" dirty="0" err="1">
                <a:solidFill>
                  <a:srgbClr val="008000"/>
                </a:solidFill>
              </a:rPr>
              <a:t>sth</a:t>
            </a:r>
            <a:r>
              <a:rPr lang="en-US" sz="2400" dirty="0">
                <a:solidFill>
                  <a:srgbClr val="008000"/>
                </a:solidFill>
              </a:rPr>
              <a:t> else</a:t>
            </a:r>
            <a:r>
              <a:rPr lang="en-US" sz="2400" dirty="0"/>
              <a:t>.</a:t>
            </a:r>
          </a:p>
          <a:p>
            <a:r>
              <a:rPr lang="en-US" sz="2400" dirty="0"/>
              <a:t>St. A: </a:t>
            </a:r>
            <a:r>
              <a:rPr lang="en-US" sz="2400" dirty="0">
                <a:solidFill>
                  <a:srgbClr val="FF0000"/>
                </a:solidFill>
              </a:rPr>
              <a:t>Accept the new invitation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Sts</a:t>
            </a:r>
            <a:r>
              <a:rPr lang="en-US" sz="2400" dirty="0"/>
              <a:t>. A+B: </a:t>
            </a:r>
            <a:r>
              <a:rPr lang="en-US" sz="2400" dirty="0">
                <a:solidFill>
                  <a:schemeClr val="accent2"/>
                </a:solidFill>
              </a:rPr>
              <a:t>Confirm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details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5643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Making</a:t>
            </a:r>
            <a:r>
              <a:rPr lang="es-ES" dirty="0"/>
              <a:t> </a:t>
            </a:r>
            <a:r>
              <a:rPr lang="es-ES" dirty="0" err="1"/>
              <a:t>invitations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251678" y="1610883"/>
            <a:ext cx="10178322" cy="3593591"/>
          </a:xfrm>
        </p:spPr>
        <p:txBody>
          <a:bodyPr/>
          <a:lstStyle/>
          <a:p>
            <a:r>
              <a:rPr lang="es-ES" dirty="0" err="1"/>
              <a:t>Scan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code</a:t>
            </a:r>
            <a:endParaRPr lang="es-ES" dirty="0"/>
          </a:p>
          <a:p>
            <a:r>
              <a:rPr lang="es-ES" dirty="0"/>
              <a:t>Use </a:t>
            </a:r>
            <a:r>
              <a:rPr lang="es-ES" dirty="0" err="1"/>
              <a:t>the</a:t>
            </a:r>
            <a:r>
              <a:rPr lang="es-ES" dirty="0"/>
              <a:t> Wheel to </a:t>
            </a:r>
            <a:r>
              <a:rPr lang="es-ES" dirty="0" err="1"/>
              <a:t>choose</a:t>
            </a:r>
            <a:r>
              <a:rPr lang="es-ES" dirty="0"/>
              <a:t> </a:t>
            </a:r>
            <a:r>
              <a:rPr lang="es-ES" dirty="0" err="1"/>
              <a:t>an</a:t>
            </a:r>
            <a:r>
              <a:rPr lang="es-ES" dirty="0"/>
              <a:t> </a:t>
            </a:r>
            <a:r>
              <a:rPr lang="es-ES" dirty="0" err="1"/>
              <a:t>activity</a:t>
            </a:r>
            <a:r>
              <a:rPr lang="es-ES" dirty="0"/>
              <a:t> and </a:t>
            </a:r>
            <a:r>
              <a:rPr lang="es-ES" dirty="0" err="1"/>
              <a:t>make</a:t>
            </a:r>
            <a:r>
              <a:rPr lang="es-ES" dirty="0"/>
              <a:t> </a:t>
            </a:r>
            <a:r>
              <a:rPr lang="es-ES" dirty="0" err="1"/>
              <a:t>an</a:t>
            </a:r>
            <a:r>
              <a:rPr lang="es-ES" dirty="0"/>
              <a:t> </a:t>
            </a:r>
            <a:r>
              <a:rPr lang="es-ES" dirty="0" err="1"/>
              <a:t>invitation</a:t>
            </a:r>
            <a:r>
              <a:rPr lang="es-ES" dirty="0"/>
              <a:t>.</a:t>
            </a:r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330" y="2679148"/>
            <a:ext cx="3600000" cy="3600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9741F27-DF80-1F57-FB05-80082886A996}"/>
              </a:ext>
            </a:extLst>
          </p:cNvPr>
          <p:cNvSpPr txBox="1"/>
          <p:nvPr/>
        </p:nvSpPr>
        <p:spPr>
          <a:xfrm>
            <a:off x="5899739" y="3265482"/>
            <a:ext cx="5252592" cy="19389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b="1" dirty="0"/>
              <a:t>Remember</a:t>
            </a:r>
            <a:r>
              <a:rPr lang="en-US" sz="2400" dirty="0"/>
              <a:t>:</a:t>
            </a:r>
          </a:p>
          <a:p>
            <a:r>
              <a:rPr lang="en-US" sz="2400" dirty="0"/>
              <a:t>Student A: </a:t>
            </a:r>
            <a:r>
              <a:rPr lang="en-US" sz="2400" dirty="0">
                <a:solidFill>
                  <a:srgbClr val="FF0000"/>
                </a:solidFill>
              </a:rPr>
              <a:t>Invite</a:t>
            </a:r>
            <a:r>
              <a:rPr lang="en-US" sz="2400" dirty="0"/>
              <a:t>.</a:t>
            </a:r>
          </a:p>
          <a:p>
            <a:r>
              <a:rPr lang="en-US" sz="2400" dirty="0"/>
              <a:t>Student B: </a:t>
            </a:r>
            <a:r>
              <a:rPr lang="en-US" sz="2400" dirty="0">
                <a:solidFill>
                  <a:srgbClr val="008000"/>
                </a:solidFill>
              </a:rPr>
              <a:t>Reject. Then Invite to </a:t>
            </a:r>
            <a:r>
              <a:rPr lang="en-US" sz="2400" dirty="0" err="1">
                <a:solidFill>
                  <a:srgbClr val="008000"/>
                </a:solidFill>
              </a:rPr>
              <a:t>sth</a:t>
            </a:r>
            <a:r>
              <a:rPr lang="en-US" sz="2400" dirty="0">
                <a:solidFill>
                  <a:srgbClr val="008000"/>
                </a:solidFill>
              </a:rPr>
              <a:t> else</a:t>
            </a:r>
            <a:r>
              <a:rPr lang="en-US" sz="2400" dirty="0"/>
              <a:t>.</a:t>
            </a:r>
          </a:p>
          <a:p>
            <a:r>
              <a:rPr lang="en-US" sz="2400" dirty="0"/>
              <a:t>St. A: </a:t>
            </a:r>
            <a:r>
              <a:rPr lang="en-US" sz="2400" dirty="0">
                <a:solidFill>
                  <a:srgbClr val="FF0000"/>
                </a:solidFill>
              </a:rPr>
              <a:t>Accept the new invitation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Sts</a:t>
            </a:r>
            <a:r>
              <a:rPr lang="en-US" sz="2400" dirty="0"/>
              <a:t>. A+B: </a:t>
            </a:r>
            <a:r>
              <a:rPr lang="en-US" sz="2400" dirty="0">
                <a:solidFill>
                  <a:schemeClr val="accent2"/>
                </a:solidFill>
              </a:rPr>
              <a:t>Confirm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details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5840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1159F8-C3FB-6CE7-A34E-9C5162CEB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Picture description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645BF2-BF83-D00C-2596-59D643C0CA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Interview practice</a:t>
            </a:r>
          </a:p>
        </p:txBody>
      </p:sp>
    </p:spTree>
    <p:extLst>
      <p:ext uri="{BB962C8B-B14F-4D97-AF65-F5344CB8AC3E}">
        <p14:creationId xmlns:p14="http://schemas.microsoft.com/office/powerpoint/2010/main" val="3157138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8097E5-5371-BFE5-7EBD-F11E0B322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Topics of lessons 7-9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F5BB416B-F0C5-796B-0E0E-F6AE69CB7E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7281625"/>
              </p:ext>
            </p:extLst>
          </p:nvPr>
        </p:nvGraphicFramePr>
        <p:xfrm>
          <a:off x="1175160" y="3763617"/>
          <a:ext cx="10179048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3016">
                  <a:extLst>
                    <a:ext uri="{9D8B030D-6E8A-4147-A177-3AD203B41FA5}">
                      <a16:colId xmlns:a16="http://schemas.microsoft.com/office/drawing/2014/main" val="2966734069"/>
                    </a:ext>
                  </a:extLst>
                </a:gridCol>
                <a:gridCol w="3393016">
                  <a:extLst>
                    <a:ext uri="{9D8B030D-6E8A-4147-A177-3AD203B41FA5}">
                      <a16:colId xmlns:a16="http://schemas.microsoft.com/office/drawing/2014/main" val="2024533895"/>
                    </a:ext>
                  </a:extLst>
                </a:gridCol>
                <a:gridCol w="3393016">
                  <a:extLst>
                    <a:ext uri="{9D8B030D-6E8A-4147-A177-3AD203B41FA5}">
                      <a16:colId xmlns:a16="http://schemas.microsoft.com/office/drawing/2014/main" val="3299281400"/>
                    </a:ext>
                  </a:extLst>
                </a:gridCol>
              </a:tblGrid>
              <a:tr h="172278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 sz="2000" b="0" dirty="0"/>
                        <a:t>Describing physical appearance</a:t>
                      </a:r>
                      <a:endParaRPr lang="en-CA" sz="2000" b="0" i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 sz="2000" b="0" i="0" dirty="0"/>
                        <a:t>Asking questions about physical appearance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 sz="2000" b="0" i="0" dirty="0"/>
                        <a:t>Future forms </a:t>
                      </a:r>
                      <a:r>
                        <a:rPr lang="en-CA" sz="2000" b="0" i="1" dirty="0"/>
                        <a:t>will</a:t>
                      </a:r>
                      <a:r>
                        <a:rPr lang="en-CA" sz="2000" b="0" i="0" dirty="0"/>
                        <a:t> and </a:t>
                      </a:r>
                      <a:r>
                        <a:rPr lang="en-CA" sz="2000" b="0" i="1" dirty="0"/>
                        <a:t>be going to</a:t>
                      </a:r>
                      <a:endParaRPr lang="en-CA" sz="2000" b="0" i="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 sz="2000" b="0" dirty="0"/>
                        <a:t>Describing personality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 sz="2000" b="0" dirty="0"/>
                        <a:t>Using comparatives and superlatives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 sz="2000" b="0" dirty="0"/>
                        <a:t>Using adjectives that end in –</a:t>
                      </a:r>
                      <a:r>
                        <a:rPr lang="en-CA" sz="2000" b="0" i="1" dirty="0"/>
                        <a:t>ed</a:t>
                      </a:r>
                      <a:r>
                        <a:rPr lang="en-CA" sz="2000" b="0" i="0" dirty="0"/>
                        <a:t> and -</a:t>
                      </a:r>
                      <a:r>
                        <a:rPr lang="en-CA" sz="2000" b="0" i="1" dirty="0" err="1"/>
                        <a:t>ing</a:t>
                      </a:r>
                      <a:endParaRPr lang="en-CA" sz="2000" b="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 sz="2000" b="0" dirty="0"/>
                        <a:t>Free time activities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 sz="2000" b="0" dirty="0"/>
                        <a:t>Likes and dislikes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 sz="2000" b="0" dirty="0"/>
                        <a:t>Weather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 sz="2000" b="0" dirty="0"/>
                        <a:t>Making and responding to invitations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 sz="2000" b="0" dirty="0"/>
                        <a:t>Childhood memories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 sz="2000" b="0" i="1" dirty="0"/>
                        <a:t>used to </a:t>
                      </a:r>
                      <a:r>
                        <a:rPr lang="en-CA" sz="2000" b="0" i="0" dirty="0"/>
                        <a:t>and </a:t>
                      </a:r>
                      <a:r>
                        <a:rPr lang="en-CA" sz="2000" b="0" i="1" dirty="0"/>
                        <a:t>would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 sz="2000" b="0" i="1" dirty="0"/>
                        <a:t>to</a:t>
                      </a:r>
                      <a:r>
                        <a:rPr lang="en-CA" sz="2000" b="0" dirty="0"/>
                        <a:t>-infinitives and gerunds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 sz="2000" b="0" dirty="0"/>
                        <a:t>Agreeing with </a:t>
                      </a:r>
                      <a:r>
                        <a:rPr lang="en-CA" sz="2000" b="0" i="1" dirty="0"/>
                        <a:t>so</a:t>
                      </a:r>
                      <a:r>
                        <a:rPr lang="en-CA" sz="2000" b="0" i="0" dirty="0"/>
                        <a:t> and </a:t>
                      </a:r>
                      <a:r>
                        <a:rPr lang="en-CA" sz="2000" b="0" i="1" dirty="0"/>
                        <a:t>neither</a:t>
                      </a:r>
                      <a:endParaRPr lang="en-CA" sz="2000" b="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836553"/>
                  </a:ext>
                </a:extLst>
              </a:tr>
            </a:tbl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766D4315-38C2-C7E1-2688-3FA9975648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07" b="42356"/>
          <a:stretch/>
        </p:blipFill>
        <p:spPr>
          <a:xfrm>
            <a:off x="1175160" y="1378226"/>
            <a:ext cx="10216581" cy="2385391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24D5167-DDE1-C43B-ECA2-6A0C97648278}"/>
              </a:ext>
            </a:extLst>
          </p:cNvPr>
          <p:cNvSpPr/>
          <p:nvPr/>
        </p:nvSpPr>
        <p:spPr>
          <a:xfrm rot="21169765">
            <a:off x="1510748" y="1706547"/>
            <a:ext cx="9621078" cy="106315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200" dirty="0"/>
              <a:t>Which topics are important for picture description?</a:t>
            </a:r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4CA57653-52F3-3F72-4A5B-B56D41CD6611}"/>
              </a:ext>
            </a:extLst>
          </p:cNvPr>
          <p:cNvSpPr/>
          <p:nvPr/>
        </p:nvSpPr>
        <p:spPr>
          <a:xfrm>
            <a:off x="556591" y="3763617"/>
            <a:ext cx="695087" cy="496291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BFF55848-9C8D-8935-B45A-55740CC48199}"/>
              </a:ext>
            </a:extLst>
          </p:cNvPr>
          <p:cNvSpPr/>
          <p:nvPr/>
        </p:nvSpPr>
        <p:spPr>
          <a:xfrm>
            <a:off x="3942521" y="4164165"/>
            <a:ext cx="695087" cy="496291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1A359709-6A72-DC27-6F18-AD455C83BE87}"/>
              </a:ext>
            </a:extLst>
          </p:cNvPr>
          <p:cNvSpPr/>
          <p:nvPr/>
        </p:nvSpPr>
        <p:spPr>
          <a:xfrm>
            <a:off x="7328451" y="3705476"/>
            <a:ext cx="695087" cy="496291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DF27E4AE-4F85-7F43-86F2-A9EF38A5E362}"/>
              </a:ext>
            </a:extLst>
          </p:cNvPr>
          <p:cNvSpPr/>
          <p:nvPr/>
        </p:nvSpPr>
        <p:spPr>
          <a:xfrm>
            <a:off x="7328450" y="4340471"/>
            <a:ext cx="695087" cy="496291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28B7727A-721B-BE61-6981-31C47F81EC93}"/>
              </a:ext>
            </a:extLst>
          </p:cNvPr>
          <p:cNvSpPr/>
          <p:nvPr/>
        </p:nvSpPr>
        <p:spPr>
          <a:xfrm>
            <a:off x="7310445" y="5228613"/>
            <a:ext cx="695087" cy="496291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5217EA65-1E6B-6446-FEA2-DF7A87BEABAB}"/>
              </a:ext>
            </a:extLst>
          </p:cNvPr>
          <p:cNvSpPr/>
          <p:nvPr/>
        </p:nvSpPr>
        <p:spPr>
          <a:xfrm>
            <a:off x="3942520" y="3673765"/>
            <a:ext cx="695087" cy="496291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576456CF-CC3E-DEA1-0F6C-B78EB1A928FF}"/>
              </a:ext>
            </a:extLst>
          </p:cNvPr>
          <p:cNvSpPr/>
          <p:nvPr/>
        </p:nvSpPr>
        <p:spPr>
          <a:xfrm>
            <a:off x="7306334" y="4011762"/>
            <a:ext cx="695087" cy="496291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C7D55732-CAA0-9079-0679-A0CD52EB196A}"/>
              </a:ext>
            </a:extLst>
          </p:cNvPr>
          <p:cNvSpPr/>
          <p:nvPr/>
        </p:nvSpPr>
        <p:spPr>
          <a:xfrm>
            <a:off x="556591" y="4961218"/>
            <a:ext cx="695087" cy="496291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D91821E9-CF08-E5E9-68FC-D2E55D39CFF6}"/>
              </a:ext>
            </a:extLst>
          </p:cNvPr>
          <p:cNvSpPr/>
          <p:nvPr/>
        </p:nvSpPr>
        <p:spPr>
          <a:xfrm>
            <a:off x="531974" y="4409362"/>
            <a:ext cx="695087" cy="49629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FAC621B3-0B15-61E4-5E50-3A523AEF2A32}"/>
              </a:ext>
            </a:extLst>
          </p:cNvPr>
          <p:cNvSpPr/>
          <p:nvPr/>
        </p:nvSpPr>
        <p:spPr>
          <a:xfrm>
            <a:off x="3942520" y="4736754"/>
            <a:ext cx="695087" cy="496291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79188132-B6A0-0C1A-DF88-D6DCA234CA83}"/>
              </a:ext>
            </a:extLst>
          </p:cNvPr>
          <p:cNvSpPr/>
          <p:nvPr/>
        </p:nvSpPr>
        <p:spPr>
          <a:xfrm>
            <a:off x="7323697" y="4758826"/>
            <a:ext cx="695087" cy="49629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00C78658-365E-77A2-D1C5-88BF00D27CEC}"/>
              </a:ext>
            </a:extLst>
          </p:cNvPr>
          <p:cNvSpPr/>
          <p:nvPr/>
        </p:nvSpPr>
        <p:spPr>
          <a:xfrm>
            <a:off x="7306333" y="5526141"/>
            <a:ext cx="695087" cy="496291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2FA219F-3A2B-B7C0-CFE8-AD24F48D1920}"/>
              </a:ext>
            </a:extLst>
          </p:cNvPr>
          <p:cNvSpPr/>
          <p:nvPr/>
        </p:nvSpPr>
        <p:spPr>
          <a:xfrm>
            <a:off x="7317817" y="5873095"/>
            <a:ext cx="695087" cy="49629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Flecha: a la derecha 2">
            <a:extLst>
              <a:ext uri="{FF2B5EF4-FFF2-40B4-BE49-F238E27FC236}">
                <a16:creationId xmlns:a16="http://schemas.microsoft.com/office/drawing/2014/main" id="{EE1FDDC7-E71E-1E1C-AE92-FC3D16AF2C72}"/>
              </a:ext>
            </a:extLst>
          </p:cNvPr>
          <p:cNvSpPr/>
          <p:nvPr/>
        </p:nvSpPr>
        <p:spPr>
          <a:xfrm>
            <a:off x="7315197" y="6183875"/>
            <a:ext cx="695087" cy="49629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6622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E78B15-BA31-6BC5-6B12-D9DC7C587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Tips for picture description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BD578C-B763-995A-5906-29CA9F0F1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484243"/>
            <a:ext cx="5771974" cy="4991372"/>
          </a:xfr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20000"/>
          </a:bodyPr>
          <a:lstStyle/>
          <a:p>
            <a:pPr>
              <a:lnSpc>
                <a:spcPct val="120000"/>
              </a:lnSpc>
              <a:spcBef>
                <a:spcPts val="900"/>
              </a:spcBef>
            </a:pPr>
            <a:r>
              <a:rPr lang="en-CA" dirty="0">
                <a:latin typeface="Aptos" panose="020B0004020202020204" pitchFamily="34" charset="0"/>
              </a:rPr>
              <a:t>Begin with a general description of what you see</a:t>
            </a:r>
          </a:p>
          <a:p>
            <a:pPr lvl="1">
              <a:lnSpc>
                <a:spcPct val="120000"/>
              </a:lnSpc>
              <a:spcBef>
                <a:spcPts val="900"/>
              </a:spcBef>
            </a:pPr>
            <a:r>
              <a:rPr lang="en-CA" dirty="0">
                <a:latin typeface="Aptos" panose="020B0004020202020204" pitchFamily="34" charset="0"/>
              </a:rPr>
              <a:t>How many people are there?</a:t>
            </a:r>
          </a:p>
          <a:p>
            <a:pPr lvl="1">
              <a:lnSpc>
                <a:spcPct val="120000"/>
              </a:lnSpc>
              <a:spcBef>
                <a:spcPts val="900"/>
              </a:spcBef>
            </a:pPr>
            <a:r>
              <a:rPr lang="en-CA" dirty="0">
                <a:latin typeface="Aptos" panose="020B0004020202020204" pitchFamily="34" charset="0"/>
              </a:rPr>
              <a:t>Where are they? What are they doing?</a:t>
            </a: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lang="en-CA" dirty="0">
                <a:latin typeface="Aptos" panose="020B0004020202020204" pitchFamily="34" charset="0"/>
              </a:rPr>
              <a:t>Continue with the topics from the lessons</a:t>
            </a:r>
          </a:p>
          <a:p>
            <a:pPr lvl="1">
              <a:lnSpc>
                <a:spcPct val="120000"/>
              </a:lnSpc>
              <a:spcBef>
                <a:spcPts val="900"/>
              </a:spcBef>
            </a:pPr>
            <a:r>
              <a:rPr lang="en-CA" dirty="0">
                <a:latin typeface="Aptos" panose="020B0004020202020204" pitchFamily="34" charset="0"/>
              </a:rPr>
              <a:t>Physical description of the person or people</a:t>
            </a:r>
          </a:p>
          <a:p>
            <a:pPr lvl="1">
              <a:lnSpc>
                <a:spcPct val="120000"/>
              </a:lnSpc>
              <a:spcBef>
                <a:spcPts val="900"/>
              </a:spcBef>
            </a:pPr>
            <a:r>
              <a:rPr lang="en-CA" dirty="0">
                <a:latin typeface="Aptos" panose="020B0004020202020204" pitchFamily="34" charset="0"/>
              </a:rPr>
              <a:t>Free time activities</a:t>
            </a:r>
          </a:p>
          <a:p>
            <a:pPr lvl="1">
              <a:lnSpc>
                <a:spcPct val="120000"/>
              </a:lnSpc>
              <a:spcBef>
                <a:spcPts val="900"/>
              </a:spcBef>
            </a:pPr>
            <a:r>
              <a:rPr lang="en-CA" dirty="0">
                <a:latin typeface="Aptos" panose="020B0004020202020204" pitchFamily="34" charset="0"/>
              </a:rPr>
              <a:t>The weather</a:t>
            </a: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lang="en-CA" dirty="0">
                <a:latin typeface="Aptos" panose="020B0004020202020204" pitchFamily="34" charset="0"/>
              </a:rPr>
              <a:t>Finish by expanding on the description</a:t>
            </a:r>
          </a:p>
          <a:p>
            <a:pPr lvl="1">
              <a:lnSpc>
                <a:spcPct val="120000"/>
              </a:lnSpc>
              <a:spcBef>
                <a:spcPts val="900"/>
              </a:spcBef>
            </a:pPr>
            <a:r>
              <a:rPr lang="en-CA" dirty="0">
                <a:latin typeface="Aptos" panose="020B0004020202020204" pitchFamily="34" charset="0"/>
              </a:rPr>
              <a:t>Can you compare the people or activities?</a:t>
            </a:r>
          </a:p>
          <a:p>
            <a:pPr lvl="1">
              <a:lnSpc>
                <a:spcPct val="120000"/>
              </a:lnSpc>
              <a:spcBef>
                <a:spcPts val="900"/>
              </a:spcBef>
            </a:pPr>
            <a:r>
              <a:rPr lang="en-CA" dirty="0">
                <a:latin typeface="Aptos" panose="020B0004020202020204" pitchFamily="34" charset="0"/>
              </a:rPr>
              <a:t>Is there evidence of their personality?</a:t>
            </a:r>
          </a:p>
          <a:p>
            <a:pPr lvl="1">
              <a:lnSpc>
                <a:spcPct val="120000"/>
              </a:lnSpc>
              <a:spcBef>
                <a:spcPts val="900"/>
              </a:spcBef>
            </a:pPr>
            <a:r>
              <a:rPr lang="en-CA" dirty="0">
                <a:latin typeface="Aptos" panose="020B0004020202020204" pitchFamily="34" charset="0"/>
              </a:rPr>
              <a:t>Can you predict what is going to happen next?</a:t>
            </a:r>
          </a:p>
          <a:p>
            <a:pPr lvl="1">
              <a:lnSpc>
                <a:spcPct val="120000"/>
              </a:lnSpc>
              <a:spcBef>
                <a:spcPts val="900"/>
              </a:spcBef>
            </a:pPr>
            <a:r>
              <a:rPr lang="en-CA" dirty="0">
                <a:latin typeface="Aptos" panose="020B0004020202020204" pitchFamily="34" charset="0"/>
              </a:rPr>
              <a:t>Did you use to do the same thing?</a:t>
            </a:r>
          </a:p>
          <a:p>
            <a:pPr lvl="1">
              <a:lnSpc>
                <a:spcPct val="120000"/>
              </a:lnSpc>
              <a:spcBef>
                <a:spcPts val="900"/>
              </a:spcBef>
            </a:pPr>
            <a:r>
              <a:rPr lang="en-CA" dirty="0">
                <a:latin typeface="Aptos" panose="020B0004020202020204" pitchFamily="34" charset="0"/>
              </a:rPr>
              <a:t>Do you like being in this place / doing this activity?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4146A73-735F-AFB4-3D33-FEF5AC270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546" y="2271955"/>
            <a:ext cx="4974601" cy="3235116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2CA923F6-3453-C32A-8B9F-413654055946}"/>
              </a:ext>
            </a:extLst>
          </p:cNvPr>
          <p:cNvSpPr/>
          <p:nvPr/>
        </p:nvSpPr>
        <p:spPr>
          <a:xfrm>
            <a:off x="1496517" y="2916861"/>
            <a:ext cx="4844322" cy="1353511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dirty="0"/>
              <a:t>The young girl has long, curly dark brown hair, but the older woman has short white hair.  The older man has a moustache and the younger man has a beard.  It’s sunny and warm.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631D63EE-FAFC-08C0-9EF7-9549D2CA72C5}"/>
              </a:ext>
            </a:extLst>
          </p:cNvPr>
          <p:cNvSpPr/>
          <p:nvPr/>
        </p:nvSpPr>
        <p:spPr>
          <a:xfrm>
            <a:off x="1496517" y="1848987"/>
            <a:ext cx="4844322" cy="70313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dirty="0"/>
              <a:t>In this picture, I can see five people.  They are having a picnic at a park.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A35FDDA5-3F4C-D999-5F92-BF63BF1FFB26}"/>
              </a:ext>
            </a:extLst>
          </p:cNvPr>
          <p:cNvSpPr/>
          <p:nvPr/>
        </p:nvSpPr>
        <p:spPr>
          <a:xfrm>
            <a:off x="1496517" y="4495299"/>
            <a:ext cx="4844322" cy="1834901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dirty="0"/>
              <a:t>I think everybody in the picture is kind and outgoing because they are all happy spending time together.  Personally, I don’t enjoy eating outside.  My family never used to go on picnics when I was a kid. </a:t>
            </a:r>
          </a:p>
        </p:txBody>
      </p:sp>
    </p:spTree>
    <p:extLst>
      <p:ext uri="{BB962C8B-B14F-4D97-AF65-F5344CB8AC3E}">
        <p14:creationId xmlns:p14="http://schemas.microsoft.com/office/powerpoint/2010/main" val="924033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F69F11-0391-A1E5-2DF9-D8EDC15B7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Things </a:t>
            </a:r>
            <a:r>
              <a:rPr lang="en-CA" u="sng" dirty="0"/>
              <a:t>not</a:t>
            </a:r>
            <a:r>
              <a:rPr lang="en-CA" dirty="0"/>
              <a:t> to 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6A4C3A-C951-8982-FFD7-EB609B717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839533"/>
            <a:ext cx="5135870" cy="4486526"/>
          </a:xfr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spcBef>
                <a:spcPts val="900"/>
              </a:spcBef>
            </a:pPr>
            <a:r>
              <a:rPr lang="en-CA" dirty="0">
                <a:latin typeface="Aptos" panose="020B0004020202020204" pitchFamily="34" charset="0"/>
              </a:rPr>
              <a:t>Don’t focus on personal information, daily activities or clothing (that’s module 1).</a:t>
            </a: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lang="en-CA" dirty="0">
                <a:latin typeface="Aptos" panose="020B0004020202020204" pitchFamily="34" charset="0"/>
              </a:rPr>
              <a:t>Don’t repeat yourself – for example, if there are four blond people in the picture, don’t say it four times!</a:t>
            </a: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lang="en-CA" dirty="0">
                <a:latin typeface="Aptos" panose="020B0004020202020204" pitchFamily="34" charset="0"/>
              </a:rPr>
              <a:t>Don’t just list vocabulary words. Always use complete sentences in a coherent way.</a:t>
            </a: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lang="en-CA" dirty="0">
                <a:latin typeface="Aptos" panose="020B0004020202020204" pitchFamily="34" charset="0"/>
              </a:rPr>
              <a:t>Don’t forget basic sentence patterns – for example, present continuous.</a:t>
            </a: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lang="en-CA" dirty="0">
                <a:latin typeface="Aptos" panose="020B0004020202020204" pitchFamily="34" charset="0"/>
              </a:rPr>
              <a:t>Don’t say </a:t>
            </a:r>
            <a:r>
              <a:rPr lang="en-CA" i="1" dirty="0">
                <a:latin typeface="Aptos" panose="020B0004020202020204" pitchFamily="34" charset="0"/>
              </a:rPr>
              <a:t>persons, peoples, </a:t>
            </a:r>
            <a:r>
              <a:rPr lang="en-CA" i="1" dirty="0" err="1">
                <a:latin typeface="Aptos" panose="020B0004020202020204" pitchFamily="34" charset="0"/>
              </a:rPr>
              <a:t>mens</a:t>
            </a:r>
            <a:r>
              <a:rPr lang="en-CA" i="1" dirty="0">
                <a:latin typeface="Aptos" panose="020B0004020202020204" pitchFamily="34" charset="0"/>
              </a:rPr>
              <a:t>, </a:t>
            </a:r>
            <a:r>
              <a:rPr lang="en-CA" i="1" dirty="0" err="1">
                <a:latin typeface="Aptos" panose="020B0004020202020204" pitchFamily="34" charset="0"/>
              </a:rPr>
              <a:t>childs</a:t>
            </a:r>
            <a:r>
              <a:rPr lang="en-CA" i="1" dirty="0">
                <a:latin typeface="Aptos" panose="020B0004020202020204" pitchFamily="34" charset="0"/>
              </a:rPr>
              <a:t>, </a:t>
            </a:r>
            <a:r>
              <a:rPr lang="en-CA" i="1" dirty="0" err="1">
                <a:latin typeface="Aptos" panose="020B0004020202020204" pitchFamily="34" charset="0"/>
              </a:rPr>
              <a:t>childrens</a:t>
            </a:r>
            <a:r>
              <a:rPr lang="en-CA" i="1" dirty="0">
                <a:latin typeface="Aptos" panose="020B0004020202020204" pitchFamily="34" charset="0"/>
              </a:rPr>
              <a:t>, </a:t>
            </a:r>
            <a:r>
              <a:rPr lang="en-CA" i="1" dirty="0" err="1">
                <a:latin typeface="Aptos" panose="020B0004020202020204" pitchFamily="34" charset="0"/>
              </a:rPr>
              <a:t>womans</a:t>
            </a:r>
            <a:r>
              <a:rPr lang="en-CA" dirty="0">
                <a:latin typeface="Aptos" panose="020B0004020202020204" pitchFamily="34" charset="0"/>
              </a:rPr>
              <a:t>,…</a:t>
            </a:r>
          </a:p>
          <a:p>
            <a:pPr lvl="1">
              <a:lnSpc>
                <a:spcPct val="120000"/>
              </a:lnSpc>
              <a:spcBef>
                <a:spcPts val="900"/>
              </a:spcBef>
            </a:pPr>
            <a:r>
              <a:rPr lang="en-CA" dirty="0">
                <a:latin typeface="Aptos" panose="020B0004020202020204" pitchFamily="34" charset="0"/>
              </a:rPr>
              <a:t>Use the proper plurals: </a:t>
            </a:r>
            <a:r>
              <a:rPr lang="en-CA" b="1" i="1" dirty="0">
                <a:latin typeface="Aptos" panose="020B0004020202020204" pitchFamily="34" charset="0"/>
              </a:rPr>
              <a:t>people, men/guys, women/ladies/girls, children/kids</a:t>
            </a:r>
            <a:endParaRPr lang="en-CA" dirty="0">
              <a:latin typeface="Aptos" panose="020B0004020202020204" pitchFamily="34" charset="0"/>
            </a:endParaRPr>
          </a:p>
        </p:txBody>
      </p:sp>
      <p:pic>
        <p:nvPicPr>
          <p:cNvPr id="1026" name="Picture 2" descr="Premium Photo | Man shows different hand gestures">
            <a:extLst>
              <a:ext uri="{FF2B5EF4-FFF2-40B4-BE49-F238E27FC236}">
                <a16:creationId xmlns:a16="http://schemas.microsoft.com/office/drawing/2014/main" id="{A5A99D54-C0A8-7A77-C4B7-63562D5BFD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8953" y="2479652"/>
            <a:ext cx="4813276" cy="3206288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9742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690D4E-1E7F-412C-5812-9C17F3707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Practice with a timer:</a:t>
            </a:r>
            <a:br>
              <a:rPr lang="en-CA" dirty="0"/>
            </a:br>
            <a:r>
              <a:rPr lang="en-CA" sz="2400" dirty="0"/>
              <a:t>Remember: Appearance, free-time activities, weather</a:t>
            </a:r>
            <a:endParaRPr lang="en-CA" dirty="0"/>
          </a:p>
        </p:txBody>
      </p:sp>
      <p:pic>
        <p:nvPicPr>
          <p:cNvPr id="2050" name="Picture 2" descr="Skateboarding: teach your children how to ride a skateboard | Photo: Shutterstock">
            <a:extLst>
              <a:ext uri="{FF2B5EF4-FFF2-40B4-BE49-F238E27FC236}">
                <a16:creationId xmlns:a16="http://schemas.microsoft.com/office/drawing/2014/main" id="{26B6037A-6890-999B-1F76-BBCAB7887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925" y="2577157"/>
            <a:ext cx="6089788" cy="4059859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41E87FA8-BBDD-438B-0DA6-9617A00CC8EC}"/>
              </a:ext>
            </a:extLst>
          </p:cNvPr>
          <p:cNvSpPr/>
          <p:nvPr/>
        </p:nvSpPr>
        <p:spPr>
          <a:xfrm>
            <a:off x="980661" y="1669774"/>
            <a:ext cx="1848264" cy="5698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200" dirty="0"/>
              <a:t>START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1936328-8B55-9DE5-F17E-2089261C60BC}"/>
              </a:ext>
            </a:extLst>
          </p:cNvPr>
          <p:cNvSpPr/>
          <p:nvPr/>
        </p:nvSpPr>
        <p:spPr>
          <a:xfrm>
            <a:off x="8918713" y="1772146"/>
            <a:ext cx="1848264" cy="5698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200" dirty="0"/>
              <a:t>FINISH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49199BB-E882-7901-C7C3-990685D458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92360">
            <a:off x="2523980" y="1327127"/>
            <a:ext cx="833873" cy="1094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81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42" presetClass="path" presetSubtype="0" accel="50000" decel="50000" fill="hold" nodeType="after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4.16667E-6 3.7037E-7 L 0.49948 0.00972 " pathEditMode="relative" rAng="0" ptsTypes="AA">
                                      <p:cBhvr>
                                        <p:cTn id="9" dur="5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974" y="4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8 reasons parents should play with their kids">
            <a:extLst>
              <a:ext uri="{FF2B5EF4-FFF2-40B4-BE49-F238E27FC236}">
                <a16:creationId xmlns:a16="http://schemas.microsoft.com/office/drawing/2014/main" id="{9303BCEE-7BE2-E062-97E7-FC7E4DDC0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5037" y="2537013"/>
            <a:ext cx="6313676" cy="420069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3690D4E-1E7F-412C-5812-9C17F3707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Practice with a timer:</a:t>
            </a:r>
            <a:br>
              <a:rPr lang="en-CA" dirty="0"/>
            </a:br>
            <a:r>
              <a:rPr lang="en-CA" sz="2400" dirty="0"/>
              <a:t>Remember: Appearance, free-time activities, weather</a:t>
            </a:r>
            <a:endParaRPr lang="en-CA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1E87FA8-BBDD-438B-0DA6-9617A00CC8EC}"/>
              </a:ext>
            </a:extLst>
          </p:cNvPr>
          <p:cNvSpPr/>
          <p:nvPr/>
        </p:nvSpPr>
        <p:spPr>
          <a:xfrm>
            <a:off x="980661" y="1669774"/>
            <a:ext cx="1848264" cy="5698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200" dirty="0"/>
              <a:t>START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1936328-8B55-9DE5-F17E-2089261C60BC}"/>
              </a:ext>
            </a:extLst>
          </p:cNvPr>
          <p:cNvSpPr/>
          <p:nvPr/>
        </p:nvSpPr>
        <p:spPr>
          <a:xfrm>
            <a:off x="8918713" y="1772146"/>
            <a:ext cx="1848264" cy="5698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200" dirty="0"/>
              <a:t>FINISH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49199BB-E882-7901-C7C3-990685D458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92360">
            <a:off x="2523980" y="1327127"/>
            <a:ext cx="833873" cy="1094778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E1AFD445-CEA6-DF15-9757-04F24E5ABA0A}"/>
              </a:ext>
            </a:extLst>
          </p:cNvPr>
          <p:cNvSpPr/>
          <p:nvPr/>
        </p:nvSpPr>
        <p:spPr>
          <a:xfrm rot="21331734">
            <a:off x="3239925" y="2791205"/>
            <a:ext cx="5267789" cy="3631763"/>
          </a:xfrm>
          <a:prstGeom prst="rect">
            <a:avLst/>
          </a:prstGeom>
          <a:solidFill>
            <a:schemeClr val="accent5">
              <a:lumMod val="75000"/>
              <a:alpha val="75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15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TIME’S</a:t>
            </a:r>
          </a:p>
          <a:p>
            <a:pPr algn="ctr"/>
            <a:r>
              <a:rPr lang="es-ES" sz="115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UP!!</a:t>
            </a:r>
          </a:p>
        </p:txBody>
      </p:sp>
    </p:spTree>
    <p:extLst>
      <p:ext uri="{BB962C8B-B14F-4D97-AF65-F5344CB8AC3E}">
        <p14:creationId xmlns:p14="http://schemas.microsoft.com/office/powerpoint/2010/main" val="1120205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42" presetClass="path" presetSubtype="0" accel="50000" decel="50000" fill="hold" nodeType="after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4.16667E-6 3.7037E-7 L 0.49948 0.00972 " pathEditMode="relative" rAng="0" ptsTypes="AA">
                                      <p:cBhvr>
                                        <p:cTn id="9" dur="5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974" y="4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325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8,200+ Senior Men Fishing Stock Photos, Pictures &amp; Royalty-Free Images -  iStock | Senior men group, Elderly men, Active seniors">
            <a:extLst>
              <a:ext uri="{FF2B5EF4-FFF2-40B4-BE49-F238E27FC236}">
                <a16:creationId xmlns:a16="http://schemas.microsoft.com/office/drawing/2014/main" id="{7FFF461D-FB0F-90DC-39C4-C60BD94044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0916" y="2668748"/>
            <a:ext cx="5829300" cy="3876675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3690D4E-1E7F-412C-5812-9C17F3707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Practice with a timer:</a:t>
            </a:r>
            <a:br>
              <a:rPr lang="en-CA" dirty="0"/>
            </a:br>
            <a:r>
              <a:rPr lang="en-CA" sz="2400" dirty="0"/>
              <a:t>Remember: Appearance, free-time activities, weather</a:t>
            </a:r>
            <a:endParaRPr lang="en-CA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1E87FA8-BBDD-438B-0DA6-9617A00CC8EC}"/>
              </a:ext>
            </a:extLst>
          </p:cNvPr>
          <p:cNvSpPr/>
          <p:nvPr/>
        </p:nvSpPr>
        <p:spPr>
          <a:xfrm>
            <a:off x="980661" y="1669774"/>
            <a:ext cx="1848264" cy="5698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200" dirty="0"/>
              <a:t>START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1936328-8B55-9DE5-F17E-2089261C60BC}"/>
              </a:ext>
            </a:extLst>
          </p:cNvPr>
          <p:cNvSpPr/>
          <p:nvPr/>
        </p:nvSpPr>
        <p:spPr>
          <a:xfrm>
            <a:off x="8918713" y="1772146"/>
            <a:ext cx="1848264" cy="5698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200" dirty="0"/>
              <a:t>FINISH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49199BB-E882-7901-C7C3-990685D458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92360">
            <a:off x="2523980" y="1327127"/>
            <a:ext cx="833873" cy="1094778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E1AFD445-CEA6-DF15-9757-04F24E5ABA0A}"/>
              </a:ext>
            </a:extLst>
          </p:cNvPr>
          <p:cNvSpPr/>
          <p:nvPr/>
        </p:nvSpPr>
        <p:spPr>
          <a:xfrm rot="21331734">
            <a:off x="3239925" y="2791205"/>
            <a:ext cx="5267789" cy="3631763"/>
          </a:xfrm>
          <a:prstGeom prst="rect">
            <a:avLst/>
          </a:prstGeom>
          <a:solidFill>
            <a:schemeClr val="accent5">
              <a:lumMod val="75000"/>
              <a:alpha val="75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15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TIME’S</a:t>
            </a:r>
          </a:p>
          <a:p>
            <a:pPr algn="ctr"/>
            <a:r>
              <a:rPr lang="es-ES" sz="115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UP!!</a:t>
            </a:r>
          </a:p>
        </p:txBody>
      </p:sp>
    </p:spTree>
    <p:extLst>
      <p:ext uri="{BB962C8B-B14F-4D97-AF65-F5344CB8AC3E}">
        <p14:creationId xmlns:p14="http://schemas.microsoft.com/office/powerpoint/2010/main" val="4204157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42" presetClass="path" presetSubtype="0" accel="50000" decel="50000" fill="hold" nodeType="after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4.16667E-6 3.7037E-7 L 0.49948 0.00972 " pathEditMode="relative" rAng="0" ptsTypes="AA">
                                      <p:cBhvr>
                                        <p:cTn id="9" dur="5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974" y="4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325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Rain won't stop these kids from running – Orange County Register">
            <a:extLst>
              <a:ext uri="{FF2B5EF4-FFF2-40B4-BE49-F238E27FC236}">
                <a16:creationId xmlns:a16="http://schemas.microsoft.com/office/drawing/2014/main" id="{899A7425-6A07-834E-C391-C8EF6CDCC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319" y="2730581"/>
            <a:ext cx="5715000" cy="3743325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3690D4E-1E7F-412C-5812-9C17F3707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Practice with a timer:</a:t>
            </a:r>
            <a:br>
              <a:rPr lang="en-CA" dirty="0"/>
            </a:br>
            <a:r>
              <a:rPr lang="en-CA" sz="2400" dirty="0"/>
              <a:t>Remember: Appearance, free-time activities, weather</a:t>
            </a:r>
            <a:endParaRPr lang="en-CA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1E87FA8-BBDD-438B-0DA6-9617A00CC8EC}"/>
              </a:ext>
            </a:extLst>
          </p:cNvPr>
          <p:cNvSpPr/>
          <p:nvPr/>
        </p:nvSpPr>
        <p:spPr>
          <a:xfrm>
            <a:off x="980661" y="1669774"/>
            <a:ext cx="1848264" cy="5698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200" dirty="0"/>
              <a:t>START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1936328-8B55-9DE5-F17E-2089261C60BC}"/>
              </a:ext>
            </a:extLst>
          </p:cNvPr>
          <p:cNvSpPr/>
          <p:nvPr/>
        </p:nvSpPr>
        <p:spPr>
          <a:xfrm>
            <a:off x="8918713" y="1772146"/>
            <a:ext cx="1848264" cy="5698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200" dirty="0"/>
              <a:t>FINISH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49199BB-E882-7901-C7C3-990685D458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92360">
            <a:off x="2523980" y="1327127"/>
            <a:ext cx="833873" cy="1094778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E1AFD445-CEA6-DF15-9757-04F24E5ABA0A}"/>
              </a:ext>
            </a:extLst>
          </p:cNvPr>
          <p:cNvSpPr/>
          <p:nvPr/>
        </p:nvSpPr>
        <p:spPr>
          <a:xfrm rot="21331734">
            <a:off x="3239925" y="2791205"/>
            <a:ext cx="5267789" cy="3631763"/>
          </a:xfrm>
          <a:prstGeom prst="rect">
            <a:avLst/>
          </a:prstGeom>
          <a:solidFill>
            <a:schemeClr val="accent5">
              <a:lumMod val="75000"/>
              <a:alpha val="75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15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TIME’S</a:t>
            </a:r>
          </a:p>
          <a:p>
            <a:pPr algn="ctr"/>
            <a:r>
              <a:rPr lang="es-ES" sz="115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UP!!</a:t>
            </a:r>
          </a:p>
        </p:txBody>
      </p:sp>
    </p:spTree>
    <p:extLst>
      <p:ext uri="{BB962C8B-B14F-4D97-AF65-F5344CB8AC3E}">
        <p14:creationId xmlns:p14="http://schemas.microsoft.com/office/powerpoint/2010/main" val="2456732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42" presetClass="path" presetSubtype="0" accel="50000" decel="50000" fill="hold" nodeType="after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4.16667E-6 3.7037E-7 L 0.49948 0.00972 " pathEditMode="relative" rAng="0" ptsTypes="AA">
                                      <p:cBhvr>
                                        <p:cTn id="9" dur="5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974" y="4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325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690D4E-1E7F-412C-5812-9C17F3707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Practice with a timer:</a:t>
            </a:r>
            <a:br>
              <a:rPr lang="en-CA" dirty="0"/>
            </a:br>
            <a:r>
              <a:rPr lang="en-CA" sz="2400" dirty="0"/>
              <a:t>Remember: Appearance, free-time activities, weather</a:t>
            </a:r>
            <a:endParaRPr lang="en-CA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1E87FA8-BBDD-438B-0DA6-9617A00CC8EC}"/>
              </a:ext>
            </a:extLst>
          </p:cNvPr>
          <p:cNvSpPr/>
          <p:nvPr/>
        </p:nvSpPr>
        <p:spPr>
          <a:xfrm>
            <a:off x="980661" y="1669774"/>
            <a:ext cx="1848264" cy="5698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200" dirty="0"/>
              <a:t>START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1936328-8B55-9DE5-F17E-2089261C60BC}"/>
              </a:ext>
            </a:extLst>
          </p:cNvPr>
          <p:cNvSpPr/>
          <p:nvPr/>
        </p:nvSpPr>
        <p:spPr>
          <a:xfrm>
            <a:off x="8918713" y="1772146"/>
            <a:ext cx="1848264" cy="5698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200" dirty="0"/>
              <a:t>FINISH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49199BB-E882-7901-C7C3-990685D458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92360">
            <a:off x="2523980" y="1327127"/>
            <a:ext cx="833873" cy="1094778"/>
          </a:xfrm>
          <a:prstGeom prst="rect">
            <a:avLst/>
          </a:prstGeom>
        </p:spPr>
      </p:pic>
      <p:pic>
        <p:nvPicPr>
          <p:cNvPr id="6146" name="Picture 2" descr="The Benefits of Piano Lessons for Your Child | The Piano Place">
            <a:extLst>
              <a:ext uri="{FF2B5EF4-FFF2-40B4-BE49-F238E27FC236}">
                <a16:creationId xmlns:a16="http://schemas.microsoft.com/office/drawing/2014/main" id="{B0DE98F7-4541-53F5-C314-B104EBB82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0536" y="2623906"/>
            <a:ext cx="5946565" cy="3966359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E1AFD445-CEA6-DF15-9757-04F24E5ABA0A}"/>
              </a:ext>
            </a:extLst>
          </p:cNvPr>
          <p:cNvSpPr/>
          <p:nvPr/>
        </p:nvSpPr>
        <p:spPr>
          <a:xfrm rot="21331734">
            <a:off x="3239925" y="2791205"/>
            <a:ext cx="5267789" cy="3631763"/>
          </a:xfrm>
          <a:prstGeom prst="rect">
            <a:avLst/>
          </a:prstGeom>
          <a:solidFill>
            <a:schemeClr val="accent5">
              <a:lumMod val="75000"/>
              <a:alpha val="75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15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TIME’S</a:t>
            </a:r>
          </a:p>
          <a:p>
            <a:pPr algn="ctr"/>
            <a:r>
              <a:rPr lang="es-ES" sz="115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UP!!</a:t>
            </a:r>
          </a:p>
        </p:txBody>
      </p:sp>
    </p:spTree>
    <p:extLst>
      <p:ext uri="{BB962C8B-B14F-4D97-AF65-F5344CB8AC3E}">
        <p14:creationId xmlns:p14="http://schemas.microsoft.com/office/powerpoint/2010/main" val="496845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42" presetClass="path" presetSubtype="0" accel="50000" decel="50000" fill="hold" nodeType="after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4.16667E-6 3.7037E-7 L 0.49948 0.00972 " pathEditMode="relative" rAng="0" ptsTypes="AA">
                                      <p:cBhvr>
                                        <p:cTn id="9" dur="5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974" y="4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325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9687B765-6218-2E89-D9D6-6D2D0666C5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11"/>
          <a:stretch/>
        </p:blipFill>
        <p:spPr bwMode="auto">
          <a:xfrm>
            <a:off x="3808997" y="1938132"/>
            <a:ext cx="4129641" cy="4652133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3690D4E-1E7F-412C-5812-9C17F3707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Practice with a timer:</a:t>
            </a:r>
            <a:br>
              <a:rPr lang="en-CA" dirty="0"/>
            </a:br>
            <a:r>
              <a:rPr lang="en-CA" sz="2400" dirty="0"/>
              <a:t>Remember: Appearance, free-time activities, weather</a:t>
            </a:r>
            <a:endParaRPr lang="en-CA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1E87FA8-BBDD-438B-0DA6-9617A00CC8EC}"/>
              </a:ext>
            </a:extLst>
          </p:cNvPr>
          <p:cNvSpPr/>
          <p:nvPr/>
        </p:nvSpPr>
        <p:spPr>
          <a:xfrm>
            <a:off x="980661" y="1669774"/>
            <a:ext cx="1848264" cy="5698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200" dirty="0"/>
              <a:t>START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1936328-8B55-9DE5-F17E-2089261C60BC}"/>
              </a:ext>
            </a:extLst>
          </p:cNvPr>
          <p:cNvSpPr/>
          <p:nvPr/>
        </p:nvSpPr>
        <p:spPr>
          <a:xfrm>
            <a:off x="8918713" y="1772146"/>
            <a:ext cx="1848264" cy="5698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200" dirty="0"/>
              <a:t>FINISH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49199BB-E882-7901-C7C3-990685D458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92360">
            <a:off x="2523980" y="1327127"/>
            <a:ext cx="833873" cy="1094778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E1AFD445-CEA6-DF15-9757-04F24E5ABA0A}"/>
              </a:ext>
            </a:extLst>
          </p:cNvPr>
          <p:cNvSpPr/>
          <p:nvPr/>
        </p:nvSpPr>
        <p:spPr>
          <a:xfrm rot="21331734">
            <a:off x="3239925" y="2791205"/>
            <a:ext cx="5267789" cy="3631763"/>
          </a:xfrm>
          <a:prstGeom prst="rect">
            <a:avLst/>
          </a:prstGeom>
          <a:solidFill>
            <a:schemeClr val="accent5">
              <a:lumMod val="75000"/>
              <a:alpha val="75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15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TIME’S</a:t>
            </a:r>
          </a:p>
          <a:p>
            <a:pPr algn="ctr"/>
            <a:r>
              <a:rPr lang="es-ES" sz="115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UP!!</a:t>
            </a:r>
          </a:p>
        </p:txBody>
      </p:sp>
    </p:spTree>
    <p:extLst>
      <p:ext uri="{BB962C8B-B14F-4D97-AF65-F5344CB8AC3E}">
        <p14:creationId xmlns:p14="http://schemas.microsoft.com/office/powerpoint/2010/main" val="3130908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42" presetClass="path" presetSubtype="0" accel="50000" decel="50000" fill="hold" nodeType="after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4.16667E-6 3.7037E-7 L 0.49948 0.00972 " pathEditMode="relative" rAng="0" ptsTypes="AA">
                                      <p:cBhvr>
                                        <p:cTn id="9" dur="5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974" y="4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325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19536" y="155837"/>
            <a:ext cx="8003232" cy="114300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Invitations: VOCAB REVIEW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1041843" y="1365237"/>
            <a:ext cx="4464496" cy="3888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lnSpc>
                <a:spcPts val="3660"/>
              </a:lnSpc>
              <a:defRPr/>
            </a:pPr>
            <a:r>
              <a:rPr lang="en-US" sz="2800" b="1" u="sng" dirty="0">
                <a:latin typeface="Calibri"/>
              </a:rPr>
              <a:t>INVITING</a:t>
            </a:r>
          </a:p>
          <a:p>
            <a:pPr marL="457200" indent="-457200" defTabSz="914400">
              <a:lnSpc>
                <a:spcPts val="3660"/>
              </a:lnSpc>
              <a:buFontTx/>
              <a:buAutoNum type="arabicPeriod"/>
              <a:defRPr/>
            </a:pPr>
            <a:r>
              <a:rPr lang="en-US" sz="2200" b="1" dirty="0">
                <a:latin typeface="Calibri"/>
              </a:rPr>
              <a:t>Would you like to go to…?</a:t>
            </a:r>
          </a:p>
          <a:p>
            <a:pPr marL="457200" indent="-457200" defTabSz="914400">
              <a:lnSpc>
                <a:spcPts val="3660"/>
              </a:lnSpc>
              <a:buFontTx/>
              <a:buAutoNum type="arabicPeriod"/>
              <a:defRPr/>
            </a:pPr>
            <a:r>
              <a:rPr lang="en-US" sz="2200" b="1" dirty="0">
                <a:latin typeface="Calibri"/>
              </a:rPr>
              <a:t>(Do you) Want to go to…?</a:t>
            </a:r>
          </a:p>
          <a:p>
            <a:pPr marL="457200" indent="-457200" defTabSz="914400">
              <a:lnSpc>
                <a:spcPts val="3660"/>
              </a:lnSpc>
              <a:buFontTx/>
              <a:buAutoNum type="arabicPeriod"/>
              <a:defRPr/>
            </a:pPr>
            <a:r>
              <a:rPr lang="en-US" sz="2200" b="1" dirty="0">
                <a:latin typeface="Calibri"/>
              </a:rPr>
              <a:t>How about going to…?</a:t>
            </a:r>
          </a:p>
          <a:p>
            <a:pPr marL="457200" indent="-457200" defTabSz="914400">
              <a:lnSpc>
                <a:spcPts val="3660"/>
              </a:lnSpc>
              <a:buFontTx/>
              <a:buAutoNum type="arabicPeriod"/>
              <a:defRPr/>
            </a:pPr>
            <a:r>
              <a:rPr lang="en-US" sz="2200" b="1" dirty="0">
                <a:latin typeface="Calibri"/>
              </a:rPr>
              <a:t>What about going to…?</a:t>
            </a:r>
          </a:p>
          <a:p>
            <a:pPr marL="457200" indent="-457200" defTabSz="914400">
              <a:lnSpc>
                <a:spcPts val="3660"/>
              </a:lnSpc>
              <a:buFontTx/>
              <a:buAutoNum type="arabicPeriod"/>
              <a:defRPr/>
            </a:pPr>
            <a:r>
              <a:rPr lang="en-US" sz="2200" b="1" dirty="0">
                <a:latin typeface="Calibri"/>
              </a:rPr>
              <a:t>Let’s go to… !</a:t>
            </a:r>
          </a:p>
          <a:p>
            <a:pPr marL="457200" indent="-457200" defTabSz="914400">
              <a:lnSpc>
                <a:spcPts val="3660"/>
              </a:lnSpc>
              <a:buFontTx/>
              <a:buAutoNum type="arabicPeriod"/>
              <a:defRPr/>
            </a:pPr>
            <a:r>
              <a:rPr lang="en-US" sz="2200" b="1" dirty="0">
                <a:latin typeface="Calibri"/>
              </a:rPr>
              <a:t>Why don’t we go to…?</a:t>
            </a:r>
          </a:p>
          <a:p>
            <a:pPr marL="457200" indent="-457200" defTabSz="914400">
              <a:lnSpc>
                <a:spcPts val="3660"/>
              </a:lnSpc>
              <a:buFontTx/>
              <a:buAutoNum type="arabicPeriod"/>
              <a:defRPr/>
            </a:pPr>
            <a:r>
              <a:rPr lang="en-US" sz="2200" b="1" dirty="0">
                <a:latin typeface="Calibri"/>
              </a:rPr>
              <a:t>What would say if we went to…?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6095999" y="1298837"/>
            <a:ext cx="5075583" cy="2209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en-US" sz="2800" b="1" u="sng" dirty="0">
                <a:latin typeface="Calibri"/>
              </a:rPr>
              <a:t>JOINING OTHER PEOPLE</a:t>
            </a:r>
          </a:p>
          <a:p>
            <a:pPr marL="457200" indent="-457200" defTabSz="914400">
              <a:lnSpc>
                <a:spcPct val="150000"/>
              </a:lnSpc>
              <a:buFontTx/>
              <a:buAutoNum type="arabicPeriod"/>
              <a:defRPr/>
            </a:pPr>
            <a:r>
              <a:rPr lang="en-US" sz="2200" b="1" dirty="0">
                <a:latin typeface="Calibri"/>
              </a:rPr>
              <a:t>Can I </a:t>
            </a:r>
            <a:r>
              <a:rPr lang="en-US" sz="2200" b="1" u="sng" dirty="0">
                <a:latin typeface="Calibri"/>
              </a:rPr>
              <a:t>tag along</a:t>
            </a:r>
            <a:r>
              <a:rPr lang="en-US" sz="2200" b="1" dirty="0">
                <a:latin typeface="Calibri"/>
              </a:rPr>
              <a:t> with you guys?</a:t>
            </a:r>
          </a:p>
          <a:p>
            <a:pPr marL="457200" indent="-457200" defTabSz="914400">
              <a:lnSpc>
                <a:spcPct val="150000"/>
              </a:lnSpc>
              <a:buFontTx/>
              <a:buAutoNum type="arabicPeriod"/>
              <a:defRPr/>
            </a:pPr>
            <a:r>
              <a:rPr lang="en-US" sz="2200" b="1" dirty="0">
                <a:latin typeface="Calibri"/>
              </a:rPr>
              <a:t>Do you mind if my mom comes too?</a:t>
            </a:r>
          </a:p>
          <a:p>
            <a:pPr marL="457200" indent="-457200" defTabSz="914400">
              <a:lnSpc>
                <a:spcPct val="150000"/>
              </a:lnSpc>
              <a:buFontTx/>
              <a:buAutoNum type="arabicPeriod"/>
              <a:defRPr/>
            </a:pPr>
            <a:r>
              <a:rPr lang="en-US" sz="2200" b="1" dirty="0">
                <a:latin typeface="Calibri"/>
              </a:rPr>
              <a:t>Would you mind if Mat</a:t>
            </a:r>
            <a:r>
              <a:rPr lang="es-CL" sz="2200" b="1" dirty="0" err="1">
                <a:latin typeface="Calibri"/>
              </a:rPr>
              <a:t>ías</a:t>
            </a:r>
            <a:r>
              <a:rPr lang="en-US" sz="2200" b="1" dirty="0">
                <a:latin typeface="Calibri"/>
              </a:rPr>
              <a:t> joined us?</a:t>
            </a:r>
          </a:p>
        </p:txBody>
      </p:sp>
      <p:pic>
        <p:nvPicPr>
          <p:cNvPr id="1026" name="Picture 2" descr="PsBattle: racoon holding his hand in the air. : photoshopbattles">
            <a:extLst>
              <a:ext uri="{FF2B5EF4-FFF2-40B4-BE49-F238E27FC236}">
                <a16:creationId xmlns:a16="http://schemas.microsoft.com/office/drawing/2014/main" id="{F048E097-A4AA-437F-8F2F-A844BDE9B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5678" y="3674912"/>
            <a:ext cx="2016224" cy="302433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2385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19536" y="155837"/>
            <a:ext cx="8003232" cy="114300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Invitations: Accepting and Rejecting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1271218" y="1121443"/>
            <a:ext cx="4417690" cy="5329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u="sng" dirty="0"/>
              <a:t>ACCEPTING</a:t>
            </a:r>
          </a:p>
          <a:p>
            <a:pPr marL="457200" indent="-457200">
              <a:lnSpc>
                <a:spcPts val="2600"/>
              </a:lnSpc>
              <a:buAutoNum type="arabicPeriod"/>
            </a:pPr>
            <a:r>
              <a:rPr lang="en-US" sz="2200" b="1" dirty="0"/>
              <a:t>Sure, I’d love to.</a:t>
            </a:r>
          </a:p>
          <a:p>
            <a:pPr marL="457200" indent="-457200">
              <a:lnSpc>
                <a:spcPts val="2600"/>
              </a:lnSpc>
              <a:buAutoNum type="arabicPeriod"/>
            </a:pPr>
            <a:r>
              <a:rPr lang="en-US" sz="2200" b="1" dirty="0"/>
              <a:t>(That) sounds fun / great / wonderful / fantastic.</a:t>
            </a:r>
          </a:p>
          <a:p>
            <a:pPr marL="457200" indent="-457200">
              <a:lnSpc>
                <a:spcPts val="2600"/>
              </a:lnSpc>
              <a:buAutoNum type="arabicPeriod"/>
            </a:pPr>
            <a:r>
              <a:rPr lang="en-US" sz="2200" b="1" dirty="0"/>
              <a:t>That’s a great idea.</a:t>
            </a:r>
          </a:p>
          <a:p>
            <a:pPr marL="457200" indent="-457200">
              <a:lnSpc>
                <a:spcPts val="2600"/>
              </a:lnSpc>
              <a:buAutoNum type="arabicPeriod"/>
            </a:pPr>
            <a:r>
              <a:rPr lang="en-US" sz="2200" b="1" dirty="0"/>
              <a:t>Thanks for thinking of me. I’ll put it in my calendar.</a:t>
            </a:r>
          </a:p>
          <a:p>
            <a:pPr marL="457200" indent="-457200">
              <a:lnSpc>
                <a:spcPts val="2600"/>
              </a:lnSpc>
              <a:buAutoNum type="arabicPeriod"/>
            </a:pPr>
            <a:r>
              <a:rPr lang="en-US" sz="2200" b="1" dirty="0"/>
              <a:t>I’m in. / I’m down. / I’m game. / I’m up for it. </a:t>
            </a:r>
          </a:p>
          <a:p>
            <a:pPr marL="457200" indent="-457200">
              <a:lnSpc>
                <a:spcPts val="2600"/>
              </a:lnSpc>
              <a:buAutoNum type="arabicPeriod"/>
            </a:pPr>
            <a:r>
              <a:rPr lang="en-US" sz="2200" b="1" dirty="0"/>
              <a:t>Great, let’s do it!</a:t>
            </a:r>
          </a:p>
          <a:p>
            <a:pPr marL="457200" indent="-457200">
              <a:lnSpc>
                <a:spcPts val="2600"/>
              </a:lnSpc>
              <a:buAutoNum type="arabicPeriod"/>
            </a:pPr>
            <a:r>
              <a:rPr lang="en-US" sz="2200" b="1" dirty="0"/>
              <a:t>… </a:t>
            </a:r>
            <a:r>
              <a:rPr lang="en-US" sz="2200" b="1" i="1" dirty="0"/>
              <a:t>(any other natural phrase!)</a:t>
            </a:r>
          </a:p>
          <a:p>
            <a:pPr marL="457200" indent="-457200">
              <a:lnSpc>
                <a:spcPts val="2600"/>
              </a:lnSpc>
              <a:buAutoNum type="arabicPeriod"/>
            </a:pPr>
            <a:endParaRPr lang="en-US" sz="2200" b="1" dirty="0"/>
          </a:p>
          <a:p>
            <a:pPr algn="ctr"/>
            <a:r>
              <a:rPr lang="en-US" sz="2000" b="1" i="1" dirty="0"/>
              <a:t>REMEMBER TO DISCUSS THE TIME, PLACE, AND ANY OTHER DETAILS AFTER YOU ACCEPT THE INVITE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00" r="20301"/>
          <a:stretch/>
        </p:blipFill>
        <p:spPr>
          <a:xfrm>
            <a:off x="7325435" y="919645"/>
            <a:ext cx="2953037" cy="237626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CuadroTexto 5"/>
          <p:cNvSpPr txBox="1"/>
          <p:nvPr/>
        </p:nvSpPr>
        <p:spPr>
          <a:xfrm>
            <a:off x="6841045" y="3356993"/>
            <a:ext cx="4307884" cy="32296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u="sng" dirty="0"/>
              <a:t>REJECTING</a:t>
            </a:r>
          </a:p>
          <a:p>
            <a:pPr marL="457200" indent="-457200">
              <a:lnSpc>
                <a:spcPts val="2800"/>
              </a:lnSpc>
              <a:buAutoNum type="arabicPeriod"/>
            </a:pPr>
            <a:r>
              <a:rPr lang="en-US" sz="2200" b="1" dirty="0"/>
              <a:t>I’m sorry, I can’t.</a:t>
            </a:r>
          </a:p>
          <a:p>
            <a:pPr marL="457200" indent="-457200">
              <a:lnSpc>
                <a:spcPts val="2800"/>
              </a:lnSpc>
              <a:buAutoNum type="arabicPeriod"/>
            </a:pPr>
            <a:r>
              <a:rPr lang="en-US" sz="2200" b="1" dirty="0"/>
              <a:t>I’m afraid it won’t be possible.</a:t>
            </a:r>
          </a:p>
          <a:p>
            <a:pPr marL="457200" indent="-457200">
              <a:lnSpc>
                <a:spcPts val="2800"/>
              </a:lnSpc>
              <a:buAutoNum type="arabicPeriod"/>
            </a:pPr>
            <a:r>
              <a:rPr lang="en-US" sz="2200" b="1" dirty="0"/>
              <a:t>I’d love to, but…</a:t>
            </a:r>
          </a:p>
          <a:p>
            <a:pPr marL="457200" indent="-457200">
              <a:lnSpc>
                <a:spcPts val="2800"/>
              </a:lnSpc>
              <a:buAutoNum type="arabicPeriod"/>
            </a:pPr>
            <a:r>
              <a:rPr lang="en-US" sz="2200" b="1" dirty="0"/>
              <a:t>Sorry, but I’m really not into that sort of thing.</a:t>
            </a:r>
          </a:p>
          <a:p>
            <a:pPr marL="457200" indent="-457200">
              <a:lnSpc>
                <a:spcPts val="2800"/>
              </a:lnSpc>
              <a:buAutoNum type="arabicPeriod"/>
            </a:pPr>
            <a:r>
              <a:rPr lang="en-US" sz="2200" b="1" dirty="0"/>
              <a:t>Thanks for asking, but…</a:t>
            </a:r>
          </a:p>
        </p:txBody>
      </p:sp>
    </p:spTree>
    <p:extLst>
      <p:ext uri="{BB962C8B-B14F-4D97-AF65-F5344CB8AC3E}">
        <p14:creationId xmlns:p14="http://schemas.microsoft.com/office/powerpoint/2010/main" val="3535369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1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adge">
  <a:themeElements>
    <a:clrScheme name="Personalizado 3">
      <a:dk1>
        <a:sysClr val="windowText" lastClr="000000"/>
      </a:dk1>
      <a:lt1>
        <a:sysClr val="window" lastClr="FFFFFF"/>
      </a:lt1>
      <a:dk2>
        <a:srgbClr val="171312"/>
      </a:dk2>
      <a:lt2>
        <a:srgbClr val="F7F0DF"/>
      </a:lt2>
      <a:accent1>
        <a:srgbClr val="46945C"/>
      </a:accent1>
      <a:accent2>
        <a:srgbClr val="326267"/>
      </a:accent2>
      <a:accent3>
        <a:srgbClr val="C5C34A"/>
      </a:accent3>
      <a:accent4>
        <a:srgbClr val="BF6546"/>
      </a:accent4>
      <a:accent5>
        <a:srgbClr val="81B5A8"/>
      </a:accent5>
      <a:accent6>
        <a:srgbClr val="636455"/>
      </a:accent6>
      <a:hlink>
        <a:srgbClr val="81B5A8"/>
      </a:hlink>
      <a:folHlink>
        <a:srgbClr val="936888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A1A3E1F0-B5EF-49C5-810A-B1B32AEDDC80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Distintivo</Template>
  <TotalTime>1554</TotalTime>
  <Words>1271</Words>
  <Application>Microsoft Office PowerPoint</Application>
  <PresentationFormat>Panorámica</PresentationFormat>
  <Paragraphs>176</Paragraphs>
  <Slides>22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8" baseType="lpstr">
      <vt:lpstr>Aptos</vt:lpstr>
      <vt:lpstr>Arial</vt:lpstr>
      <vt:lpstr>Calibri</vt:lpstr>
      <vt:lpstr>Gill Sans MT</vt:lpstr>
      <vt:lpstr>Impact</vt:lpstr>
      <vt:lpstr>Badge</vt:lpstr>
      <vt:lpstr>Let’s Talk: INVITATIONS &amp; picture description</vt:lpstr>
      <vt:lpstr>Invitations: vocab review &amp; Speaking activity</vt:lpstr>
      <vt:lpstr>Presentación de PowerPoint</vt:lpstr>
      <vt:lpstr>Presentación de PowerPoint</vt:lpstr>
      <vt:lpstr>Presentación de PowerPoint</vt:lpstr>
      <vt:lpstr>Presentación de PowerPoint</vt:lpstr>
      <vt:lpstr>Invitations: Rejecting and Accepting</vt:lpstr>
      <vt:lpstr>Invitations: Rejecting and Accepting</vt:lpstr>
      <vt:lpstr>Invitations: Rejecting and Accepting (EXAMPLE)</vt:lpstr>
      <vt:lpstr>Making invitations</vt:lpstr>
      <vt:lpstr>Picture description</vt:lpstr>
      <vt:lpstr>Topics of lessons 7-9</vt:lpstr>
      <vt:lpstr>Tips for picture description</vt:lpstr>
      <vt:lpstr>Things not to do</vt:lpstr>
      <vt:lpstr>Practice with a timer: Remember: Appearance, free-time activities, weather</vt:lpstr>
      <vt:lpstr>Practice with a timer: Remember: Appearance, free-time activities, weather</vt:lpstr>
      <vt:lpstr>Practice with a timer: Remember: Appearance, free-time activities, weather</vt:lpstr>
      <vt:lpstr>Practice with a timer: Remember: Appearance, free-time activities, weather</vt:lpstr>
      <vt:lpstr>Practice with a timer: Remember: Appearance, free-time activities, weather</vt:lpstr>
      <vt:lpstr>Practice with a timer: Remember: Appearance, free-time activities, weather</vt:lpstr>
      <vt:lpstr>Invitations: VOCAB REVIEW</vt:lpstr>
      <vt:lpstr>Invitations: Accepting and Rejecting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Role plays</dc:title>
  <dc:creator>Michael Steven Ellsworth Ellsworth</dc:creator>
  <cp:lastModifiedBy>Carla Paola Iribarren Mazzella</cp:lastModifiedBy>
  <cp:revision>77</cp:revision>
  <dcterms:created xsi:type="dcterms:W3CDTF">2024-07-17T19:53:28Z</dcterms:created>
  <dcterms:modified xsi:type="dcterms:W3CDTF">2025-05-05T03:08:19Z</dcterms:modified>
</cp:coreProperties>
</file>